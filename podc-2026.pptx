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9" r:id="rId1"/>
    <p:sldMasterId id="2147483661" r:id="rId2"/>
  </p:sldMasterIdLst>
  <p:notesMasterIdLst>
    <p:notesMasterId r:id="rId30"/>
  </p:notesMasterIdLst>
  <p:sldIdLst>
    <p:sldId id="409" r:id="rId3"/>
    <p:sldId id="282" r:id="rId4"/>
    <p:sldId id="283" r:id="rId5"/>
    <p:sldId id="362" r:id="rId6"/>
    <p:sldId id="449" r:id="rId7"/>
    <p:sldId id="435" r:id="rId8"/>
    <p:sldId id="436" r:id="rId9"/>
    <p:sldId id="411" r:id="rId10"/>
    <p:sldId id="424" r:id="rId11"/>
    <p:sldId id="450" r:id="rId12"/>
    <p:sldId id="451" r:id="rId13"/>
    <p:sldId id="452" r:id="rId14"/>
    <p:sldId id="439" r:id="rId15"/>
    <p:sldId id="440" r:id="rId16"/>
    <p:sldId id="441" r:id="rId17"/>
    <p:sldId id="438" r:id="rId18"/>
    <p:sldId id="415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394" r:id="rId27"/>
    <p:sldId id="408" r:id="rId28"/>
    <p:sldId id="437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472" userDrawn="1">
          <p15:clr>
            <a:srgbClr val="747775"/>
          </p15:clr>
        </p15:guide>
        <p15:guide id="4" orient="horz" pos="148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FF0000"/>
    <a:srgbClr val="FDFFDA"/>
    <a:srgbClr val="FF9900"/>
    <a:srgbClr val="F08600"/>
    <a:srgbClr val="C00000"/>
    <a:srgbClr val="BC37FF"/>
    <a:srgbClr val="595959"/>
    <a:srgbClr val="00717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30F97A-5B17-4DDD-8F4E-695BA5F6F272}" v="71" dt="2026-07-04T18:54:00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81575"/>
  </p:normalViewPr>
  <p:slideViewPr>
    <p:cSldViewPr snapToGrid="0">
      <p:cViewPr varScale="1">
        <p:scale>
          <a:sx n="82" d="100"/>
          <a:sy n="82" d="100"/>
        </p:scale>
        <p:origin x="176" y="1048"/>
      </p:cViewPr>
      <p:guideLst>
        <p:guide orient="horz" pos="1620"/>
        <p:guide pos="2880"/>
        <p:guide pos="2472"/>
        <p:guide orient="horz" pos="148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rzi, Sadegh (PG/R - Comp Sci &amp; Elec Eng)" userId="d4081e04-19ea-42ec-81bf-952859c6c603" providerId="ADAL" clId="{AE5F3CA2-38F0-4A19-9B4D-A5A25D1B577C}"/>
    <pc:docChg chg="undo redo custSel addSld delSld modSld">
      <pc:chgData name="Keshavarzi, Sadegh (PG/R - Comp Sci &amp; Elec Eng)" userId="d4081e04-19ea-42ec-81bf-952859c6c603" providerId="ADAL" clId="{AE5F3CA2-38F0-4A19-9B4D-A5A25D1B577C}" dt="2026-07-04T18:54:00.388" v="1232"/>
      <pc:docMkLst>
        <pc:docMk/>
      </pc:docMkLst>
      <pc:sldChg chg="modSp mod addAnim delAnim modAnim">
        <pc:chgData name="Keshavarzi, Sadegh (PG/R - Comp Sci &amp; Elec Eng)" userId="d4081e04-19ea-42ec-81bf-952859c6c603" providerId="ADAL" clId="{AE5F3CA2-38F0-4A19-9B4D-A5A25D1B577C}" dt="2026-06-24T14:29:37.203" v="623"/>
        <pc:sldMkLst>
          <pc:docMk/>
          <pc:sldMk cId="2999437035" sldId="282"/>
        </pc:sldMkLst>
        <pc:spChg chg="mod">
          <ac:chgData name="Keshavarzi, Sadegh (PG/R - Comp Sci &amp; Elec Eng)" userId="d4081e04-19ea-42ec-81bf-952859c6c603" providerId="ADAL" clId="{AE5F3CA2-38F0-4A19-9B4D-A5A25D1B577C}" dt="2026-06-24T13:45:00.067" v="62" actId="1076"/>
          <ac:spMkLst>
            <pc:docMk/>
            <pc:sldMk cId="2999437035" sldId="282"/>
            <ac:spMk id="18" creationId="{E3E415C1-381A-8296-18CC-2B73DFFF79D7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3:45:17.667" v="73" actId="1076"/>
          <ac:spMkLst>
            <pc:docMk/>
            <pc:sldMk cId="2999437035" sldId="282"/>
            <ac:spMk id="19" creationId="{A32844F1-8285-EE2D-5D39-4B440DED5872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3:45:00.067" v="62" actId="1076"/>
          <ac:spMkLst>
            <pc:docMk/>
            <pc:sldMk cId="2999437035" sldId="282"/>
            <ac:spMk id="26" creationId="{920DC77E-3E9A-AA69-8821-266DB7E7BCC4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3:47:48.486" v="86" actId="1036"/>
          <ac:spMkLst>
            <pc:docMk/>
            <pc:sldMk cId="2999437035" sldId="282"/>
            <ac:spMk id="33" creationId="{64D5EADB-AA58-DC4B-C7C6-38CDEA3F37FA}"/>
          </ac:spMkLst>
        </pc:spChg>
        <pc:picChg chg="mod">
          <ac:chgData name="Keshavarzi, Sadegh (PG/R - Comp Sci &amp; Elec Eng)" userId="d4081e04-19ea-42ec-81bf-952859c6c603" providerId="ADAL" clId="{AE5F3CA2-38F0-4A19-9B4D-A5A25D1B577C}" dt="2026-06-24T13:45:00.067" v="62" actId="1076"/>
          <ac:picMkLst>
            <pc:docMk/>
            <pc:sldMk cId="2999437035" sldId="282"/>
            <ac:picMk id="32" creationId="{26725468-CD52-8419-D31A-9ED6586A0362}"/>
          </ac:picMkLst>
        </pc:picChg>
      </pc:sldChg>
      <pc:sldChg chg="addSp delSp modSp mod addAnim delAnim modAnim">
        <pc:chgData name="Keshavarzi, Sadegh (PG/R - Comp Sci &amp; Elec Eng)" userId="d4081e04-19ea-42ec-81bf-952859c6c603" providerId="ADAL" clId="{AE5F3CA2-38F0-4A19-9B4D-A5A25D1B577C}" dt="2026-07-04T18:40:19.890" v="1155" actId="20577"/>
        <pc:sldMkLst>
          <pc:docMk/>
          <pc:sldMk cId="1155862862" sldId="283"/>
        </pc:sldMkLst>
        <pc:spChg chg="add del mod">
          <ac:chgData name="Keshavarzi, Sadegh (PG/R - Comp Sci &amp; Elec Eng)" userId="d4081e04-19ea-42ec-81bf-952859c6c603" providerId="ADAL" clId="{AE5F3CA2-38F0-4A19-9B4D-A5A25D1B577C}" dt="2026-07-04T18:40:19.890" v="1155" actId="20577"/>
          <ac:spMkLst>
            <pc:docMk/>
            <pc:sldMk cId="1155862862" sldId="283"/>
            <ac:spMk id="25" creationId="{634FA594-1175-F8DE-EB51-00ADBBD9D13A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3:47:20.037" v="81" actId="1076"/>
          <ac:spMkLst>
            <pc:docMk/>
            <pc:sldMk cId="1155862862" sldId="283"/>
            <ac:spMk id="34" creationId="{A8550230-C959-B435-2A61-850AA855836C}"/>
          </ac:spMkLst>
        </pc:spChg>
      </pc:sldChg>
      <pc:sldChg chg="addSp delSp modSp mod modAnim">
        <pc:chgData name="Keshavarzi, Sadegh (PG/R - Comp Sci &amp; Elec Eng)" userId="d4081e04-19ea-42ec-81bf-952859c6c603" providerId="ADAL" clId="{AE5F3CA2-38F0-4A19-9B4D-A5A25D1B577C}" dt="2026-06-24T13:51:26.567" v="107"/>
        <pc:sldMkLst>
          <pc:docMk/>
          <pc:sldMk cId="1578094929" sldId="362"/>
        </pc:sldMkLst>
        <pc:spChg chg="add mod ord">
          <ac:chgData name="Keshavarzi, Sadegh (PG/R - Comp Sci &amp; Elec Eng)" userId="d4081e04-19ea-42ec-81bf-952859c6c603" providerId="ADAL" clId="{AE5F3CA2-38F0-4A19-9B4D-A5A25D1B577C}" dt="2026-06-24T13:50:41.104" v="104" actId="167"/>
          <ac:spMkLst>
            <pc:docMk/>
            <pc:sldMk cId="1578094929" sldId="362"/>
            <ac:spMk id="3" creationId="{0DC60186-4973-6EA7-AE00-24182EE3CEA0}"/>
          </ac:spMkLst>
        </pc:spChg>
      </pc:sldChg>
      <pc:sldChg chg="addAnim delAnim">
        <pc:chgData name="Keshavarzi, Sadegh (PG/R - Comp Sci &amp; Elec Eng)" userId="d4081e04-19ea-42ec-81bf-952859c6c603" providerId="ADAL" clId="{AE5F3CA2-38F0-4A19-9B4D-A5A25D1B577C}" dt="2026-06-24T14:08:17.039" v="326"/>
        <pc:sldMkLst>
          <pc:docMk/>
          <pc:sldMk cId="3824685776" sldId="391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3294036194" sldId="394"/>
        </pc:sldMkLst>
      </pc:sldChg>
      <pc:sldChg chg="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3707845480" sldId="394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1749528492" sldId="401"/>
        </pc:sldMkLst>
      </pc:sldChg>
      <pc:sldChg chg="add 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2142387929" sldId="401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2623761781" sldId="402"/>
        </pc:sldMkLst>
      </pc:sldChg>
      <pc:sldChg chg="add 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2996258719" sldId="402"/>
        </pc:sldMkLst>
      </pc:sldChg>
      <pc:sldChg chg="add 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138377331" sldId="403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198994966" sldId="403"/>
        </pc:sldMkLst>
      </pc:sldChg>
      <pc:sldChg chg="add 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548569678" sldId="404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914343964" sldId="404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132929625" sldId="405"/>
        </pc:sldMkLst>
      </pc:sldChg>
      <pc:sldChg chg="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642656195" sldId="405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427910020" sldId="406"/>
        </pc:sldMkLst>
      </pc:sldChg>
      <pc:sldChg chg="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520052767" sldId="406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1205264296" sldId="407"/>
        </pc:sldMkLst>
      </pc:sldChg>
      <pc:sldChg chg="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2812373678" sldId="407"/>
        </pc:sldMkLst>
      </pc:sldChg>
      <pc:sldChg chg="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1562150816" sldId="408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2351650103" sldId="408"/>
        </pc:sldMkLst>
      </pc:sldChg>
      <pc:sldChg chg="modSp mod">
        <pc:chgData name="Keshavarzi, Sadegh (PG/R - Comp Sci &amp; Elec Eng)" userId="d4081e04-19ea-42ec-81bf-952859c6c603" providerId="ADAL" clId="{AE5F3CA2-38F0-4A19-9B4D-A5A25D1B577C}" dt="2026-06-24T13:45:04.843" v="67" actId="20577"/>
        <pc:sldMkLst>
          <pc:docMk/>
          <pc:sldMk cId="712303858" sldId="409"/>
        </pc:sldMkLst>
        <pc:spChg chg="mod">
          <ac:chgData name="Keshavarzi, Sadegh (PG/R - Comp Sci &amp; Elec Eng)" userId="d4081e04-19ea-42ec-81bf-952859c6c603" providerId="ADAL" clId="{AE5F3CA2-38F0-4A19-9B4D-A5A25D1B577C}" dt="2026-06-24T13:42:25.259" v="17" actId="20577"/>
          <ac:spMkLst>
            <pc:docMk/>
            <pc:sldMk cId="712303858" sldId="409"/>
            <ac:spMk id="2" creationId="{37EA0BBC-1863-6FDE-C93E-F587E58CDC64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3:45:04.843" v="67" actId="20577"/>
          <ac:spMkLst>
            <pc:docMk/>
            <pc:sldMk cId="712303858" sldId="409"/>
            <ac:spMk id="4" creationId="{BA156C21-E9C7-223F-A690-4200A3BF3472}"/>
          </ac:spMkLst>
        </pc:spChg>
      </pc:sldChg>
      <pc:sldChg chg="modSp mod addAnim delAnim modAnim">
        <pc:chgData name="Keshavarzi, Sadegh (PG/R - Comp Sci &amp; Elec Eng)" userId="d4081e04-19ea-42ec-81bf-952859c6c603" providerId="ADAL" clId="{AE5F3CA2-38F0-4A19-9B4D-A5A25D1B577C}" dt="2026-06-29T15:48:20.089" v="1033" actId="1036"/>
        <pc:sldMkLst>
          <pc:docMk/>
          <pc:sldMk cId="1478211162" sldId="411"/>
        </pc:sldMkLst>
        <pc:grpChg chg="mod">
          <ac:chgData name="Keshavarzi, Sadegh (PG/R - Comp Sci &amp; Elec Eng)" userId="d4081e04-19ea-42ec-81bf-952859c6c603" providerId="ADAL" clId="{AE5F3CA2-38F0-4A19-9B4D-A5A25D1B577C}" dt="2026-06-29T15:48:20.089" v="1033" actId="1036"/>
          <ac:grpSpMkLst>
            <pc:docMk/>
            <pc:sldMk cId="1478211162" sldId="411"/>
            <ac:grpSpMk id="21" creationId="{8884E792-11B9-98BD-FF54-FA3F92A6DB32}"/>
          </ac:grpSpMkLst>
        </pc:grpChg>
      </pc:sldChg>
      <pc:sldChg chg="add 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737611843" sldId="415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1617732653" sldId="415"/>
        </pc:sldMkLst>
      </pc:sldChg>
      <pc:sldChg chg="addSp modSp mod addAnim delAnim">
        <pc:chgData name="Keshavarzi, Sadegh (PG/R - Comp Sci &amp; Elec Eng)" userId="d4081e04-19ea-42ec-81bf-952859c6c603" providerId="ADAL" clId="{AE5F3CA2-38F0-4A19-9B4D-A5A25D1B577C}" dt="2026-07-04T18:39:59.343" v="1146" actId="1076"/>
        <pc:sldMkLst>
          <pc:docMk/>
          <pc:sldMk cId="2501006129" sldId="416"/>
        </pc:sldMkLst>
        <pc:spChg chg="mod">
          <ac:chgData name="Keshavarzi, Sadegh (PG/R - Comp Sci &amp; Elec Eng)" userId="d4081e04-19ea-42ec-81bf-952859c6c603" providerId="ADAL" clId="{AE5F3CA2-38F0-4A19-9B4D-A5A25D1B577C}" dt="2026-06-24T14:02:50.480" v="174" actId="20577"/>
          <ac:spMkLst>
            <pc:docMk/>
            <pc:sldMk cId="2501006129" sldId="416"/>
            <ac:spMk id="3" creationId="{FDB6DC61-3191-55CE-DB31-AC7293FA82A3}"/>
          </ac:spMkLst>
        </pc:spChg>
        <pc:spChg chg="add mod">
          <ac:chgData name="Keshavarzi, Sadegh (PG/R - Comp Sci &amp; Elec Eng)" userId="d4081e04-19ea-42ec-81bf-952859c6c603" providerId="ADAL" clId="{AE5F3CA2-38F0-4A19-9B4D-A5A25D1B577C}" dt="2026-07-04T18:39:59.343" v="1146" actId="1076"/>
          <ac:spMkLst>
            <pc:docMk/>
            <pc:sldMk cId="2501006129" sldId="416"/>
            <ac:spMk id="5" creationId="{6762C906-235B-2E9C-4404-141649DBB10A}"/>
          </ac:spMkLst>
        </pc:spChg>
      </pc:sldChg>
      <pc:sldChg chg="modSp mod addAnim delAnim">
        <pc:chgData name="Keshavarzi, Sadegh (PG/R - Comp Sci &amp; Elec Eng)" userId="d4081e04-19ea-42ec-81bf-952859c6c603" providerId="ADAL" clId="{AE5F3CA2-38F0-4A19-9B4D-A5A25D1B577C}" dt="2026-06-29T15:49:16.699" v="1078" actId="1037"/>
        <pc:sldMkLst>
          <pc:docMk/>
          <pc:sldMk cId="471469620" sldId="430"/>
        </pc:sldMkLst>
        <pc:spChg chg="mod">
          <ac:chgData name="Keshavarzi, Sadegh (PG/R - Comp Sci &amp; Elec Eng)" userId="d4081e04-19ea-42ec-81bf-952859c6c603" providerId="ADAL" clId="{AE5F3CA2-38F0-4A19-9B4D-A5A25D1B577C}" dt="2026-06-24T14:08:40.835" v="327" actId="20577"/>
          <ac:spMkLst>
            <pc:docMk/>
            <pc:sldMk cId="471469620" sldId="430"/>
            <ac:spMk id="4" creationId="{1E20685C-2A98-EAEF-CF69-FD9C1E173010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9T15:49:16.699" v="1078" actId="1037"/>
          <ac:spMkLst>
            <pc:docMk/>
            <pc:sldMk cId="471469620" sldId="430"/>
            <ac:spMk id="19" creationId="{B8908AB3-138A-2183-3F30-79D80F00BD4C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9T15:49:16.699" v="1078" actId="1037"/>
          <ac:spMkLst>
            <pc:docMk/>
            <pc:sldMk cId="471469620" sldId="430"/>
            <ac:spMk id="21" creationId="{B96F0A34-502B-C0F3-29D9-67DCA7E49AF4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9T15:49:16.699" v="1078" actId="1037"/>
          <ac:spMkLst>
            <pc:docMk/>
            <pc:sldMk cId="471469620" sldId="430"/>
            <ac:spMk id="22" creationId="{1038EA92-1944-E7D6-5EEF-23612BCC7632}"/>
          </ac:spMkLst>
        </pc:spChg>
      </pc:sldChg>
      <pc:sldChg chg="addAnim delAnim modAnim">
        <pc:chgData name="Keshavarzi, Sadegh (PG/R - Comp Sci &amp; Elec Eng)" userId="d4081e04-19ea-42ec-81bf-952859c6c603" providerId="ADAL" clId="{AE5F3CA2-38F0-4A19-9B4D-A5A25D1B577C}" dt="2026-06-24T17:26:29.192" v="1029"/>
        <pc:sldMkLst>
          <pc:docMk/>
          <pc:sldMk cId="3260860209" sldId="434"/>
        </pc:sldMkLst>
      </pc:sldChg>
      <pc:sldChg chg="add del mod modShow">
        <pc:chgData name="Keshavarzi, Sadegh (PG/R - Comp Sci &amp; Elec Eng)" userId="d4081e04-19ea-42ec-81bf-952859c6c603" providerId="ADAL" clId="{AE5F3CA2-38F0-4A19-9B4D-A5A25D1B577C}" dt="2026-06-29T15:48:09.353" v="1030"/>
        <pc:sldMkLst>
          <pc:docMk/>
          <pc:sldMk cId="3525157279" sldId="436"/>
        </pc:sldMkLst>
      </pc:sldChg>
      <pc:sldChg chg="add">
        <pc:chgData name="Keshavarzi, Sadegh (PG/R - Comp Sci &amp; Elec Eng)" userId="d4081e04-19ea-42ec-81bf-952859c6c603" providerId="ADAL" clId="{AE5F3CA2-38F0-4A19-9B4D-A5A25D1B577C}" dt="2026-07-04T18:34:54.662" v="1090"/>
        <pc:sldMkLst>
          <pc:docMk/>
          <pc:sldMk cId="935470132" sldId="437"/>
        </pc:sldMkLst>
      </pc:sldChg>
      <pc:sldChg chg="del mod modShow">
        <pc:chgData name="Keshavarzi, Sadegh (PG/R - Comp Sci &amp; Elec Eng)" userId="d4081e04-19ea-42ec-81bf-952859c6c603" providerId="ADAL" clId="{AE5F3CA2-38F0-4A19-9B4D-A5A25D1B577C}" dt="2026-07-04T18:34:49.237" v="1089" actId="2696"/>
        <pc:sldMkLst>
          <pc:docMk/>
          <pc:sldMk cId="3975643598" sldId="437"/>
        </pc:sldMkLst>
      </pc:sldChg>
      <pc:sldChg chg="addSp delSp modSp new mod addAnim delAnim modAnim">
        <pc:chgData name="Keshavarzi, Sadegh (PG/R - Comp Sci &amp; Elec Eng)" userId="d4081e04-19ea-42ec-81bf-952859c6c603" providerId="ADAL" clId="{AE5F3CA2-38F0-4A19-9B4D-A5A25D1B577C}" dt="2026-07-04T18:54:00.388" v="1232"/>
        <pc:sldMkLst>
          <pc:docMk/>
          <pc:sldMk cId="2315765800" sldId="439"/>
        </pc:sldMkLst>
        <pc:spChg chg="mod">
          <ac:chgData name="Keshavarzi, Sadegh (PG/R - Comp Sci &amp; Elec Eng)" userId="d4081e04-19ea-42ec-81bf-952859c6c603" providerId="ADAL" clId="{AE5F3CA2-38F0-4A19-9B4D-A5A25D1B577C}" dt="2026-06-24T14:02:30.953" v="136" actId="20577"/>
          <ac:spMkLst>
            <pc:docMk/>
            <pc:sldMk cId="2315765800" sldId="439"/>
            <ac:spMk id="2" creationId="{42FAF352-B88A-A844-6436-C2D3A80CA932}"/>
          </ac:spMkLst>
        </pc:spChg>
        <pc:spChg chg="mod">
          <ac:chgData name="Keshavarzi, Sadegh (PG/R - Comp Sci &amp; Elec Eng)" userId="d4081e04-19ea-42ec-81bf-952859c6c603" providerId="ADAL" clId="{AE5F3CA2-38F0-4A19-9B4D-A5A25D1B577C}" dt="2026-07-04T18:53:25.362" v="1227" actId="2711"/>
          <ac:spMkLst>
            <pc:docMk/>
            <pc:sldMk cId="2315765800" sldId="439"/>
            <ac:spMk id="3" creationId="{2CD76ECD-C0DC-F94B-EFE8-4ADFFA929284}"/>
          </ac:spMkLst>
        </pc:spChg>
        <pc:spChg chg="add mod ord topLvl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5" creationId="{8430E8AF-CB92-AB1A-FACD-69CCB400C6BD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7" creationId="{DBCC1A79-977D-1879-7BA7-C5E678EAAFC5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8" creationId="{7D66182A-9DFE-131C-DA80-65DA3FD99022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11" creationId="{C0098486-8B19-93DC-7980-5412A0DD6C72}"/>
          </ac:spMkLst>
        </pc:spChg>
        <pc:spChg chg="mod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12" creationId="{CC97F034-C0F4-4C39-9162-090B0879E476}"/>
          </ac:spMkLst>
        </pc:spChg>
        <pc:spChg chg="add mod ord topLvl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14" creationId="{255D37D1-F19C-750C-23AD-C64127408071}"/>
          </ac:spMkLst>
        </pc:spChg>
        <pc:spChg chg="add mod topLvl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15" creationId="{15C6319C-09ED-8DDD-C369-FEEE16159462}"/>
          </ac:spMkLst>
        </pc:spChg>
        <pc:spChg chg="add mod topLvl">
          <ac:chgData name="Keshavarzi, Sadegh (PG/R - Comp Sci &amp; Elec Eng)" userId="d4081e04-19ea-42ec-81bf-952859c6c603" providerId="ADAL" clId="{AE5F3CA2-38F0-4A19-9B4D-A5A25D1B577C}" dt="2026-06-24T14:38:46.378" v="756" actId="164"/>
          <ac:spMkLst>
            <pc:docMk/>
            <pc:sldMk cId="2315765800" sldId="439"/>
            <ac:spMk id="17" creationId="{55BCDCC5-4938-40B7-F4AA-38664E195D3C}"/>
          </ac:spMkLst>
        </pc:spChg>
        <pc:grpChg chg="mod">
          <ac:chgData name="Keshavarzi, Sadegh (PG/R - Comp Sci &amp; Elec Eng)" userId="d4081e04-19ea-42ec-81bf-952859c6c603" providerId="ADAL" clId="{AE5F3CA2-38F0-4A19-9B4D-A5A25D1B577C}" dt="2026-07-04T18:53:06.680" v="1209" actId="1036"/>
          <ac:grpSpMkLst>
            <pc:docMk/>
            <pc:sldMk cId="2315765800" sldId="439"/>
            <ac:grpSpMk id="22" creationId="{C08677C5-5137-30E1-5737-1CF4A349E713}"/>
          </ac:grpSpMkLst>
        </pc:grpChg>
        <pc:grpChg chg="mod">
          <ac:chgData name="Keshavarzi, Sadegh (PG/R - Comp Sci &amp; Elec Eng)" userId="d4081e04-19ea-42ec-81bf-952859c6c603" providerId="ADAL" clId="{AE5F3CA2-38F0-4A19-9B4D-A5A25D1B577C}" dt="2026-07-04T18:53:06.680" v="1209" actId="1036"/>
          <ac:grpSpMkLst>
            <pc:docMk/>
            <pc:sldMk cId="2315765800" sldId="439"/>
            <ac:grpSpMk id="26" creationId="{A79CB141-3448-ED4B-1A68-1FDC8D2A4073}"/>
          </ac:grpSpMkLst>
        </pc:grpChg>
        <pc:grpChg chg="mod">
          <ac:chgData name="Keshavarzi, Sadegh (PG/R - Comp Sci &amp; Elec Eng)" userId="d4081e04-19ea-42ec-81bf-952859c6c603" providerId="ADAL" clId="{AE5F3CA2-38F0-4A19-9B4D-A5A25D1B577C}" dt="2026-07-04T18:53:06.680" v="1209" actId="1036"/>
          <ac:grpSpMkLst>
            <pc:docMk/>
            <pc:sldMk cId="2315765800" sldId="439"/>
            <ac:grpSpMk id="28" creationId="{0505D096-126A-6BC8-2001-22D2050ABCA3}"/>
          </ac:grpSpMkLst>
        </pc:grpChg>
        <pc:picChg chg="mod">
          <ac:chgData name="Keshavarzi, Sadegh (PG/R - Comp Sci &amp; Elec Eng)" userId="d4081e04-19ea-42ec-81bf-952859c6c603" providerId="ADAL" clId="{AE5F3CA2-38F0-4A19-9B4D-A5A25D1B577C}" dt="2026-06-24T14:19:47.549" v="485" actId="1036"/>
          <ac:picMkLst>
            <pc:docMk/>
            <pc:sldMk cId="2315765800" sldId="439"/>
            <ac:picMk id="9" creationId="{BED37459-1FE6-1B48-79A4-349F7AC9F3F5}"/>
          </ac:picMkLst>
        </pc:picChg>
        <pc:picChg chg="mod">
          <ac:chgData name="Keshavarzi, Sadegh (PG/R - Comp Sci &amp; Elec Eng)" userId="d4081e04-19ea-42ec-81bf-952859c6c603" providerId="ADAL" clId="{AE5F3CA2-38F0-4A19-9B4D-A5A25D1B577C}" dt="2026-06-24T14:20:04.222" v="524" actId="1035"/>
          <ac:picMkLst>
            <pc:docMk/>
            <pc:sldMk cId="2315765800" sldId="439"/>
            <ac:picMk id="13" creationId="{63995E8F-CEFD-F79B-2E70-99EDF8F17B1D}"/>
          </ac:picMkLst>
        </pc:picChg>
        <pc:picChg chg="add mod topLvl">
          <ac:chgData name="Keshavarzi, Sadegh (PG/R - Comp Sci &amp; Elec Eng)" userId="d4081e04-19ea-42ec-81bf-952859c6c603" providerId="ADAL" clId="{AE5F3CA2-38F0-4A19-9B4D-A5A25D1B577C}" dt="2026-06-24T14:20:25.293" v="536" actId="164"/>
          <ac:picMkLst>
            <pc:docMk/>
            <pc:sldMk cId="2315765800" sldId="439"/>
            <ac:picMk id="16" creationId="{296189D3-F3F3-9A65-5400-FA7241258435}"/>
          </ac:picMkLst>
        </pc:picChg>
        <pc:picChg chg="add mod">
          <ac:chgData name="Keshavarzi, Sadegh (PG/R - Comp Sci &amp; Elec Eng)" userId="d4081e04-19ea-42ec-81bf-952859c6c603" providerId="ADAL" clId="{AE5F3CA2-38F0-4A19-9B4D-A5A25D1B577C}" dt="2026-07-04T18:53:06.680" v="1209" actId="1036"/>
          <ac:picMkLst>
            <pc:docMk/>
            <pc:sldMk cId="2315765800" sldId="439"/>
            <ac:picMk id="20" creationId="{87B2908E-8CCF-D6E7-C069-049DB34E8E62}"/>
          </ac:picMkLst>
        </pc:picChg>
        <pc:picChg chg="add mod">
          <ac:chgData name="Keshavarzi, Sadegh (PG/R - Comp Sci &amp; Elec Eng)" userId="d4081e04-19ea-42ec-81bf-952859c6c603" providerId="ADAL" clId="{AE5F3CA2-38F0-4A19-9B4D-A5A25D1B577C}" dt="2026-06-24T14:39:06.351" v="757" actId="164"/>
          <ac:picMkLst>
            <pc:docMk/>
            <pc:sldMk cId="2315765800" sldId="439"/>
            <ac:picMk id="23" creationId="{999D94D4-7763-F420-A4C6-5589F2F124DE}"/>
          </ac:picMkLst>
        </pc:picChg>
        <pc:picChg chg="add mod">
          <ac:chgData name="Keshavarzi, Sadegh (PG/R - Comp Sci &amp; Elec Eng)" userId="d4081e04-19ea-42ec-81bf-952859c6c603" providerId="ADAL" clId="{AE5F3CA2-38F0-4A19-9B4D-A5A25D1B577C}" dt="2026-06-24T14:39:06.351" v="757" actId="164"/>
          <ac:picMkLst>
            <pc:docMk/>
            <pc:sldMk cId="2315765800" sldId="439"/>
            <ac:picMk id="24" creationId="{12191AAF-853D-97F4-4FDA-09AC5C6A8B35}"/>
          </ac:picMkLst>
        </pc:picChg>
        <pc:picChg chg="add mod">
          <ac:chgData name="Keshavarzi, Sadegh (PG/R - Comp Sci &amp; Elec Eng)" userId="d4081e04-19ea-42ec-81bf-952859c6c603" providerId="ADAL" clId="{AE5F3CA2-38F0-4A19-9B4D-A5A25D1B577C}" dt="2026-06-24T14:39:06.351" v="757" actId="164"/>
          <ac:picMkLst>
            <pc:docMk/>
            <pc:sldMk cId="2315765800" sldId="439"/>
            <ac:picMk id="25" creationId="{32316588-D9BC-D6BE-524C-252AB9FF9F28}"/>
          </ac:picMkLst>
        </pc:picChg>
      </pc:sldChg>
      <pc:sldChg chg="delSp modSp add mod addAnim delAnim modAnim">
        <pc:chgData name="Keshavarzi, Sadegh (PG/R - Comp Sci &amp; Elec Eng)" userId="d4081e04-19ea-42ec-81bf-952859c6c603" providerId="ADAL" clId="{AE5F3CA2-38F0-4A19-9B4D-A5A25D1B577C}" dt="2026-07-04T18:36:04.265" v="1098" actId="20577"/>
        <pc:sldMkLst>
          <pc:docMk/>
          <pc:sldMk cId="1968434582" sldId="440"/>
        </pc:sldMkLst>
        <pc:spChg chg="mod">
          <ac:chgData name="Keshavarzi, Sadegh (PG/R - Comp Sci &amp; Elec Eng)" userId="d4081e04-19ea-42ec-81bf-952859c6c603" providerId="ADAL" clId="{AE5F3CA2-38F0-4A19-9B4D-A5A25D1B577C}" dt="2026-06-24T17:23:21.380" v="942" actId="20577"/>
          <ac:spMkLst>
            <pc:docMk/>
            <pc:sldMk cId="1968434582" sldId="440"/>
            <ac:spMk id="2" creationId="{A430C076-A8A3-0845-B3C3-A63656545C09}"/>
          </ac:spMkLst>
        </pc:spChg>
        <pc:spChg chg="mod">
          <ac:chgData name="Keshavarzi, Sadegh (PG/R - Comp Sci &amp; Elec Eng)" userId="d4081e04-19ea-42ec-81bf-952859c6c603" providerId="ADAL" clId="{AE5F3CA2-38F0-4A19-9B4D-A5A25D1B577C}" dt="2026-07-04T18:36:04.265" v="1098" actId="20577"/>
          <ac:spMkLst>
            <pc:docMk/>
            <pc:sldMk cId="1968434582" sldId="440"/>
            <ac:spMk id="3" creationId="{F317CBB8-9D76-B6CD-7F9E-6F89F18D0BBF}"/>
          </ac:spMkLst>
        </pc:spChg>
      </pc:sldChg>
      <pc:sldChg chg="addSp modSp mod addAnim delAnim modAnim">
        <pc:chgData name="Keshavarzi, Sadegh (PG/R - Comp Sci &amp; Elec Eng)" userId="d4081e04-19ea-42ec-81bf-952859c6c603" providerId="ADAL" clId="{AE5F3CA2-38F0-4A19-9B4D-A5A25D1B577C}" dt="2026-07-04T18:38:01.768" v="1117" actId="2085"/>
        <pc:sldMkLst>
          <pc:docMk/>
          <pc:sldMk cId="3237399253" sldId="441"/>
        </pc:sldMkLst>
        <pc:picChg chg="add mod">
          <ac:chgData name="Keshavarzi, Sadegh (PG/R - Comp Sci &amp; Elec Eng)" userId="d4081e04-19ea-42ec-81bf-952859c6c603" providerId="ADAL" clId="{AE5F3CA2-38F0-4A19-9B4D-A5A25D1B577C}" dt="2026-07-04T18:38:01.768" v="1117" actId="2085"/>
          <ac:picMkLst>
            <pc:docMk/>
            <pc:sldMk cId="3237399253" sldId="441"/>
            <ac:picMk id="14" creationId="{42442AC0-4A02-1B27-60A2-8DF3A4D6E5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IR" dirty="0"/>
              <a:t>Let's first start with what a TEE is</a:t>
            </a:r>
          </a:p>
        </p:txBody>
      </p:sp>
    </p:spTree>
    <p:extLst>
      <p:ext uri="{BB962C8B-B14F-4D97-AF65-F5344CB8AC3E}">
        <p14:creationId xmlns:p14="http://schemas.microsoft.com/office/powerpoint/2010/main" val="1806544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Is an enclave in the CPU that…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TEE implementations are available from different vendors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Shared promise: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Turn 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arbitrary </a:t>
            </a:r>
            <a:r>
              <a:rPr lang="en-GB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(Byzantine) failures into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crash</a:t>
            </a:r>
            <a:r>
              <a:rPr lang="en-GB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failures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Q: Too good to be true. Is it the healer it claims to be?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FD229-9105-4FBC-A5EA-8FA426DBC6D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521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1A8A-94DD-3C9B-CA3E-27E0ECDF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11495-5044-A828-1A96-5113CD40F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13C23-D30D-D42E-4F43-27AE1F0AA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Protection interrupted on restart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TEEs part of the CPU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Sealing is expensive, especially if the state is large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7113A-5FF4-E976-6B9A-BD022A5DC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FD229-9105-4FBC-A5EA-8FA426DBC6D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154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D3BD-9FA4-B872-9431-7D186689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06764-528D-659D-E6D1-222E0C936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4792F-6749-A808-B5DD-9112117A3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TEE loses all its state (it’s volatile)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Malicious 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persistent state is not completely wrong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Type of failure relative to Byzantine and crashes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CB126-A252-8055-C1E0-8FC32F5EA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FD229-9105-4FBC-A5EA-8FA426DBC6D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370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F49D-F156-F110-BAAB-8BEA8632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9465F-ED8D-E4AE-D1CB-883654508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B085C-4B70-C2D9-1ED8-F0CEAF09C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See how TEEs fit into distributed computing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GB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Dynamic more useful for practical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GB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Dynamic because no one is guaranteed to be safe: no threshold</a:t>
            </a:r>
          </a:p>
        </p:txBody>
      </p:sp>
    </p:spTree>
    <p:extLst>
      <p:ext uri="{BB962C8B-B14F-4D97-AF65-F5344CB8AC3E}">
        <p14:creationId xmlns:p14="http://schemas.microsoft.com/office/powerpoint/2010/main" val="400536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827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to classical BFT and CFT</a:t>
            </a:r>
          </a:p>
          <a:p>
            <a:endParaRPr lang="en-US" dirty="0"/>
          </a:p>
          <a:p>
            <a:r>
              <a:rPr lang="en-US" dirty="0"/>
              <a:t>Benign are allowed to restart but won’t misbehave</a:t>
            </a:r>
          </a:p>
          <a:p>
            <a:r>
              <a:rPr lang="en-US" dirty="0"/>
              <a:t>The rest never crash</a:t>
            </a:r>
          </a:p>
        </p:txBody>
      </p:sp>
    </p:spTree>
    <p:extLst>
      <p:ext uri="{BB962C8B-B14F-4D97-AF65-F5344CB8AC3E}">
        <p14:creationId xmlns:p14="http://schemas.microsoft.com/office/powerpoint/2010/main" val="2125463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BFC5-EFAA-A5F5-E4E3-DB2AA70B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E96E3-D632-BC30-84CA-6FB41A5EB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0EE42-EF35-4C83-FB68-F1DB8999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itchFamily="2" charset="2"/>
              <a:buChar char="q"/>
              <a:tabLst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n is the number of processes. This is resilience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itchFamily="2" charset="2"/>
              <a:buChar char="q"/>
              <a:tabLst/>
              <a:defRPr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Stronger results in the paper</a:t>
            </a:r>
          </a:p>
          <a:p>
            <a:pPr marL="457200" indent="-298450">
              <a:buFont typeface="Wingdings" pitchFamily="2" charset="2"/>
              <a:buChar char="q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4 message delays</a:t>
            </a:r>
          </a:p>
          <a:p>
            <a:pPr marL="457200" indent="-298450">
              <a:buFont typeface="Wingdings" pitchFamily="2" charset="2"/>
              <a:buChar char="q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CFT resilience when b=0</a:t>
            </a:r>
          </a:p>
          <a:p>
            <a:pPr marL="158750" indent="0">
              <a:buNone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Separation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BFT</a:t>
            </a:r>
          </a:p>
          <a:p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Stable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storage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helps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resilience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Byzantine</a:t>
            </a:r>
          </a:p>
          <a:p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TEEs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improve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BFT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resilience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but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only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with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terms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and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conditions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,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such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as r and b</a:t>
            </a:r>
          </a:p>
          <a:p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improvement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only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happens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when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not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relying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on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stable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storage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overhead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of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sealing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useless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for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resilience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. You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would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expect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a performance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penalty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to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help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with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resilience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D5D3F-0569-BA2B-97F3-35821FBDB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FD229-9105-4FBC-A5EA-8FA426DBC6D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223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IR" dirty="0"/>
              <a:t>Cornerstone</a:t>
            </a:r>
          </a:p>
          <a:p>
            <a:r>
              <a:rPr lang="es-IR" dirty="0"/>
              <a:t>If left unchecked…</a:t>
            </a:r>
          </a:p>
        </p:txBody>
      </p:sp>
    </p:spTree>
    <p:extLst>
      <p:ext uri="{BB962C8B-B14F-4D97-AF65-F5344CB8AC3E}">
        <p14:creationId xmlns:p14="http://schemas.microsoft.com/office/powerpoint/2010/main" val="142311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All replicas can crash in the good case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Good case requires replicas to restore their state independently of the protocol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Delta is an external observer assumption. Thus, it is equivalent to asynchrony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 err="1"/>
              <a:t>Generalises</a:t>
            </a:r>
            <a:r>
              <a:rPr lang="en-US" dirty="0"/>
              <a:t> the static case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Left hand side falls apart without synchrony, so we need to add another parameter for the bad case</a:t>
            </a:r>
          </a:p>
        </p:txBody>
      </p:sp>
    </p:spTree>
    <p:extLst>
      <p:ext uri="{BB962C8B-B14F-4D97-AF65-F5344CB8AC3E}">
        <p14:creationId xmlns:p14="http://schemas.microsoft.com/office/powerpoint/2010/main" val="2331797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402D-43B1-8CC3-6846-F6244C10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2FF49-FC55-C544-F3D9-C4B38635B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88F48-5E87-80B2-19C8-E7476FF54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Best case happens when c = d</a:t>
            </a:r>
          </a:p>
          <a:p>
            <a:pPr marL="158750" indent="0">
              <a:buNone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58750" indent="0">
              <a:buNone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As you might have guessed, 0 because everyone can roll 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998A8-D1A5-A380-DE5F-EC2AE52F6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FD229-9105-4FBC-A5EA-8FA426DBC6D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564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637C-5566-4DA7-49F9-A061FC05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C6596-646E-F5AB-0834-CA8992E47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3D464-071A-583E-EF86-BB290C124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Emphasise</a:t>
            </a:r>
            <a:r>
              <a:rPr lang="en-US" dirty="0"/>
              <a:t>: We present a new algorithm TEE-Rex</a:t>
            </a:r>
          </a:p>
          <a:p>
            <a:endParaRPr lang="en-US" dirty="0"/>
          </a:p>
          <a:p>
            <a:r>
              <a:rPr lang="en-US" dirty="0"/>
              <a:t>Recovery is needed for the good case unlike the static case because everyone will roll back eventually</a:t>
            </a:r>
          </a:p>
          <a:p>
            <a:endParaRPr lang="en-US" dirty="0"/>
          </a:p>
          <a:p>
            <a:r>
              <a:rPr lang="en-US" dirty="0"/>
              <a:t>Problem remained open until recently despite numerous attempts</a:t>
            </a:r>
          </a:p>
        </p:txBody>
      </p:sp>
    </p:spTree>
    <p:extLst>
      <p:ext uri="{BB962C8B-B14F-4D97-AF65-F5344CB8AC3E}">
        <p14:creationId xmlns:p14="http://schemas.microsoft.com/office/powerpoint/2010/main" val="1447816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Bane of all evil in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2927670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D8C5-B23A-9C33-01F7-CE7D7B25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4E50F-9F2B-C85A-FAAC-5026FE8FD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66693-1252-F4EA-1DBC-C50848976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Reconfiguration is usually blocking</a:t>
            </a:r>
          </a:p>
        </p:txBody>
      </p:sp>
    </p:spTree>
    <p:extLst>
      <p:ext uri="{BB962C8B-B14F-4D97-AF65-F5344CB8AC3E}">
        <p14:creationId xmlns:p14="http://schemas.microsoft.com/office/powerpoint/2010/main" val="3322662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7C62-AD40-49A2-1B17-5F37E0BD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343AE-F0D2-F5E8-3953-FB2E10DFE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5C635-9700-BA39-1209-2B7EB1BEE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Code inside the TEE must be verified</a:t>
            </a:r>
          </a:p>
          <a:p>
            <a:r>
              <a:rPr lang="en-GB" dirty="0"/>
              <a:t>No BUGS!</a:t>
            </a:r>
          </a:p>
        </p:txBody>
      </p:sp>
    </p:spTree>
    <p:extLst>
      <p:ext uri="{BB962C8B-B14F-4D97-AF65-F5344CB8AC3E}">
        <p14:creationId xmlns:p14="http://schemas.microsoft.com/office/powerpoint/2010/main" val="2086037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9677-D2B4-9B6B-1D02-79DDCA06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32139-C4E6-062B-0E48-3825C5D4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1C86E8-41D7-FB93-AAE9-B7C1A7B7D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 not depend on the knowledge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endParaRPr lang="en-GB" sz="11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1C86E8-41D7-FB93-AAE9-B7C1A7B7D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 not depend on the knowledge of </a:t>
                </a:r>
                <a:r>
                  <a:rPr lang="en-GB" sz="1100" b="0" i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</a:rPr>
                  <a:t>𝑟</a:t>
                </a:r>
                <a:r>
                  <a:rPr lang="en-GB" sz="11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GB" sz="1100" b="0" i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</a:rPr>
                  <a:t>𝑏</a:t>
                </a:r>
                <a:endParaRPr lang="en-GB" sz="11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7096F-C450-3D3C-DEFD-108DB7E24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D8FD229-9105-4FBC-A5EA-8FA426DBC6D7}" type="slidenum">
              <a:rPr kumimoji="0" lang="en-GB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312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relevant even for diskless crash-recovery that was investigated in this paper, and they actually got it wrong</a:t>
            </a:r>
          </a:p>
          <a:p>
            <a:r>
              <a:rPr lang="en-US" dirty="0"/>
              <a:t>The same problem exists in a more recent paper that focused on rollbacks in TEE-based systems</a:t>
            </a:r>
          </a:p>
        </p:txBody>
      </p:sp>
    </p:spTree>
    <p:extLst>
      <p:ext uri="{BB962C8B-B14F-4D97-AF65-F5344CB8AC3E}">
        <p14:creationId xmlns:p14="http://schemas.microsoft.com/office/powerpoint/2010/main" val="176434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[Michael et al., DISC’17]</a:t>
            </a:r>
          </a:p>
        </p:txBody>
      </p:sp>
    </p:spTree>
    <p:extLst>
      <p:ext uri="{BB962C8B-B14F-4D97-AF65-F5344CB8AC3E}">
        <p14:creationId xmlns:p14="http://schemas.microsoft.com/office/powerpoint/2010/main" val="2402933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consistent cut of blue points precedes the yellow one</a:t>
            </a:r>
          </a:p>
        </p:txBody>
      </p:sp>
    </p:spTree>
    <p:extLst>
      <p:ext uri="{BB962C8B-B14F-4D97-AF65-F5344CB8AC3E}">
        <p14:creationId xmlns:p14="http://schemas.microsoft.com/office/powerpoint/2010/main" val="3348151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Challenge: How to identify crash-consistent responses</a:t>
            </a:r>
          </a:p>
          <a:p>
            <a:r>
              <a:rPr lang="en-US" dirty="0"/>
              <a:t>Solution: [replacement][UW] -- track the replica incarnations</a:t>
            </a:r>
          </a:p>
          <a:p>
            <a:r>
              <a:rPr lang="en-US" dirty="0"/>
              <a:t>Assume for a moment that every replica can count incarnations locally (e.g., with persistent register in the CPU), then crash-consistency is easy</a:t>
            </a:r>
          </a:p>
          <a:p>
            <a:endParaRPr lang="en-US" dirty="0"/>
          </a:p>
          <a:p>
            <a:r>
              <a:rPr lang="en-GB" dirty="0"/>
              <a:t>But this assumption is not realistic</a:t>
            </a:r>
          </a:p>
          <a:p>
            <a:r>
              <a:rPr lang="en-GB" dirty="0"/>
              <a:t>We don’t have </a:t>
            </a:r>
            <a:r>
              <a:rPr lang="en-GB" dirty="0" err="1"/>
              <a:t>nv</a:t>
            </a:r>
            <a:r>
              <a:rPr lang="en-GB" dirty="0"/>
              <a:t> storage to rely on</a:t>
            </a:r>
          </a:p>
          <a:p>
            <a:r>
              <a:rPr lang="en-GB" dirty="0"/>
              <a:t>persistent CPU registers do not exist/slow</a:t>
            </a:r>
          </a:p>
          <a:p>
            <a:r>
              <a:rPr lang="en-GB" dirty="0"/>
              <a:t>TEEs do not support it anymore</a:t>
            </a:r>
          </a:p>
        </p:txBody>
      </p:sp>
    </p:spTree>
    <p:extLst>
      <p:ext uri="{BB962C8B-B14F-4D97-AF65-F5344CB8AC3E}">
        <p14:creationId xmlns:p14="http://schemas.microsoft.com/office/powerpoint/2010/main" val="854630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RB-resistant counter is a useful </a:t>
            </a:r>
            <a:r>
              <a:rPr lang="en-GB"/>
              <a:t>abstraction for sealing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9985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Crashes are possible when writing an incarnation number</a:t>
            </a:r>
          </a:p>
          <a:p>
            <a:r>
              <a:rPr lang="en-US" dirty="0"/>
              <a:t>Should be careful not to finalize an incarnation number before it was fully written to a write quorum</a:t>
            </a:r>
          </a:p>
          <a:p>
            <a:r>
              <a:rPr lang="en-US" dirty="0"/>
              <a:t>Then need to store non-finalized incarnation numbers separately from the ones used for verifying writes</a:t>
            </a:r>
          </a:p>
        </p:txBody>
      </p:sp>
    </p:spTree>
    <p:extLst>
      <p:ext uri="{BB962C8B-B14F-4D97-AF65-F5344CB8AC3E}">
        <p14:creationId xmlns:p14="http://schemas.microsoft.com/office/powerpoint/2010/main" val="427060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dirty="0"/>
              <a:t>What if multiple replicas are recovering?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4873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In this example everyone is eventually up so we need liveness according to our condition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Need recovery for incarnation numbers and vice versa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It is safe for P3 to use any incarnation number smaller </a:t>
            </a:r>
            <a:r>
              <a:rPr lang="en-GB"/>
              <a:t>than future ones</a:t>
            </a:r>
            <a:endParaRPr lang="en-GB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Problem is being mistaken for crash-consistent</a:t>
            </a:r>
          </a:p>
        </p:txBody>
      </p:sp>
    </p:spTree>
    <p:extLst>
      <p:ext uri="{BB962C8B-B14F-4D97-AF65-F5344CB8AC3E}">
        <p14:creationId xmlns:p14="http://schemas.microsoft.com/office/powerpoint/2010/main" val="541573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UW needs 5 replicas in this case</a:t>
            </a:r>
          </a:p>
          <a:p>
            <a:r>
              <a:rPr lang="en-GB" dirty="0"/>
              <a:t>We can relay finalised incarnation numbers because of the two-stage write</a:t>
            </a:r>
          </a:p>
        </p:txBody>
      </p:sp>
    </p:spTree>
    <p:extLst>
      <p:ext uri="{BB962C8B-B14F-4D97-AF65-F5344CB8AC3E}">
        <p14:creationId xmlns:p14="http://schemas.microsoft.com/office/powerpoint/2010/main" val="2184243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aseline="0"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0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aseline="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 baseline="0">
                <a:latin typeface="Calibri" panose="020F0502020204030204" pitchFamily="34" charset="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lang="en-GB" dirty="0"/>
          </a:p>
          <a:p>
            <a:pPr lvl="1"/>
            <a:endParaRPr lang="en-GB" sz="1800" baseline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2"/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E0A2-51FD-4E6A-B94C-C53098ACCF9A}" type="datetime1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08BC-AB9C-9FE3-CFD2-D74881D2A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DE785-68BA-187A-C79B-1B2C7E64C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9F1-2D6E-E825-8A3A-9E7CEEC3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FC276-66AC-4C1C-8992-6E50DA9415C4}" type="datetime1">
              <a:rPr lang="en-US" smtClean="0"/>
              <a:t>7/5/26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52F50-AB6D-71C0-8981-8AE91BAB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90693-5FD6-CBBF-3B39-8CB2CC7C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1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B8A3-58C2-DE46-B021-23B0A692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1BCFC-5715-A0E8-CE38-795D9DCFF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FC70C-2425-F01A-2B54-4E8D074D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A46A-2B37-4010-B2BB-2552CFA93427}" type="datetime1">
              <a:rPr lang="en-US" smtClean="0"/>
              <a:t>7/5/26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B618-581C-6521-9DC1-E1169E515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3BA16-718A-36CD-CE55-CF7CE65B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89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6F9B-917F-94EF-5B26-8561E39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4C617-7EB4-12C6-6D34-35A5892DC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95E96-2B73-61F3-8FE0-CAD8D084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DC999-57CA-45AE-9787-99CF22F701EC}" type="datetime1">
              <a:rPr lang="en-US" smtClean="0"/>
              <a:t>7/5/26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CC51-53A3-354C-B8AA-07A661D4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6A71B-0E4B-B83D-A4B8-2AFBDD05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49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4780-A5E1-8FCC-D2D0-D136DBE1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6F52-F4F1-D16B-2019-A09562008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5BF0F-9E6D-9AA2-A88F-E1D3FC97B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51F27-795C-345F-294F-E080385D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17081-F7C6-4AFE-9B28-E2E3029F2D8A}" type="datetime1">
              <a:rPr lang="en-US" smtClean="0"/>
              <a:t>7/5/26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52D88-DA76-4F37-0700-523006C5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8A693-DE12-CF69-CE4B-66DCDBD8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833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32DE-7F8A-AFF4-406E-85FA5D89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6ADCB-5FD5-F9B0-287F-4344FA99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B6A3E-6336-F2C1-F4F5-133C55593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B6DC1-124E-F27F-DF29-F351AF52E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6C37F-16D0-98EA-5036-06E431B9F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2DA59-FC5E-C101-6B0C-1DE928B5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0D7C-7B2D-4173-A027-CB262A99EAF2}" type="datetime1">
              <a:rPr lang="en-US" smtClean="0"/>
              <a:t>7/5/26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9626D-EF89-718B-5AE6-CB0C926D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F43ED-3D5B-BA79-730E-C8271259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528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F6467-7A35-4381-9107-245D3CE1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C1F64-7CEB-0BCD-9267-B5BEFADA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B3AAD-06FB-4885-BB33-59B322EB6B3C}" type="datetime1">
              <a:rPr lang="en-US" smtClean="0"/>
              <a:t>7/5/26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4B7BF-681A-27DB-A9C5-A312BCE0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EBADD-3865-E2FC-B26B-5A6CD685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377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B428B-6550-8948-3B1D-B401DE73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23A2-9BEF-4C94-8B0B-90748E4C558D}" type="datetime1">
              <a:rPr lang="en-US" smtClean="0"/>
              <a:t>7/5/26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C1354-ECA8-FDF9-79AE-E58D869C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C172-7546-AC6D-BDE6-F19E12F4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178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C49D-D06E-C048-3DAF-F146AA32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A02C-F213-5C57-5B8B-CC1D84E3B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E0940-F82C-2725-D9B6-F65FBC7C6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83D3F-7B87-147E-A2D4-6CC32AED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3E3-0AFB-4FE0-BAE2-E7FE43561BE2}" type="datetime1">
              <a:rPr lang="en-US" smtClean="0"/>
              <a:t>7/5/26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12FEB-2514-1FF6-230C-AE4647EF3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A7853-AF8D-2244-0112-CD0E5B1A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120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A0A6-6DBE-4EDE-3489-63D964E6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709FF-44F2-6B06-1EEC-E020C4D21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9C037-7806-8AFF-1DA1-D1BBE17F5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D8BF4-9F53-3659-B1EA-E5189656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B68D-7113-4504-9AD1-953F6F4F256A}" type="datetime1">
              <a:rPr lang="en-US" smtClean="0"/>
              <a:t>7/5/26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42F93-1EE3-CCD1-2802-A4CEC3AC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8EF8E-7C6E-CD56-2202-0A711D02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816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93E5-F031-5EA0-C0A9-A6800EF1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3900-76C0-EF7B-DD22-23E070FAB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C88DA-A84D-B428-C0B8-FCC78C9E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7464-CD24-45BC-A0EB-10171E258D7B}" type="datetime1">
              <a:rPr lang="en-US" smtClean="0"/>
              <a:t>7/5/26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D3BC3-8AF8-25BD-AF2F-8D3F9D1B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0D529-1043-38D5-3DF2-FBB3CED2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974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D2909-AA31-566D-ED5D-A35375471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21A25-FFE1-CCDD-CBA0-3AB98E7CF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945C5-BD8D-BEF7-CFF4-5E78639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158D-0B31-44BC-97FC-AB7494A7A2E0}" type="datetime1">
              <a:rPr lang="en-US" smtClean="0"/>
              <a:t>7/5/26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86A9A-147D-3142-30CD-A8DB0FA3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29374-F6DE-894C-AEE9-5926027E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19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lvl="1"/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1A432-29F3-225E-9DD0-C907547D7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F875C-5D0B-A897-7F9B-90174B1FC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271D-9B57-A28E-7B97-30111ADC3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E2FD8-DEB5-4C29-AD70-766B28E9382C}" type="datetime1">
              <a:rPr lang="en-US" smtClean="0"/>
              <a:t>7/5/26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A308B-490A-F15D-3CBE-52CA40174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96859-55DB-0478-7866-8F9B07C37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530AB-D981-4A6F-A6B9-73A77DE2D4C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05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0BBC-1863-6FDE-C93E-F587E58CD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456" y="1054248"/>
            <a:ext cx="8619744" cy="1357855"/>
          </a:xfrm>
        </p:spPr>
        <p:txBody>
          <a:bodyPr>
            <a:noAutofit/>
          </a:bodyPr>
          <a:lstStyle/>
          <a:p>
            <a:r>
              <a:rPr lang="en-GB" sz="4400" dirty="0">
                <a:latin typeface="Calibri" panose="020F0502020204030204" pitchFamily="34" charset="0"/>
                <a:cs typeface="Calibri" panose="020F0502020204030204" pitchFamily="34" charset="0"/>
              </a:rPr>
              <a:t>TEE is not a Healer, </a:t>
            </a:r>
            <a:br>
              <a:rPr lang="en-GB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4400" dirty="0">
                <a:latin typeface="Calibri" panose="020F0502020204030204" pitchFamily="34" charset="0"/>
                <a:cs typeface="Calibri" panose="020F0502020204030204" pitchFamily="34" charset="0"/>
              </a:rPr>
              <a:t>TEE-Rex 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CA3E8-A44A-DE6B-4F5F-05B955EC6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967343"/>
            <a:ext cx="6858000" cy="1714787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Sadegh Keshavarzi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and Gregory Chockler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University of Surrey</a:t>
            </a: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Alexey Gotsman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IMDEA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56C21-E9C7-223F-A690-4200A3BF3472}"/>
              </a:ext>
            </a:extLst>
          </p:cNvPr>
          <p:cNvSpPr txBox="1"/>
          <p:nvPr/>
        </p:nvSpPr>
        <p:spPr>
          <a:xfrm>
            <a:off x="52767" y="4800599"/>
            <a:ext cx="1685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PODC’26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DE46A-6904-7D30-879F-DBDB56CF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53828" y="4728310"/>
            <a:ext cx="2057400" cy="273844"/>
          </a:xfrm>
        </p:spPr>
        <p:txBody>
          <a:bodyPr/>
          <a:lstStyle/>
          <a:p>
            <a:fld id="{151530AB-D981-4A6F-A6B9-73A77DE2D4C6}" type="slidenum">
              <a:rPr lang="en-GB" sz="1000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303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1E8F-E4B9-ED64-0DFF-7346FD6D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cs typeface="Calibri" panose="020F0502020204030204" pitchFamily="34" charset="0"/>
              </a:rPr>
              <a:t>Trusted Execution Environments (TEE)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A246-6F89-BC54-C497-A43EB401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2" y="1408171"/>
            <a:ext cx="5576868" cy="3263504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secure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execution 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volatile state storage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Reduces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Byzantine Fault Tolerance (BFT) 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GB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Crash Fault Tolerance (CFT)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32844F1-8285-EE2D-5D39-4B440DED5872}"/>
              </a:ext>
            </a:extLst>
          </p:cNvPr>
          <p:cNvSpPr/>
          <p:nvPr/>
        </p:nvSpPr>
        <p:spPr>
          <a:xfrm>
            <a:off x="6275353" y="3088043"/>
            <a:ext cx="2017747" cy="55171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OS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A9CCA75-B0BF-72C4-75E4-6517C07D6497}"/>
              </a:ext>
            </a:extLst>
          </p:cNvPr>
          <p:cNvSpPr/>
          <p:nvPr/>
        </p:nvSpPr>
        <p:spPr>
          <a:xfrm>
            <a:off x="6274487" y="1316734"/>
            <a:ext cx="2018613" cy="1616966"/>
          </a:xfrm>
          <a:prstGeom prst="roundRect">
            <a:avLst/>
          </a:prstGeom>
          <a:solidFill>
            <a:schemeClr val="accent2">
              <a:lumMod val="25000"/>
              <a:lumOff val="75000"/>
              <a:alpha val="9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8E228B-4036-0655-73A5-7E1E7E3CD366}"/>
              </a:ext>
            </a:extLst>
          </p:cNvPr>
          <p:cNvSpPr txBox="1"/>
          <p:nvPr/>
        </p:nvSpPr>
        <p:spPr>
          <a:xfrm>
            <a:off x="6804119" y="1304751"/>
            <a:ext cx="10444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Process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11CC01-712B-3E9B-0BBF-93B126105A46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0" y="330200"/>
            <a:ext cx="1810084" cy="584522"/>
            <a:chOff x="298473" y="3463633"/>
            <a:chExt cx="3587346" cy="1158446"/>
          </a:xfrm>
        </p:grpSpPr>
        <p:pic>
          <p:nvPicPr>
            <p:cNvPr id="7" name="Picture 2" descr="Intel® Software Guard Extensions">
              <a:extLst>
                <a:ext uri="{FF2B5EF4-FFF2-40B4-BE49-F238E27FC236}">
                  <a16:creationId xmlns:a16="http://schemas.microsoft.com/office/drawing/2014/main" id="{ED590577-AF03-1F75-80E7-114AACE75A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46" t="13200" r="28110" b="14834"/>
            <a:stretch>
              <a:fillRect/>
            </a:stretch>
          </p:blipFill>
          <p:spPr bwMode="auto">
            <a:xfrm>
              <a:off x="298473" y="3463633"/>
              <a:ext cx="1201910" cy="1158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FC293B-8AC5-2818-3E02-2A65C5783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8440" y="3547111"/>
              <a:ext cx="1127379" cy="102489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CC8B56C-FDE6-9D2B-0EC4-F6ABA9105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85290" y="3582670"/>
              <a:ext cx="915206" cy="882650"/>
            </a:xfrm>
            <a:prstGeom prst="rect">
              <a:avLst/>
            </a:prstGeom>
          </p:spPr>
        </p:pic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EC8D836-20C3-F7E5-C174-EC8EE9CF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98E6F3-8FF5-7898-0082-CE7174AC62FA}"/>
              </a:ext>
            </a:extLst>
          </p:cNvPr>
          <p:cNvGrpSpPr/>
          <p:nvPr/>
        </p:nvGrpSpPr>
        <p:grpSpPr>
          <a:xfrm>
            <a:off x="6592214" y="1802494"/>
            <a:ext cx="1370686" cy="737506"/>
            <a:chOff x="5982614" y="1878694"/>
            <a:chExt cx="1370686" cy="737506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3E415C1-381A-8296-18CC-2B73DFFF79D7}"/>
                </a:ext>
              </a:extLst>
            </p:cNvPr>
            <p:cNvSpPr/>
            <p:nvPr/>
          </p:nvSpPr>
          <p:spPr>
            <a:xfrm>
              <a:off x="5982614" y="1878694"/>
              <a:ext cx="1370686" cy="73750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0DC77E-3E9A-AA69-8821-266DB7E7BCC4}"/>
                </a:ext>
              </a:extLst>
            </p:cNvPr>
            <p:cNvSpPr txBox="1"/>
            <p:nvPr/>
          </p:nvSpPr>
          <p:spPr>
            <a:xfrm>
              <a:off x="6331344" y="1884007"/>
              <a:ext cx="6663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TEE</a:t>
              </a:r>
            </a:p>
          </p:txBody>
        </p:sp>
        <p:pic>
          <p:nvPicPr>
            <p:cNvPr id="32" name="Graphic 31" descr="Lock with solid fill">
              <a:extLst>
                <a:ext uri="{FF2B5EF4-FFF2-40B4-BE49-F238E27FC236}">
                  <a16:creationId xmlns:a16="http://schemas.microsoft.com/office/drawing/2014/main" id="{26725468-CD52-8419-D31A-9ED6586A03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32500" y="2038350"/>
              <a:ext cx="558800" cy="558800"/>
            </a:xfrm>
            <a:prstGeom prst="rect">
              <a:avLst/>
            </a:prstGeom>
          </p:spPr>
        </p:pic>
      </p:grpSp>
      <p:sp>
        <p:nvSpPr>
          <p:cNvPr id="33" name="Can 32">
            <a:extLst>
              <a:ext uri="{FF2B5EF4-FFF2-40B4-BE49-F238E27FC236}">
                <a16:creationId xmlns:a16="http://schemas.microsoft.com/office/drawing/2014/main" id="{64D5EADB-AA58-DC4B-C7C6-38CDEA3F37FA}"/>
              </a:ext>
            </a:extLst>
          </p:cNvPr>
          <p:cNvSpPr/>
          <p:nvPr/>
        </p:nvSpPr>
        <p:spPr>
          <a:xfrm>
            <a:off x="7051447" y="3848848"/>
            <a:ext cx="756055" cy="868481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36" name="Graphic 35" descr="Question Mark with solid fill">
            <a:extLst>
              <a:ext uri="{FF2B5EF4-FFF2-40B4-BE49-F238E27FC236}">
                <a16:creationId xmlns:a16="http://schemas.microsoft.com/office/drawing/2014/main" id="{39CBB60E-5C17-8D18-2C76-E63BD2EAB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22576" y="3419094"/>
            <a:ext cx="1408176" cy="140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3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BA95-0721-7C00-5370-0EE24489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36CE-77FB-2BA5-CD3C-55DF52B0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Persistence with TEEs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AA26-7E11-8EAA-A461-2B2E48217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889" y="1363567"/>
            <a:ext cx="5389301" cy="3263504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storage is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protected</a:t>
            </a:r>
          </a:p>
          <a:p>
            <a:pPr>
              <a:buClr>
                <a:schemeClr val="tx1"/>
              </a:buClr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Durable state must be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sealed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(encrypted with TEE’s secret key) before it can be persisted</a:t>
            </a:r>
          </a:p>
          <a:p>
            <a:pPr lvl="1"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Expensive</a:t>
            </a:r>
          </a:p>
          <a:p>
            <a:pPr lvl="1">
              <a:buClr>
                <a:schemeClr val="tx1"/>
              </a:buClr>
            </a:pPr>
            <a:endParaRPr lang="en-GB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4FA594-1175-F8DE-EB51-00ADBBD9D13A}"/>
              </a:ext>
            </a:extLst>
          </p:cNvPr>
          <p:cNvSpPr txBox="1"/>
          <p:nvPr/>
        </p:nvSpPr>
        <p:spPr>
          <a:xfrm>
            <a:off x="838255" y="3940619"/>
            <a:ext cx="47011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sealing secure?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1E789ED-20E8-DCFA-9AEE-47D01509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8550230-C959-B435-2A61-850AA855836C}"/>
              </a:ext>
            </a:extLst>
          </p:cNvPr>
          <p:cNvSpPr/>
          <p:nvPr/>
        </p:nvSpPr>
        <p:spPr>
          <a:xfrm>
            <a:off x="6275353" y="3088043"/>
            <a:ext cx="2017747" cy="55171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F100640-73B1-5847-10B0-E58513DF1BF3}"/>
              </a:ext>
            </a:extLst>
          </p:cNvPr>
          <p:cNvSpPr/>
          <p:nvPr/>
        </p:nvSpPr>
        <p:spPr>
          <a:xfrm>
            <a:off x="6274487" y="1316734"/>
            <a:ext cx="2018613" cy="1616966"/>
          </a:xfrm>
          <a:prstGeom prst="roundRect">
            <a:avLst/>
          </a:prstGeom>
          <a:solidFill>
            <a:schemeClr val="accent2">
              <a:lumMod val="25000"/>
              <a:lumOff val="75000"/>
              <a:alpha val="9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AC9130-AC27-CBB1-4D98-522945976B61}"/>
              </a:ext>
            </a:extLst>
          </p:cNvPr>
          <p:cNvSpPr txBox="1"/>
          <p:nvPr/>
        </p:nvSpPr>
        <p:spPr>
          <a:xfrm>
            <a:off x="6804119" y="1304751"/>
            <a:ext cx="10444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Process</a:t>
            </a:r>
            <a:endParaRPr lang="en-US" sz="16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DEDFA6C-136A-FB8B-3C4A-D369634577D7}"/>
              </a:ext>
            </a:extLst>
          </p:cNvPr>
          <p:cNvGrpSpPr/>
          <p:nvPr/>
        </p:nvGrpSpPr>
        <p:grpSpPr>
          <a:xfrm>
            <a:off x="6592214" y="1802494"/>
            <a:ext cx="1370686" cy="737506"/>
            <a:chOff x="5982614" y="1878694"/>
            <a:chExt cx="1370686" cy="737506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B2DC85C3-0EB0-CD59-F108-902B1EB9B4C9}"/>
                </a:ext>
              </a:extLst>
            </p:cNvPr>
            <p:cNvSpPr/>
            <p:nvPr/>
          </p:nvSpPr>
          <p:spPr>
            <a:xfrm>
              <a:off x="5982614" y="1878694"/>
              <a:ext cx="1370686" cy="73750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1C364C8-98AA-4D45-1D7F-5B3B6E6633D1}"/>
                </a:ext>
              </a:extLst>
            </p:cNvPr>
            <p:cNvSpPr txBox="1"/>
            <p:nvPr/>
          </p:nvSpPr>
          <p:spPr>
            <a:xfrm>
              <a:off x="6331344" y="1884007"/>
              <a:ext cx="6663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TEE</a:t>
              </a:r>
            </a:p>
          </p:txBody>
        </p:sp>
        <p:pic>
          <p:nvPicPr>
            <p:cNvPr id="48" name="Graphic 47" descr="Lock with solid fill">
              <a:extLst>
                <a:ext uri="{FF2B5EF4-FFF2-40B4-BE49-F238E27FC236}">
                  <a16:creationId xmlns:a16="http://schemas.microsoft.com/office/drawing/2014/main" id="{DC68F206-CF1A-D1A6-75BC-F0CEF64F60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32500" y="2038350"/>
              <a:ext cx="558800" cy="558800"/>
            </a:xfrm>
            <a:prstGeom prst="rect">
              <a:avLst/>
            </a:prstGeom>
          </p:spPr>
        </p:pic>
      </p:grpSp>
      <p:sp>
        <p:nvSpPr>
          <p:cNvPr id="49" name="Can 48">
            <a:extLst>
              <a:ext uri="{FF2B5EF4-FFF2-40B4-BE49-F238E27FC236}">
                <a16:creationId xmlns:a16="http://schemas.microsoft.com/office/drawing/2014/main" id="{1F95DB7B-EC45-FAFC-AAD4-F09C5479B79B}"/>
              </a:ext>
            </a:extLst>
          </p:cNvPr>
          <p:cNvSpPr/>
          <p:nvPr/>
        </p:nvSpPr>
        <p:spPr>
          <a:xfrm>
            <a:off x="7051710" y="3849550"/>
            <a:ext cx="756055" cy="868481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0DF29D44-AAF3-4355-C1E2-1926893AA348}"/>
              </a:ext>
            </a:extLst>
          </p:cNvPr>
          <p:cNvSpPr/>
          <p:nvPr/>
        </p:nvSpPr>
        <p:spPr>
          <a:xfrm rot="16200000" flipH="1" flipV="1">
            <a:off x="6613810" y="3118415"/>
            <a:ext cx="1617418" cy="315723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59" name="Graphic 58" descr="Envelope with solid fill">
            <a:extLst>
              <a:ext uri="{FF2B5EF4-FFF2-40B4-BE49-F238E27FC236}">
                <a16:creationId xmlns:a16="http://schemas.microsoft.com/office/drawing/2014/main" id="{E69BE725-A23C-83D7-861D-5F399ECAA87C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6276" y="1984598"/>
            <a:ext cx="598582" cy="598582"/>
          </a:xfrm>
          <a:prstGeom prst="rect">
            <a:avLst/>
          </a:prstGeom>
        </p:spPr>
      </p:pic>
      <p:pic>
        <p:nvPicPr>
          <p:cNvPr id="4" name="Imagen 3" descr="iOS 26.4">
            <a:extLst>
              <a:ext uri="{FF2B5EF4-FFF2-40B4-BE49-F238E27FC236}">
                <a16:creationId xmlns:a16="http://schemas.microsoft.com/office/drawing/2014/main" id="{7AD6070F-A231-0E2B-A79B-F12CDAE14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663" y="2749793"/>
            <a:ext cx="617330" cy="61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6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0157-2A4A-7087-3A8F-C8E65397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3">
            <a:extLst>
              <a:ext uri="{FF2B5EF4-FFF2-40B4-BE49-F238E27FC236}">
                <a16:creationId xmlns:a16="http://schemas.microsoft.com/office/drawing/2014/main" id="{0DC60186-4973-6EA7-AE00-24182EE3CEA0}"/>
              </a:ext>
            </a:extLst>
          </p:cNvPr>
          <p:cNvSpPr/>
          <p:nvPr/>
        </p:nvSpPr>
        <p:spPr>
          <a:xfrm>
            <a:off x="6275353" y="3088043"/>
            <a:ext cx="2017747" cy="55171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225B9-1DF5-83C1-09BF-F5B29F4E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Rollback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Attacks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60A9250-0248-9FB4-4360-AEA6A9AC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2864" y="4601810"/>
            <a:ext cx="464155" cy="524584"/>
          </a:xfrm>
        </p:spPr>
        <p:txBody>
          <a:bodyPr>
            <a:normAutofit/>
          </a:bodyPr>
          <a:lstStyle/>
          <a:p>
            <a:fld id="{330EA680-D336-4FF7-8B7A-9848BB0A1C32}" type="slidenum">
              <a:rPr lang="en-US" smtClean="0"/>
              <a:t>4</a:t>
            </a:fld>
            <a:endParaRPr lang="en-US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2F03603-9B01-64BC-D1E5-3CE2224EF208}"/>
              </a:ext>
            </a:extLst>
          </p:cNvPr>
          <p:cNvSpPr txBox="1">
            <a:spLocks/>
          </p:cNvSpPr>
          <p:nvPr/>
        </p:nvSpPr>
        <p:spPr>
          <a:xfrm>
            <a:off x="348889" y="1363566"/>
            <a:ext cx="5637383" cy="2757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6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restart an attacker can replace the </a:t>
            </a:r>
            <a:r>
              <a:rPr lang="en-GB" sz="2000" b="1" dirty="0">
                <a:solidFill>
                  <a:srgbClr val="F08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latest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sealed version with an </a:t>
            </a: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older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one</a:t>
            </a:r>
            <a:endParaRPr lang="en-GB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chemeClr val="tx1"/>
              </a:buClr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Undetectable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versions are correctly signed</a:t>
            </a:r>
          </a:p>
          <a:p>
            <a:pPr lvl="1">
              <a:buClr>
                <a:schemeClr val="tx1"/>
              </a:buClr>
            </a:pPr>
            <a:endParaRPr lang="en-GB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Restarted process behaves </a:t>
            </a:r>
            <a:r>
              <a:rPr lang="en-GB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correctly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afterwards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2A2D63A-D91F-D21B-7377-20AAAE9A98ED}"/>
              </a:ext>
            </a:extLst>
          </p:cNvPr>
          <p:cNvSpPr/>
          <p:nvPr/>
        </p:nvSpPr>
        <p:spPr>
          <a:xfrm>
            <a:off x="6274487" y="1316734"/>
            <a:ext cx="2018613" cy="1616966"/>
          </a:xfrm>
          <a:prstGeom prst="roundRect">
            <a:avLst/>
          </a:prstGeom>
          <a:solidFill>
            <a:schemeClr val="accent2">
              <a:lumMod val="25000"/>
              <a:lumOff val="75000"/>
              <a:alpha val="9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BEC5D5-BCA2-356E-6BF6-E329C1F4971E}"/>
              </a:ext>
            </a:extLst>
          </p:cNvPr>
          <p:cNvSpPr txBox="1"/>
          <p:nvPr/>
        </p:nvSpPr>
        <p:spPr>
          <a:xfrm>
            <a:off x="6804119" y="1304751"/>
            <a:ext cx="10444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Process</a:t>
            </a:r>
            <a:endParaRPr lang="en-US" sz="16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9AF1FD-9308-C561-7812-034A8E73DED8}"/>
              </a:ext>
            </a:extLst>
          </p:cNvPr>
          <p:cNvGrpSpPr/>
          <p:nvPr/>
        </p:nvGrpSpPr>
        <p:grpSpPr>
          <a:xfrm>
            <a:off x="6592214" y="1802494"/>
            <a:ext cx="1370686" cy="737506"/>
            <a:chOff x="5982614" y="1878694"/>
            <a:chExt cx="1370686" cy="737506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08499082-1679-AB2B-F554-7F07446CF4C0}"/>
                </a:ext>
              </a:extLst>
            </p:cNvPr>
            <p:cNvSpPr/>
            <p:nvPr/>
          </p:nvSpPr>
          <p:spPr>
            <a:xfrm>
              <a:off x="5982614" y="1878694"/>
              <a:ext cx="1370686" cy="73750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570790-203D-0C4F-D24A-4D4809A18B08}"/>
                </a:ext>
              </a:extLst>
            </p:cNvPr>
            <p:cNvSpPr txBox="1"/>
            <p:nvPr/>
          </p:nvSpPr>
          <p:spPr>
            <a:xfrm>
              <a:off x="6331344" y="1884007"/>
              <a:ext cx="6663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TEE</a:t>
              </a:r>
            </a:p>
          </p:txBody>
        </p:sp>
        <p:pic>
          <p:nvPicPr>
            <p:cNvPr id="43" name="Graphic 42" descr="Lock with solid fill">
              <a:extLst>
                <a:ext uri="{FF2B5EF4-FFF2-40B4-BE49-F238E27FC236}">
                  <a16:creationId xmlns:a16="http://schemas.microsoft.com/office/drawing/2014/main" id="{C947E668-6634-0EA9-7B74-F5B2978E4D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32500" y="2038350"/>
              <a:ext cx="558800" cy="558800"/>
            </a:xfrm>
            <a:prstGeom prst="rect">
              <a:avLst/>
            </a:prstGeom>
          </p:spPr>
        </p:pic>
      </p:grpSp>
      <p:sp>
        <p:nvSpPr>
          <p:cNvPr id="44" name="Can 43">
            <a:extLst>
              <a:ext uri="{FF2B5EF4-FFF2-40B4-BE49-F238E27FC236}">
                <a16:creationId xmlns:a16="http://schemas.microsoft.com/office/drawing/2014/main" id="{5A2C1730-51F8-F5E9-C5A9-01F939E425D6}"/>
              </a:ext>
            </a:extLst>
          </p:cNvPr>
          <p:cNvSpPr/>
          <p:nvPr/>
        </p:nvSpPr>
        <p:spPr>
          <a:xfrm>
            <a:off x="7051710" y="3849550"/>
            <a:ext cx="756055" cy="868481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59" name="Graphic 58" descr="Devil face with solid fill with solid fill">
            <a:extLst>
              <a:ext uri="{FF2B5EF4-FFF2-40B4-BE49-F238E27FC236}">
                <a16:creationId xmlns:a16="http://schemas.microsoft.com/office/drawing/2014/main" id="{0C40B022-37A1-EBE8-068F-7BE54D6FF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716" y="3051213"/>
            <a:ext cx="615398" cy="615398"/>
          </a:xfrm>
          <a:prstGeom prst="rect">
            <a:avLst/>
          </a:prstGeom>
        </p:spPr>
      </p:pic>
      <p:pic>
        <p:nvPicPr>
          <p:cNvPr id="72" name="Graphic 71" descr="Envelope with solid fill">
            <a:extLst>
              <a:ext uri="{FF2B5EF4-FFF2-40B4-BE49-F238E27FC236}">
                <a16:creationId xmlns:a16="http://schemas.microsoft.com/office/drawing/2014/main" id="{6D968DB5-B6E4-E6D2-BF4E-0AABE9D17F36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6276" y="4054190"/>
            <a:ext cx="598582" cy="598582"/>
          </a:xfrm>
          <a:prstGeom prst="rect">
            <a:avLst/>
          </a:prstGeom>
        </p:spPr>
      </p:pic>
      <p:pic>
        <p:nvPicPr>
          <p:cNvPr id="73" name="Graphic 72" descr="Envelope with solid fill">
            <a:extLst>
              <a:ext uri="{FF2B5EF4-FFF2-40B4-BE49-F238E27FC236}">
                <a16:creationId xmlns:a16="http://schemas.microsoft.com/office/drawing/2014/main" id="{1ED16632-A7A9-3BB4-5219-626011848A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0708" y="4054190"/>
            <a:ext cx="598582" cy="598582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35200B0-49F0-6F36-5D22-9ACD3AC2FF56}"/>
              </a:ext>
            </a:extLst>
          </p:cNvPr>
          <p:cNvCxnSpPr>
            <a:cxnSpLocks/>
          </p:cNvCxnSpPr>
          <p:nvPr/>
        </p:nvCxnSpPr>
        <p:spPr>
          <a:xfrm>
            <a:off x="6585793" y="4352279"/>
            <a:ext cx="55456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loud 77">
            <a:extLst>
              <a:ext uri="{FF2B5EF4-FFF2-40B4-BE49-F238E27FC236}">
                <a16:creationId xmlns:a16="http://schemas.microsoft.com/office/drawing/2014/main" id="{90C111A7-4E1C-6A5D-40FF-4AC52F157F11}"/>
              </a:ext>
            </a:extLst>
          </p:cNvPr>
          <p:cNvSpPr/>
          <p:nvPr/>
        </p:nvSpPr>
        <p:spPr>
          <a:xfrm>
            <a:off x="1232449" y="3108006"/>
            <a:ext cx="3339551" cy="1993335"/>
          </a:xfrm>
          <a:prstGeom prst="cloud">
            <a:avLst/>
          </a:prstGeom>
          <a:solidFill>
            <a:srgbClr val="FDFF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D52441-987F-9CDB-4ED6-CA386CC0BFBF}"/>
                  </a:ext>
                </a:extLst>
              </p:cNvPr>
              <p:cNvSpPr txBox="1"/>
              <p:nvPr/>
            </p:nvSpPr>
            <p:spPr>
              <a:xfrm>
                <a:off x="1451449" y="3505348"/>
                <a:ext cx="302198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latin typeface="Comic Sans MS" panose="030F0902030302020204" pitchFamily="66" charset="0"/>
                  </a:rPr>
                  <a:t>Crash</a:t>
                </a:r>
                <a:r>
                  <a:rPr lang="en-US" sz="20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 </a:t>
                </a:r>
                <a:r>
                  <a:rPr lang="en-US" sz="4400" b="1" dirty="0">
                    <a:solidFill>
                      <a:srgbClr val="BC37FF"/>
                    </a:solidFill>
                    <a:latin typeface="Comic Sans MS" panose="030F0902030302020204" pitchFamily="66" charset="0"/>
                  </a:rPr>
                  <a:t>?</a:t>
                </a:r>
                <a:r>
                  <a:rPr lang="en-US" sz="20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 Byzantine</a:t>
                </a:r>
                <a:endParaRPr lang="en-US" sz="20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D52441-987F-9CDB-4ED6-CA386CC0B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49" y="3505348"/>
                <a:ext cx="3021981" cy="769441"/>
              </a:xfrm>
              <a:prstGeom prst="rect">
                <a:avLst/>
              </a:prstGeom>
              <a:blipFill>
                <a:blip r:embed="rId7"/>
                <a:stretch>
                  <a:fillRect l="-2092" t="-18033" r="-1255" b="-37705"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09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DA87-8017-674A-D6CC-80BB9A26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B001-4C2B-D3B8-8B63-E2B3EE2A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0" y="103649"/>
            <a:ext cx="4223724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Our Contribution: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3D421-2A09-B5B8-A19D-522E6F670E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9D9AD2B-67EF-F4F8-79CF-3C47145A92CA}"/>
                  </a:ext>
                </a:extLst>
              </p:cNvPr>
              <p:cNvSpPr/>
              <p:nvPr/>
            </p:nvSpPr>
            <p:spPr>
              <a:xfrm>
                <a:off x="214298" y="1499617"/>
                <a:ext cx="3979750" cy="1243583"/>
              </a:xfrm>
              <a:custGeom>
                <a:avLst/>
                <a:gdLst>
                  <a:gd name="csX0" fmla="*/ 0 w 3979750"/>
                  <a:gd name="csY0" fmla="*/ 0 h 1243583"/>
                  <a:gd name="csX1" fmla="*/ 528738 w 3979750"/>
                  <a:gd name="csY1" fmla="*/ 0 h 1243583"/>
                  <a:gd name="csX2" fmla="*/ 977881 w 3979750"/>
                  <a:gd name="csY2" fmla="*/ 0 h 1243583"/>
                  <a:gd name="csX3" fmla="*/ 1626012 w 3979750"/>
                  <a:gd name="csY3" fmla="*/ 0 h 1243583"/>
                  <a:gd name="csX4" fmla="*/ 2154750 w 3979750"/>
                  <a:gd name="csY4" fmla="*/ 0 h 1243583"/>
                  <a:gd name="csX5" fmla="*/ 2683489 w 3979750"/>
                  <a:gd name="csY5" fmla="*/ 0 h 1243583"/>
                  <a:gd name="csX6" fmla="*/ 3331619 w 3979750"/>
                  <a:gd name="csY6" fmla="*/ 0 h 1243583"/>
                  <a:gd name="csX7" fmla="*/ 3979750 w 3979750"/>
                  <a:gd name="csY7" fmla="*/ 0 h 1243583"/>
                  <a:gd name="csX8" fmla="*/ 3979750 w 3979750"/>
                  <a:gd name="csY8" fmla="*/ 439399 h 1243583"/>
                  <a:gd name="csX9" fmla="*/ 3979750 w 3979750"/>
                  <a:gd name="csY9" fmla="*/ 829055 h 1243583"/>
                  <a:gd name="csX10" fmla="*/ 3979750 w 3979750"/>
                  <a:gd name="csY10" fmla="*/ 1243583 h 1243583"/>
                  <a:gd name="csX11" fmla="*/ 3411214 w 3979750"/>
                  <a:gd name="csY11" fmla="*/ 1243583 h 1243583"/>
                  <a:gd name="csX12" fmla="*/ 2882476 w 3979750"/>
                  <a:gd name="csY12" fmla="*/ 1243583 h 1243583"/>
                  <a:gd name="csX13" fmla="*/ 2234345 w 3979750"/>
                  <a:gd name="csY13" fmla="*/ 1243583 h 1243583"/>
                  <a:gd name="csX14" fmla="*/ 1586215 w 3979750"/>
                  <a:gd name="csY14" fmla="*/ 1243583 h 1243583"/>
                  <a:gd name="csX15" fmla="*/ 1097274 w 3979750"/>
                  <a:gd name="csY15" fmla="*/ 1243583 h 1243583"/>
                  <a:gd name="csX16" fmla="*/ 528738 w 3979750"/>
                  <a:gd name="csY16" fmla="*/ 1243583 h 1243583"/>
                  <a:gd name="csX17" fmla="*/ 0 w 3979750"/>
                  <a:gd name="csY17" fmla="*/ 1243583 h 1243583"/>
                  <a:gd name="csX18" fmla="*/ 0 w 3979750"/>
                  <a:gd name="csY18" fmla="*/ 829055 h 1243583"/>
                  <a:gd name="csX19" fmla="*/ 0 w 3979750"/>
                  <a:gd name="csY19" fmla="*/ 439399 h 1243583"/>
                  <a:gd name="csX20" fmla="*/ 0 w 3979750"/>
                  <a:gd name="csY20" fmla="*/ 0 h 12435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79750" h="1243583" extrusionOk="0">
                    <a:moveTo>
                      <a:pt x="0" y="0"/>
                    </a:moveTo>
                    <a:cubicBezTo>
                      <a:pt x="130594" y="-53298"/>
                      <a:pt x="344656" y="3633"/>
                      <a:pt x="528738" y="0"/>
                    </a:cubicBezTo>
                    <a:cubicBezTo>
                      <a:pt x="712820" y="-3633"/>
                      <a:pt x="775508" y="37976"/>
                      <a:pt x="977881" y="0"/>
                    </a:cubicBezTo>
                    <a:cubicBezTo>
                      <a:pt x="1180254" y="-37976"/>
                      <a:pt x="1383305" y="50243"/>
                      <a:pt x="1626012" y="0"/>
                    </a:cubicBezTo>
                    <a:cubicBezTo>
                      <a:pt x="1868719" y="-50243"/>
                      <a:pt x="2040662" y="30455"/>
                      <a:pt x="2154750" y="0"/>
                    </a:cubicBezTo>
                    <a:cubicBezTo>
                      <a:pt x="2268838" y="-30455"/>
                      <a:pt x="2425074" y="29078"/>
                      <a:pt x="2683489" y="0"/>
                    </a:cubicBezTo>
                    <a:cubicBezTo>
                      <a:pt x="2941904" y="-29078"/>
                      <a:pt x="3117762" y="3831"/>
                      <a:pt x="3331619" y="0"/>
                    </a:cubicBezTo>
                    <a:cubicBezTo>
                      <a:pt x="3545476" y="-3831"/>
                      <a:pt x="3737474" y="20965"/>
                      <a:pt x="3979750" y="0"/>
                    </a:cubicBezTo>
                    <a:cubicBezTo>
                      <a:pt x="3980130" y="186578"/>
                      <a:pt x="3942083" y="322784"/>
                      <a:pt x="3979750" y="439399"/>
                    </a:cubicBezTo>
                    <a:cubicBezTo>
                      <a:pt x="4017417" y="556014"/>
                      <a:pt x="3952912" y="660745"/>
                      <a:pt x="3979750" y="829055"/>
                    </a:cubicBezTo>
                    <a:cubicBezTo>
                      <a:pt x="4006588" y="997365"/>
                      <a:pt x="3961111" y="1108922"/>
                      <a:pt x="3979750" y="1243583"/>
                    </a:cubicBezTo>
                    <a:cubicBezTo>
                      <a:pt x="3824873" y="1243629"/>
                      <a:pt x="3550715" y="1206128"/>
                      <a:pt x="3411214" y="1243583"/>
                    </a:cubicBezTo>
                    <a:cubicBezTo>
                      <a:pt x="3271713" y="1281038"/>
                      <a:pt x="3038179" y="1224019"/>
                      <a:pt x="2882476" y="1243583"/>
                    </a:cubicBezTo>
                    <a:cubicBezTo>
                      <a:pt x="2726773" y="1263147"/>
                      <a:pt x="2500379" y="1230249"/>
                      <a:pt x="2234345" y="1243583"/>
                    </a:cubicBezTo>
                    <a:cubicBezTo>
                      <a:pt x="1968311" y="1256917"/>
                      <a:pt x="1827501" y="1198784"/>
                      <a:pt x="1586215" y="1243583"/>
                    </a:cubicBezTo>
                    <a:cubicBezTo>
                      <a:pt x="1344929" y="1288382"/>
                      <a:pt x="1284856" y="1217289"/>
                      <a:pt x="1097274" y="1243583"/>
                    </a:cubicBezTo>
                    <a:cubicBezTo>
                      <a:pt x="909692" y="1269877"/>
                      <a:pt x="756266" y="1183433"/>
                      <a:pt x="528738" y="1243583"/>
                    </a:cubicBezTo>
                    <a:cubicBezTo>
                      <a:pt x="301210" y="1303733"/>
                      <a:pt x="110087" y="1182460"/>
                      <a:pt x="0" y="1243583"/>
                    </a:cubicBezTo>
                    <a:cubicBezTo>
                      <a:pt x="-1952" y="1146584"/>
                      <a:pt x="21473" y="999141"/>
                      <a:pt x="0" y="829055"/>
                    </a:cubicBezTo>
                    <a:cubicBezTo>
                      <a:pt x="-21473" y="658969"/>
                      <a:pt x="22395" y="540881"/>
                      <a:pt x="0" y="439399"/>
                    </a:cubicBezTo>
                    <a:cubicBezTo>
                      <a:pt x="-22395" y="337917"/>
                      <a:pt x="7759" y="168144"/>
                      <a:pt x="0" y="0"/>
                    </a:cubicBezTo>
                    <a:close/>
                  </a:path>
                </a:pathLst>
              </a:custGeom>
              <a:noFill/>
              <a:ln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Crash-Restart-Rollback (CRR)</a:t>
                </a:r>
                <a:endParaRPr lang="en-US" sz="16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Failures</a:t>
                </a:r>
                <a:r>
                  <a:rPr lang="en-GB" sz="1600" dirty="0">
                    <a:solidFill>
                      <a:srgbClr val="7030A0"/>
                    </a:solidFill>
                    <a:latin typeface="Comic Sans MS" panose="030F0902030302020204" pitchFamily="66" charset="0"/>
                  </a:rPr>
                  <a:t>: Crash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</a:t>
                </a:r>
                <a:r>
                  <a:rPr lang="en-US" sz="1600" dirty="0">
                    <a:solidFill>
                      <a:srgbClr val="C00000"/>
                    </a:solidFill>
                    <a:latin typeface="Comic Sans MS" panose="030F0902030302020204" pitchFamily="66" charset="0"/>
                  </a:rPr>
                  <a:t>Rollback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9D9AD2B-67EF-F4F8-79CF-3C47145A92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98" y="1499617"/>
                <a:ext cx="3979750" cy="12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979750"/>
                          <a:gd name="connsiteY0" fmla="*/ 0 h 1243583"/>
                          <a:gd name="connsiteX1" fmla="*/ 528738 w 3979750"/>
                          <a:gd name="connsiteY1" fmla="*/ 0 h 1243583"/>
                          <a:gd name="connsiteX2" fmla="*/ 977881 w 3979750"/>
                          <a:gd name="connsiteY2" fmla="*/ 0 h 1243583"/>
                          <a:gd name="connsiteX3" fmla="*/ 1626012 w 3979750"/>
                          <a:gd name="connsiteY3" fmla="*/ 0 h 1243583"/>
                          <a:gd name="connsiteX4" fmla="*/ 2154750 w 3979750"/>
                          <a:gd name="connsiteY4" fmla="*/ 0 h 1243583"/>
                          <a:gd name="connsiteX5" fmla="*/ 2683489 w 3979750"/>
                          <a:gd name="connsiteY5" fmla="*/ 0 h 1243583"/>
                          <a:gd name="connsiteX6" fmla="*/ 3331619 w 3979750"/>
                          <a:gd name="connsiteY6" fmla="*/ 0 h 1243583"/>
                          <a:gd name="connsiteX7" fmla="*/ 3979750 w 3979750"/>
                          <a:gd name="connsiteY7" fmla="*/ 0 h 1243583"/>
                          <a:gd name="connsiteX8" fmla="*/ 3979750 w 3979750"/>
                          <a:gd name="connsiteY8" fmla="*/ 439399 h 1243583"/>
                          <a:gd name="connsiteX9" fmla="*/ 3979750 w 3979750"/>
                          <a:gd name="connsiteY9" fmla="*/ 829055 h 1243583"/>
                          <a:gd name="connsiteX10" fmla="*/ 3979750 w 3979750"/>
                          <a:gd name="connsiteY10" fmla="*/ 1243583 h 1243583"/>
                          <a:gd name="connsiteX11" fmla="*/ 3411214 w 3979750"/>
                          <a:gd name="connsiteY11" fmla="*/ 1243583 h 1243583"/>
                          <a:gd name="connsiteX12" fmla="*/ 2882476 w 3979750"/>
                          <a:gd name="connsiteY12" fmla="*/ 1243583 h 1243583"/>
                          <a:gd name="connsiteX13" fmla="*/ 2234345 w 3979750"/>
                          <a:gd name="connsiteY13" fmla="*/ 1243583 h 1243583"/>
                          <a:gd name="connsiteX14" fmla="*/ 1586215 w 3979750"/>
                          <a:gd name="connsiteY14" fmla="*/ 1243583 h 1243583"/>
                          <a:gd name="connsiteX15" fmla="*/ 1097274 w 3979750"/>
                          <a:gd name="connsiteY15" fmla="*/ 1243583 h 1243583"/>
                          <a:gd name="connsiteX16" fmla="*/ 528738 w 3979750"/>
                          <a:gd name="connsiteY16" fmla="*/ 1243583 h 1243583"/>
                          <a:gd name="connsiteX17" fmla="*/ 0 w 3979750"/>
                          <a:gd name="connsiteY17" fmla="*/ 1243583 h 1243583"/>
                          <a:gd name="connsiteX18" fmla="*/ 0 w 3979750"/>
                          <a:gd name="connsiteY18" fmla="*/ 829055 h 1243583"/>
                          <a:gd name="connsiteX19" fmla="*/ 0 w 3979750"/>
                          <a:gd name="connsiteY19" fmla="*/ 439399 h 1243583"/>
                          <a:gd name="connsiteX20" fmla="*/ 0 w 3979750"/>
                          <a:gd name="connsiteY20" fmla="*/ 0 h 12435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3979750" h="1243583" extrusionOk="0">
                            <a:moveTo>
                              <a:pt x="0" y="0"/>
                            </a:moveTo>
                            <a:cubicBezTo>
                              <a:pt x="130594" y="-53298"/>
                              <a:pt x="344656" y="3633"/>
                              <a:pt x="528738" y="0"/>
                            </a:cubicBezTo>
                            <a:cubicBezTo>
                              <a:pt x="712820" y="-3633"/>
                              <a:pt x="775508" y="37976"/>
                              <a:pt x="977881" y="0"/>
                            </a:cubicBezTo>
                            <a:cubicBezTo>
                              <a:pt x="1180254" y="-37976"/>
                              <a:pt x="1383305" y="50243"/>
                              <a:pt x="1626012" y="0"/>
                            </a:cubicBezTo>
                            <a:cubicBezTo>
                              <a:pt x="1868719" y="-50243"/>
                              <a:pt x="2040662" y="30455"/>
                              <a:pt x="2154750" y="0"/>
                            </a:cubicBezTo>
                            <a:cubicBezTo>
                              <a:pt x="2268838" y="-30455"/>
                              <a:pt x="2425074" y="29078"/>
                              <a:pt x="2683489" y="0"/>
                            </a:cubicBezTo>
                            <a:cubicBezTo>
                              <a:pt x="2941904" y="-29078"/>
                              <a:pt x="3117762" y="3831"/>
                              <a:pt x="3331619" y="0"/>
                            </a:cubicBezTo>
                            <a:cubicBezTo>
                              <a:pt x="3545476" y="-3831"/>
                              <a:pt x="3737474" y="20965"/>
                              <a:pt x="3979750" y="0"/>
                            </a:cubicBezTo>
                            <a:cubicBezTo>
                              <a:pt x="3980130" y="186578"/>
                              <a:pt x="3942083" y="322784"/>
                              <a:pt x="3979750" y="439399"/>
                            </a:cubicBezTo>
                            <a:cubicBezTo>
                              <a:pt x="4017417" y="556014"/>
                              <a:pt x="3952912" y="660745"/>
                              <a:pt x="3979750" y="829055"/>
                            </a:cubicBezTo>
                            <a:cubicBezTo>
                              <a:pt x="4006588" y="997365"/>
                              <a:pt x="3961111" y="1108922"/>
                              <a:pt x="3979750" y="1243583"/>
                            </a:cubicBezTo>
                            <a:cubicBezTo>
                              <a:pt x="3824873" y="1243629"/>
                              <a:pt x="3550715" y="1206128"/>
                              <a:pt x="3411214" y="1243583"/>
                            </a:cubicBezTo>
                            <a:cubicBezTo>
                              <a:pt x="3271713" y="1281038"/>
                              <a:pt x="3038179" y="1224019"/>
                              <a:pt x="2882476" y="1243583"/>
                            </a:cubicBezTo>
                            <a:cubicBezTo>
                              <a:pt x="2726773" y="1263147"/>
                              <a:pt x="2500379" y="1230249"/>
                              <a:pt x="2234345" y="1243583"/>
                            </a:cubicBezTo>
                            <a:cubicBezTo>
                              <a:pt x="1968311" y="1256917"/>
                              <a:pt x="1827501" y="1198784"/>
                              <a:pt x="1586215" y="1243583"/>
                            </a:cubicBezTo>
                            <a:cubicBezTo>
                              <a:pt x="1344929" y="1288382"/>
                              <a:pt x="1284856" y="1217289"/>
                              <a:pt x="1097274" y="1243583"/>
                            </a:cubicBezTo>
                            <a:cubicBezTo>
                              <a:pt x="909692" y="1269877"/>
                              <a:pt x="756266" y="1183433"/>
                              <a:pt x="528738" y="1243583"/>
                            </a:cubicBezTo>
                            <a:cubicBezTo>
                              <a:pt x="301210" y="1303733"/>
                              <a:pt x="110087" y="1182460"/>
                              <a:pt x="0" y="1243583"/>
                            </a:cubicBezTo>
                            <a:cubicBezTo>
                              <a:pt x="-1952" y="1146584"/>
                              <a:pt x="21473" y="999141"/>
                              <a:pt x="0" y="829055"/>
                            </a:cubicBezTo>
                            <a:cubicBezTo>
                              <a:pt x="-21473" y="658969"/>
                              <a:pt x="22395" y="540881"/>
                              <a:pt x="0" y="439399"/>
                            </a:cubicBezTo>
                            <a:cubicBezTo>
                              <a:pt x="-22395" y="337917"/>
                              <a:pt x="7759" y="16814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63541B3-8FEE-84BB-CBB3-C84962CF1E15}"/>
              </a:ext>
            </a:extLst>
          </p:cNvPr>
          <p:cNvSpPr/>
          <p:nvPr/>
        </p:nvSpPr>
        <p:spPr>
          <a:xfrm>
            <a:off x="2877312" y="3155081"/>
            <a:ext cx="3096768" cy="1185271"/>
          </a:xfrm>
          <a:custGeom>
            <a:avLst/>
            <a:gdLst>
              <a:gd name="csX0" fmla="*/ 0 w 3096768"/>
              <a:gd name="csY0" fmla="*/ 0 h 1185271"/>
              <a:gd name="csX1" fmla="*/ 485160 w 3096768"/>
              <a:gd name="csY1" fmla="*/ 0 h 1185271"/>
              <a:gd name="csX2" fmla="*/ 908385 w 3096768"/>
              <a:gd name="csY2" fmla="*/ 0 h 1185271"/>
              <a:gd name="csX3" fmla="*/ 1486449 w 3096768"/>
              <a:gd name="csY3" fmla="*/ 0 h 1185271"/>
              <a:gd name="csX4" fmla="*/ 1971609 w 3096768"/>
              <a:gd name="csY4" fmla="*/ 0 h 1185271"/>
              <a:gd name="csX5" fmla="*/ 2456769 w 3096768"/>
              <a:gd name="csY5" fmla="*/ 0 h 1185271"/>
              <a:gd name="csX6" fmla="*/ 3096768 w 3096768"/>
              <a:gd name="csY6" fmla="*/ 0 h 1185271"/>
              <a:gd name="csX7" fmla="*/ 3096768 w 3096768"/>
              <a:gd name="csY7" fmla="*/ 568930 h 1185271"/>
              <a:gd name="csX8" fmla="*/ 3096768 w 3096768"/>
              <a:gd name="csY8" fmla="*/ 1185271 h 1185271"/>
              <a:gd name="csX9" fmla="*/ 2642575 w 3096768"/>
              <a:gd name="csY9" fmla="*/ 1185271 h 1185271"/>
              <a:gd name="csX10" fmla="*/ 2126447 w 3096768"/>
              <a:gd name="csY10" fmla="*/ 1185271 h 1185271"/>
              <a:gd name="csX11" fmla="*/ 1610319 w 3096768"/>
              <a:gd name="csY11" fmla="*/ 1185271 h 1185271"/>
              <a:gd name="csX12" fmla="*/ 1125159 w 3096768"/>
              <a:gd name="csY12" fmla="*/ 1185271 h 1185271"/>
              <a:gd name="csX13" fmla="*/ 547096 w 3096768"/>
              <a:gd name="csY13" fmla="*/ 1185271 h 1185271"/>
              <a:gd name="csX14" fmla="*/ 0 w 3096768"/>
              <a:gd name="csY14" fmla="*/ 1185271 h 1185271"/>
              <a:gd name="csX15" fmla="*/ 0 w 3096768"/>
              <a:gd name="csY15" fmla="*/ 616341 h 1185271"/>
              <a:gd name="csX16" fmla="*/ 0 w 3096768"/>
              <a:gd name="csY16" fmla="*/ 0 h 1185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96768" h="1185271" extrusionOk="0">
                <a:moveTo>
                  <a:pt x="0" y="0"/>
                </a:moveTo>
                <a:cubicBezTo>
                  <a:pt x="199649" y="-14931"/>
                  <a:pt x="374810" y="26613"/>
                  <a:pt x="485160" y="0"/>
                </a:cubicBezTo>
                <a:cubicBezTo>
                  <a:pt x="595510" y="-26613"/>
                  <a:pt x="811399" y="32909"/>
                  <a:pt x="908385" y="0"/>
                </a:cubicBezTo>
                <a:cubicBezTo>
                  <a:pt x="1005371" y="-32909"/>
                  <a:pt x="1306132" y="36794"/>
                  <a:pt x="1486449" y="0"/>
                </a:cubicBezTo>
                <a:cubicBezTo>
                  <a:pt x="1666766" y="-36794"/>
                  <a:pt x="1862243" y="35699"/>
                  <a:pt x="1971609" y="0"/>
                </a:cubicBezTo>
                <a:cubicBezTo>
                  <a:pt x="2080975" y="-35699"/>
                  <a:pt x="2274376" y="20790"/>
                  <a:pt x="2456769" y="0"/>
                </a:cubicBezTo>
                <a:cubicBezTo>
                  <a:pt x="2639162" y="-20790"/>
                  <a:pt x="2948786" y="20565"/>
                  <a:pt x="3096768" y="0"/>
                </a:cubicBezTo>
                <a:cubicBezTo>
                  <a:pt x="3138299" y="154667"/>
                  <a:pt x="3084945" y="319064"/>
                  <a:pt x="3096768" y="568930"/>
                </a:cubicBezTo>
                <a:cubicBezTo>
                  <a:pt x="3108591" y="818796"/>
                  <a:pt x="3094107" y="887545"/>
                  <a:pt x="3096768" y="1185271"/>
                </a:cubicBezTo>
                <a:cubicBezTo>
                  <a:pt x="2995031" y="1226306"/>
                  <a:pt x="2764377" y="1184985"/>
                  <a:pt x="2642575" y="1185271"/>
                </a:cubicBezTo>
                <a:cubicBezTo>
                  <a:pt x="2520773" y="1185557"/>
                  <a:pt x="2299884" y="1153128"/>
                  <a:pt x="2126447" y="1185271"/>
                </a:cubicBezTo>
                <a:cubicBezTo>
                  <a:pt x="1953010" y="1217414"/>
                  <a:pt x="1802845" y="1127563"/>
                  <a:pt x="1610319" y="1185271"/>
                </a:cubicBezTo>
                <a:cubicBezTo>
                  <a:pt x="1417793" y="1242979"/>
                  <a:pt x="1285525" y="1176458"/>
                  <a:pt x="1125159" y="1185271"/>
                </a:cubicBezTo>
                <a:cubicBezTo>
                  <a:pt x="964793" y="1194084"/>
                  <a:pt x="732373" y="1178698"/>
                  <a:pt x="547096" y="1185271"/>
                </a:cubicBezTo>
                <a:cubicBezTo>
                  <a:pt x="361819" y="1191844"/>
                  <a:pt x="131923" y="1169723"/>
                  <a:pt x="0" y="1185271"/>
                </a:cubicBezTo>
                <a:cubicBezTo>
                  <a:pt x="-43190" y="1048040"/>
                  <a:pt x="36971" y="830447"/>
                  <a:pt x="0" y="616341"/>
                </a:cubicBezTo>
                <a:cubicBezTo>
                  <a:pt x="-36971" y="402235"/>
                  <a:pt x="13290" y="155864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Tight Bounds for Registers 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Resilience, Time Complexity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Persistent Storage Usage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ADF13-C194-5A81-DED7-276238251FF1}"/>
              </a:ext>
            </a:extLst>
          </p:cNvPr>
          <p:cNvSpPr/>
          <p:nvPr/>
        </p:nvSpPr>
        <p:spPr>
          <a:xfrm>
            <a:off x="4950890" y="1499617"/>
            <a:ext cx="3979750" cy="1207007"/>
          </a:xfrm>
          <a:custGeom>
            <a:avLst/>
            <a:gdLst>
              <a:gd name="csX0" fmla="*/ 0 w 3979750"/>
              <a:gd name="csY0" fmla="*/ 0 h 1207007"/>
              <a:gd name="csX1" fmla="*/ 528738 w 3979750"/>
              <a:gd name="csY1" fmla="*/ 0 h 1207007"/>
              <a:gd name="csX2" fmla="*/ 977881 w 3979750"/>
              <a:gd name="csY2" fmla="*/ 0 h 1207007"/>
              <a:gd name="csX3" fmla="*/ 1626012 w 3979750"/>
              <a:gd name="csY3" fmla="*/ 0 h 1207007"/>
              <a:gd name="csX4" fmla="*/ 2154750 w 3979750"/>
              <a:gd name="csY4" fmla="*/ 0 h 1207007"/>
              <a:gd name="csX5" fmla="*/ 2683489 w 3979750"/>
              <a:gd name="csY5" fmla="*/ 0 h 1207007"/>
              <a:gd name="csX6" fmla="*/ 3331619 w 3979750"/>
              <a:gd name="csY6" fmla="*/ 0 h 1207007"/>
              <a:gd name="csX7" fmla="*/ 3979750 w 3979750"/>
              <a:gd name="csY7" fmla="*/ 0 h 1207007"/>
              <a:gd name="csX8" fmla="*/ 3979750 w 3979750"/>
              <a:gd name="csY8" fmla="*/ 426476 h 1207007"/>
              <a:gd name="csX9" fmla="*/ 3979750 w 3979750"/>
              <a:gd name="csY9" fmla="*/ 804671 h 1207007"/>
              <a:gd name="csX10" fmla="*/ 3979750 w 3979750"/>
              <a:gd name="csY10" fmla="*/ 1207007 h 1207007"/>
              <a:gd name="csX11" fmla="*/ 3411214 w 3979750"/>
              <a:gd name="csY11" fmla="*/ 1207007 h 1207007"/>
              <a:gd name="csX12" fmla="*/ 2882476 w 3979750"/>
              <a:gd name="csY12" fmla="*/ 1207007 h 1207007"/>
              <a:gd name="csX13" fmla="*/ 2234345 w 3979750"/>
              <a:gd name="csY13" fmla="*/ 1207007 h 1207007"/>
              <a:gd name="csX14" fmla="*/ 1586215 w 3979750"/>
              <a:gd name="csY14" fmla="*/ 1207007 h 1207007"/>
              <a:gd name="csX15" fmla="*/ 1097274 w 3979750"/>
              <a:gd name="csY15" fmla="*/ 1207007 h 1207007"/>
              <a:gd name="csX16" fmla="*/ 528738 w 3979750"/>
              <a:gd name="csY16" fmla="*/ 1207007 h 1207007"/>
              <a:gd name="csX17" fmla="*/ 0 w 3979750"/>
              <a:gd name="csY17" fmla="*/ 1207007 h 1207007"/>
              <a:gd name="csX18" fmla="*/ 0 w 3979750"/>
              <a:gd name="csY18" fmla="*/ 804671 h 1207007"/>
              <a:gd name="csX19" fmla="*/ 0 w 3979750"/>
              <a:gd name="csY19" fmla="*/ 426476 h 1207007"/>
              <a:gd name="csX20" fmla="*/ 0 w 3979750"/>
              <a:gd name="csY20" fmla="*/ 0 h 120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979750" h="1207007" extrusionOk="0">
                <a:moveTo>
                  <a:pt x="0" y="0"/>
                </a:moveTo>
                <a:cubicBezTo>
                  <a:pt x="130594" y="-53298"/>
                  <a:pt x="344656" y="3633"/>
                  <a:pt x="528738" y="0"/>
                </a:cubicBezTo>
                <a:cubicBezTo>
                  <a:pt x="712820" y="-3633"/>
                  <a:pt x="775508" y="37976"/>
                  <a:pt x="977881" y="0"/>
                </a:cubicBezTo>
                <a:cubicBezTo>
                  <a:pt x="1180254" y="-37976"/>
                  <a:pt x="1383305" y="50243"/>
                  <a:pt x="1626012" y="0"/>
                </a:cubicBezTo>
                <a:cubicBezTo>
                  <a:pt x="1868719" y="-50243"/>
                  <a:pt x="2040662" y="30455"/>
                  <a:pt x="2154750" y="0"/>
                </a:cubicBezTo>
                <a:cubicBezTo>
                  <a:pt x="2268838" y="-30455"/>
                  <a:pt x="2425074" y="29078"/>
                  <a:pt x="2683489" y="0"/>
                </a:cubicBezTo>
                <a:cubicBezTo>
                  <a:pt x="2941904" y="-29078"/>
                  <a:pt x="3117762" y="3831"/>
                  <a:pt x="3331619" y="0"/>
                </a:cubicBezTo>
                <a:cubicBezTo>
                  <a:pt x="3545476" y="-3831"/>
                  <a:pt x="3737474" y="20965"/>
                  <a:pt x="3979750" y="0"/>
                </a:cubicBezTo>
                <a:cubicBezTo>
                  <a:pt x="4009639" y="121863"/>
                  <a:pt x="3942075" y="248994"/>
                  <a:pt x="3979750" y="426476"/>
                </a:cubicBezTo>
                <a:cubicBezTo>
                  <a:pt x="4017425" y="603958"/>
                  <a:pt x="3972782" y="615884"/>
                  <a:pt x="3979750" y="804671"/>
                </a:cubicBezTo>
                <a:cubicBezTo>
                  <a:pt x="3986718" y="993459"/>
                  <a:pt x="3931850" y="1103807"/>
                  <a:pt x="3979750" y="1207007"/>
                </a:cubicBezTo>
                <a:cubicBezTo>
                  <a:pt x="3824873" y="1207053"/>
                  <a:pt x="3550715" y="1169552"/>
                  <a:pt x="3411214" y="1207007"/>
                </a:cubicBezTo>
                <a:cubicBezTo>
                  <a:pt x="3271713" y="1244462"/>
                  <a:pt x="3038179" y="1187443"/>
                  <a:pt x="2882476" y="1207007"/>
                </a:cubicBezTo>
                <a:cubicBezTo>
                  <a:pt x="2726773" y="1226571"/>
                  <a:pt x="2500379" y="1193673"/>
                  <a:pt x="2234345" y="1207007"/>
                </a:cubicBezTo>
                <a:cubicBezTo>
                  <a:pt x="1968311" y="1220341"/>
                  <a:pt x="1827501" y="1162208"/>
                  <a:pt x="1586215" y="1207007"/>
                </a:cubicBezTo>
                <a:cubicBezTo>
                  <a:pt x="1344929" y="1251806"/>
                  <a:pt x="1284856" y="1180713"/>
                  <a:pt x="1097274" y="1207007"/>
                </a:cubicBezTo>
                <a:cubicBezTo>
                  <a:pt x="909692" y="1233301"/>
                  <a:pt x="756266" y="1146857"/>
                  <a:pt x="528738" y="1207007"/>
                </a:cubicBezTo>
                <a:cubicBezTo>
                  <a:pt x="301210" y="1267157"/>
                  <a:pt x="110087" y="1145884"/>
                  <a:pt x="0" y="1207007"/>
                </a:cubicBezTo>
                <a:cubicBezTo>
                  <a:pt x="-47306" y="1054566"/>
                  <a:pt x="34641" y="896198"/>
                  <a:pt x="0" y="804671"/>
                </a:cubicBezTo>
                <a:cubicBezTo>
                  <a:pt x="-34641" y="713144"/>
                  <a:pt x="9836" y="511631"/>
                  <a:pt x="0" y="426476"/>
                </a:cubicBezTo>
                <a:cubicBezTo>
                  <a:pt x="-9836" y="341321"/>
                  <a:pt x="19801" y="92380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Dynamic CRR (CRR-D)</a:t>
            </a:r>
            <a:endParaRPr lang="en-US" sz="1600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Failures: </a:t>
            </a:r>
            <a:r>
              <a:rPr lang="en-GB" sz="1600" dirty="0">
                <a:solidFill>
                  <a:srgbClr val="7030A0"/>
                </a:solidFill>
                <a:latin typeface="Comic Sans MS" panose="030F0902030302020204" pitchFamily="66" charset="0"/>
              </a:rPr>
              <a:t>Crash</a:t>
            </a: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rgbClr val="7030A0"/>
                </a:solidFill>
                <a:latin typeface="Comic Sans MS" panose="030F0902030302020204" pitchFamily="66" charset="0"/>
              </a:rPr>
              <a:t>Every process can rollback </a:t>
            </a:r>
            <a:endParaRPr lang="en-US" sz="16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8BA195-A5CD-6EA3-D610-C2EF246EAEB0}"/>
              </a:ext>
            </a:extLst>
          </p:cNvPr>
          <p:cNvCxnSpPr>
            <a:cxnSpLocks/>
          </p:cNvCxnSpPr>
          <p:nvPr/>
        </p:nvCxnSpPr>
        <p:spPr>
          <a:xfrm>
            <a:off x="3718560" y="2731008"/>
            <a:ext cx="0" cy="451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F9DE82-3205-3214-68FA-BDD581A0774C}"/>
              </a:ext>
            </a:extLst>
          </p:cNvPr>
          <p:cNvCxnSpPr>
            <a:cxnSpLocks/>
          </p:cNvCxnSpPr>
          <p:nvPr/>
        </p:nvCxnSpPr>
        <p:spPr>
          <a:xfrm>
            <a:off x="5376672" y="273100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8DC50E-8342-AC16-1E05-6658D8A07372}"/>
                  </a:ext>
                </a:extLst>
              </p:cNvPr>
              <p:cNvSpPr txBox="1"/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≺</m:t>
                      </m:r>
                    </m:oMath>
                  </m:oMathPara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8DC50E-8342-AC16-1E05-6658D8A07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70EB77D-88BE-5808-AACD-61A4DE842ECA}"/>
              </a:ext>
            </a:extLst>
          </p:cNvPr>
          <p:cNvSpPr txBox="1"/>
          <p:nvPr/>
        </p:nvSpPr>
        <p:spPr>
          <a:xfrm>
            <a:off x="926592" y="90220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Static Failure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E4090-D358-EA2E-D719-2ADFE432EDCF}"/>
              </a:ext>
            </a:extLst>
          </p:cNvPr>
          <p:cNvSpPr txBox="1"/>
          <p:nvPr/>
        </p:nvSpPr>
        <p:spPr>
          <a:xfrm>
            <a:off x="5370576" y="902208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Dynamic Failure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0C1DC-A514-BE6F-FCB7-94F3DADBE481}"/>
              </a:ext>
            </a:extLst>
          </p:cNvPr>
          <p:cNvSpPr txBox="1"/>
          <p:nvPr/>
        </p:nvSpPr>
        <p:spPr>
          <a:xfrm>
            <a:off x="560832" y="3218688"/>
            <a:ext cx="1827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Crash Fault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Tolerance </a:t>
            </a:r>
            <a:b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</a:b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(CFT)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C396A-B319-14AC-A045-4BC97DCC3430}"/>
              </a:ext>
            </a:extLst>
          </p:cNvPr>
          <p:cNvSpPr txBox="1"/>
          <p:nvPr/>
        </p:nvSpPr>
        <p:spPr>
          <a:xfrm>
            <a:off x="6680684" y="3127248"/>
            <a:ext cx="1694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Byz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Fault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Tolerance </a:t>
            </a:r>
            <a:b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</a:b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(BFT)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4D2EE5-49EC-27E1-F3F2-EE1AAA4D0C76}"/>
                  </a:ext>
                </a:extLst>
              </p:cNvPr>
              <p:cNvSpPr txBox="1"/>
              <p:nvPr/>
            </p:nvSpPr>
            <p:spPr>
              <a:xfrm>
                <a:off x="2182368" y="3438144"/>
                <a:ext cx="6511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4D2EE5-49EC-27E1-F3F2-EE1AAA4D0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68" y="3438144"/>
                <a:ext cx="651139" cy="646331"/>
              </a:xfrm>
              <a:prstGeom prst="rect">
                <a:avLst/>
              </a:prstGeom>
              <a:blipFill>
                <a:blip r:embed="rId5"/>
                <a:stretch>
                  <a:fillRect l="-1887" b="-7692"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3943F9-BF33-220D-E323-D74161C794D9}"/>
                  </a:ext>
                </a:extLst>
              </p:cNvPr>
              <p:cNvSpPr txBox="1"/>
              <p:nvPr/>
            </p:nvSpPr>
            <p:spPr>
              <a:xfrm>
                <a:off x="6077712" y="3419856"/>
                <a:ext cx="6511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3943F9-BF33-220D-E323-D74161C79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12" y="3419856"/>
                <a:ext cx="651139" cy="646331"/>
              </a:xfrm>
              <a:prstGeom prst="rect">
                <a:avLst/>
              </a:prstGeom>
              <a:blipFill>
                <a:blip r:embed="rId6"/>
                <a:stretch>
                  <a:fillRect l="-1923" r="-1923" b="-5769"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95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4" grpId="0"/>
      <p:bldP spid="3" grpId="0"/>
      <p:bldP spid="9" grpId="0"/>
      <p:bldP spid="5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12731-605D-6CE0-36A2-AE816598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2564-F33A-8A63-3981-F3643F3D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0" y="103649"/>
            <a:ext cx="4223724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Our Contribution: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19082-C59B-2A0E-15EC-CF88BA3877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D263B0-B3B5-0D2B-CED1-1F80219B0114}"/>
                  </a:ext>
                </a:extLst>
              </p:cNvPr>
              <p:cNvSpPr/>
              <p:nvPr/>
            </p:nvSpPr>
            <p:spPr>
              <a:xfrm>
                <a:off x="214298" y="1499617"/>
                <a:ext cx="3979750" cy="1243583"/>
              </a:xfrm>
              <a:custGeom>
                <a:avLst/>
                <a:gdLst>
                  <a:gd name="csX0" fmla="*/ 0 w 3979750"/>
                  <a:gd name="csY0" fmla="*/ 0 h 1243583"/>
                  <a:gd name="csX1" fmla="*/ 528738 w 3979750"/>
                  <a:gd name="csY1" fmla="*/ 0 h 1243583"/>
                  <a:gd name="csX2" fmla="*/ 977881 w 3979750"/>
                  <a:gd name="csY2" fmla="*/ 0 h 1243583"/>
                  <a:gd name="csX3" fmla="*/ 1626012 w 3979750"/>
                  <a:gd name="csY3" fmla="*/ 0 h 1243583"/>
                  <a:gd name="csX4" fmla="*/ 2154750 w 3979750"/>
                  <a:gd name="csY4" fmla="*/ 0 h 1243583"/>
                  <a:gd name="csX5" fmla="*/ 2683489 w 3979750"/>
                  <a:gd name="csY5" fmla="*/ 0 h 1243583"/>
                  <a:gd name="csX6" fmla="*/ 3331619 w 3979750"/>
                  <a:gd name="csY6" fmla="*/ 0 h 1243583"/>
                  <a:gd name="csX7" fmla="*/ 3979750 w 3979750"/>
                  <a:gd name="csY7" fmla="*/ 0 h 1243583"/>
                  <a:gd name="csX8" fmla="*/ 3979750 w 3979750"/>
                  <a:gd name="csY8" fmla="*/ 439399 h 1243583"/>
                  <a:gd name="csX9" fmla="*/ 3979750 w 3979750"/>
                  <a:gd name="csY9" fmla="*/ 829055 h 1243583"/>
                  <a:gd name="csX10" fmla="*/ 3979750 w 3979750"/>
                  <a:gd name="csY10" fmla="*/ 1243583 h 1243583"/>
                  <a:gd name="csX11" fmla="*/ 3411214 w 3979750"/>
                  <a:gd name="csY11" fmla="*/ 1243583 h 1243583"/>
                  <a:gd name="csX12" fmla="*/ 2882476 w 3979750"/>
                  <a:gd name="csY12" fmla="*/ 1243583 h 1243583"/>
                  <a:gd name="csX13" fmla="*/ 2234345 w 3979750"/>
                  <a:gd name="csY13" fmla="*/ 1243583 h 1243583"/>
                  <a:gd name="csX14" fmla="*/ 1586215 w 3979750"/>
                  <a:gd name="csY14" fmla="*/ 1243583 h 1243583"/>
                  <a:gd name="csX15" fmla="*/ 1097274 w 3979750"/>
                  <a:gd name="csY15" fmla="*/ 1243583 h 1243583"/>
                  <a:gd name="csX16" fmla="*/ 528738 w 3979750"/>
                  <a:gd name="csY16" fmla="*/ 1243583 h 1243583"/>
                  <a:gd name="csX17" fmla="*/ 0 w 3979750"/>
                  <a:gd name="csY17" fmla="*/ 1243583 h 1243583"/>
                  <a:gd name="csX18" fmla="*/ 0 w 3979750"/>
                  <a:gd name="csY18" fmla="*/ 829055 h 1243583"/>
                  <a:gd name="csX19" fmla="*/ 0 w 3979750"/>
                  <a:gd name="csY19" fmla="*/ 439399 h 1243583"/>
                  <a:gd name="csX20" fmla="*/ 0 w 3979750"/>
                  <a:gd name="csY20" fmla="*/ 0 h 12435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79750" h="1243583" extrusionOk="0">
                    <a:moveTo>
                      <a:pt x="0" y="0"/>
                    </a:moveTo>
                    <a:cubicBezTo>
                      <a:pt x="130594" y="-53298"/>
                      <a:pt x="344656" y="3633"/>
                      <a:pt x="528738" y="0"/>
                    </a:cubicBezTo>
                    <a:cubicBezTo>
                      <a:pt x="712820" y="-3633"/>
                      <a:pt x="775508" y="37976"/>
                      <a:pt x="977881" y="0"/>
                    </a:cubicBezTo>
                    <a:cubicBezTo>
                      <a:pt x="1180254" y="-37976"/>
                      <a:pt x="1383305" y="50243"/>
                      <a:pt x="1626012" y="0"/>
                    </a:cubicBezTo>
                    <a:cubicBezTo>
                      <a:pt x="1868719" y="-50243"/>
                      <a:pt x="2040662" y="30455"/>
                      <a:pt x="2154750" y="0"/>
                    </a:cubicBezTo>
                    <a:cubicBezTo>
                      <a:pt x="2268838" y="-30455"/>
                      <a:pt x="2425074" y="29078"/>
                      <a:pt x="2683489" y="0"/>
                    </a:cubicBezTo>
                    <a:cubicBezTo>
                      <a:pt x="2941904" y="-29078"/>
                      <a:pt x="3117762" y="3831"/>
                      <a:pt x="3331619" y="0"/>
                    </a:cubicBezTo>
                    <a:cubicBezTo>
                      <a:pt x="3545476" y="-3831"/>
                      <a:pt x="3737474" y="20965"/>
                      <a:pt x="3979750" y="0"/>
                    </a:cubicBezTo>
                    <a:cubicBezTo>
                      <a:pt x="3980130" y="186578"/>
                      <a:pt x="3942083" y="322784"/>
                      <a:pt x="3979750" y="439399"/>
                    </a:cubicBezTo>
                    <a:cubicBezTo>
                      <a:pt x="4017417" y="556014"/>
                      <a:pt x="3952912" y="660745"/>
                      <a:pt x="3979750" y="829055"/>
                    </a:cubicBezTo>
                    <a:cubicBezTo>
                      <a:pt x="4006588" y="997365"/>
                      <a:pt x="3961111" y="1108922"/>
                      <a:pt x="3979750" y="1243583"/>
                    </a:cubicBezTo>
                    <a:cubicBezTo>
                      <a:pt x="3824873" y="1243629"/>
                      <a:pt x="3550715" y="1206128"/>
                      <a:pt x="3411214" y="1243583"/>
                    </a:cubicBezTo>
                    <a:cubicBezTo>
                      <a:pt x="3271713" y="1281038"/>
                      <a:pt x="3038179" y="1224019"/>
                      <a:pt x="2882476" y="1243583"/>
                    </a:cubicBezTo>
                    <a:cubicBezTo>
                      <a:pt x="2726773" y="1263147"/>
                      <a:pt x="2500379" y="1230249"/>
                      <a:pt x="2234345" y="1243583"/>
                    </a:cubicBezTo>
                    <a:cubicBezTo>
                      <a:pt x="1968311" y="1256917"/>
                      <a:pt x="1827501" y="1198784"/>
                      <a:pt x="1586215" y="1243583"/>
                    </a:cubicBezTo>
                    <a:cubicBezTo>
                      <a:pt x="1344929" y="1288382"/>
                      <a:pt x="1284856" y="1217289"/>
                      <a:pt x="1097274" y="1243583"/>
                    </a:cubicBezTo>
                    <a:cubicBezTo>
                      <a:pt x="909692" y="1269877"/>
                      <a:pt x="756266" y="1183433"/>
                      <a:pt x="528738" y="1243583"/>
                    </a:cubicBezTo>
                    <a:cubicBezTo>
                      <a:pt x="301210" y="1303733"/>
                      <a:pt x="110087" y="1182460"/>
                      <a:pt x="0" y="1243583"/>
                    </a:cubicBezTo>
                    <a:cubicBezTo>
                      <a:pt x="-1952" y="1146584"/>
                      <a:pt x="21473" y="999141"/>
                      <a:pt x="0" y="829055"/>
                    </a:cubicBezTo>
                    <a:cubicBezTo>
                      <a:pt x="-21473" y="658969"/>
                      <a:pt x="22395" y="540881"/>
                      <a:pt x="0" y="439399"/>
                    </a:cubicBezTo>
                    <a:cubicBezTo>
                      <a:pt x="-22395" y="337917"/>
                      <a:pt x="7759" y="168144"/>
                      <a:pt x="0" y="0"/>
                    </a:cubicBezTo>
                    <a:close/>
                  </a:path>
                </a:pathLst>
              </a:custGeom>
              <a:noFill/>
              <a:ln w="57150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Crash-Restart-Rollback (CRR)</a:t>
                </a:r>
                <a:endParaRPr lang="en-US" sz="16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Failures</a:t>
                </a:r>
                <a:r>
                  <a:rPr lang="en-GB" sz="1600" dirty="0">
                    <a:solidFill>
                      <a:srgbClr val="7030A0"/>
                    </a:solidFill>
                    <a:latin typeface="Comic Sans MS" panose="030F0902030302020204" pitchFamily="66" charset="0"/>
                  </a:rPr>
                  <a:t>: Crash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</a:t>
                </a:r>
                <a:r>
                  <a:rPr lang="en-US" sz="1600" dirty="0">
                    <a:solidFill>
                      <a:srgbClr val="C00000"/>
                    </a:solidFill>
                    <a:latin typeface="Comic Sans MS" panose="030F0902030302020204" pitchFamily="66" charset="0"/>
                  </a:rPr>
                  <a:t>Rollback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D263B0-B3B5-0D2B-CED1-1F80219B0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98" y="1499617"/>
                <a:ext cx="3979750" cy="12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979750"/>
                          <a:gd name="connsiteY0" fmla="*/ 0 h 1243583"/>
                          <a:gd name="connsiteX1" fmla="*/ 528738 w 3979750"/>
                          <a:gd name="connsiteY1" fmla="*/ 0 h 1243583"/>
                          <a:gd name="connsiteX2" fmla="*/ 977881 w 3979750"/>
                          <a:gd name="connsiteY2" fmla="*/ 0 h 1243583"/>
                          <a:gd name="connsiteX3" fmla="*/ 1626012 w 3979750"/>
                          <a:gd name="connsiteY3" fmla="*/ 0 h 1243583"/>
                          <a:gd name="connsiteX4" fmla="*/ 2154750 w 3979750"/>
                          <a:gd name="connsiteY4" fmla="*/ 0 h 1243583"/>
                          <a:gd name="connsiteX5" fmla="*/ 2683489 w 3979750"/>
                          <a:gd name="connsiteY5" fmla="*/ 0 h 1243583"/>
                          <a:gd name="connsiteX6" fmla="*/ 3331619 w 3979750"/>
                          <a:gd name="connsiteY6" fmla="*/ 0 h 1243583"/>
                          <a:gd name="connsiteX7" fmla="*/ 3979750 w 3979750"/>
                          <a:gd name="connsiteY7" fmla="*/ 0 h 1243583"/>
                          <a:gd name="connsiteX8" fmla="*/ 3979750 w 3979750"/>
                          <a:gd name="connsiteY8" fmla="*/ 439399 h 1243583"/>
                          <a:gd name="connsiteX9" fmla="*/ 3979750 w 3979750"/>
                          <a:gd name="connsiteY9" fmla="*/ 829055 h 1243583"/>
                          <a:gd name="connsiteX10" fmla="*/ 3979750 w 3979750"/>
                          <a:gd name="connsiteY10" fmla="*/ 1243583 h 1243583"/>
                          <a:gd name="connsiteX11" fmla="*/ 3411214 w 3979750"/>
                          <a:gd name="connsiteY11" fmla="*/ 1243583 h 1243583"/>
                          <a:gd name="connsiteX12" fmla="*/ 2882476 w 3979750"/>
                          <a:gd name="connsiteY12" fmla="*/ 1243583 h 1243583"/>
                          <a:gd name="connsiteX13" fmla="*/ 2234345 w 3979750"/>
                          <a:gd name="connsiteY13" fmla="*/ 1243583 h 1243583"/>
                          <a:gd name="connsiteX14" fmla="*/ 1586215 w 3979750"/>
                          <a:gd name="connsiteY14" fmla="*/ 1243583 h 1243583"/>
                          <a:gd name="connsiteX15" fmla="*/ 1097274 w 3979750"/>
                          <a:gd name="connsiteY15" fmla="*/ 1243583 h 1243583"/>
                          <a:gd name="connsiteX16" fmla="*/ 528738 w 3979750"/>
                          <a:gd name="connsiteY16" fmla="*/ 1243583 h 1243583"/>
                          <a:gd name="connsiteX17" fmla="*/ 0 w 3979750"/>
                          <a:gd name="connsiteY17" fmla="*/ 1243583 h 1243583"/>
                          <a:gd name="connsiteX18" fmla="*/ 0 w 3979750"/>
                          <a:gd name="connsiteY18" fmla="*/ 829055 h 1243583"/>
                          <a:gd name="connsiteX19" fmla="*/ 0 w 3979750"/>
                          <a:gd name="connsiteY19" fmla="*/ 439399 h 1243583"/>
                          <a:gd name="connsiteX20" fmla="*/ 0 w 3979750"/>
                          <a:gd name="connsiteY20" fmla="*/ 0 h 12435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3979750" h="1243583" extrusionOk="0">
                            <a:moveTo>
                              <a:pt x="0" y="0"/>
                            </a:moveTo>
                            <a:cubicBezTo>
                              <a:pt x="130594" y="-53298"/>
                              <a:pt x="344656" y="3633"/>
                              <a:pt x="528738" y="0"/>
                            </a:cubicBezTo>
                            <a:cubicBezTo>
                              <a:pt x="712820" y="-3633"/>
                              <a:pt x="775508" y="37976"/>
                              <a:pt x="977881" y="0"/>
                            </a:cubicBezTo>
                            <a:cubicBezTo>
                              <a:pt x="1180254" y="-37976"/>
                              <a:pt x="1383305" y="50243"/>
                              <a:pt x="1626012" y="0"/>
                            </a:cubicBezTo>
                            <a:cubicBezTo>
                              <a:pt x="1868719" y="-50243"/>
                              <a:pt x="2040662" y="30455"/>
                              <a:pt x="2154750" y="0"/>
                            </a:cubicBezTo>
                            <a:cubicBezTo>
                              <a:pt x="2268838" y="-30455"/>
                              <a:pt x="2425074" y="29078"/>
                              <a:pt x="2683489" y="0"/>
                            </a:cubicBezTo>
                            <a:cubicBezTo>
                              <a:pt x="2941904" y="-29078"/>
                              <a:pt x="3117762" y="3831"/>
                              <a:pt x="3331619" y="0"/>
                            </a:cubicBezTo>
                            <a:cubicBezTo>
                              <a:pt x="3545476" y="-3831"/>
                              <a:pt x="3737474" y="20965"/>
                              <a:pt x="3979750" y="0"/>
                            </a:cubicBezTo>
                            <a:cubicBezTo>
                              <a:pt x="3980130" y="186578"/>
                              <a:pt x="3942083" y="322784"/>
                              <a:pt x="3979750" y="439399"/>
                            </a:cubicBezTo>
                            <a:cubicBezTo>
                              <a:pt x="4017417" y="556014"/>
                              <a:pt x="3952912" y="660745"/>
                              <a:pt x="3979750" y="829055"/>
                            </a:cubicBezTo>
                            <a:cubicBezTo>
                              <a:pt x="4006588" y="997365"/>
                              <a:pt x="3961111" y="1108922"/>
                              <a:pt x="3979750" y="1243583"/>
                            </a:cubicBezTo>
                            <a:cubicBezTo>
                              <a:pt x="3824873" y="1243629"/>
                              <a:pt x="3550715" y="1206128"/>
                              <a:pt x="3411214" y="1243583"/>
                            </a:cubicBezTo>
                            <a:cubicBezTo>
                              <a:pt x="3271713" y="1281038"/>
                              <a:pt x="3038179" y="1224019"/>
                              <a:pt x="2882476" y="1243583"/>
                            </a:cubicBezTo>
                            <a:cubicBezTo>
                              <a:pt x="2726773" y="1263147"/>
                              <a:pt x="2500379" y="1230249"/>
                              <a:pt x="2234345" y="1243583"/>
                            </a:cubicBezTo>
                            <a:cubicBezTo>
                              <a:pt x="1968311" y="1256917"/>
                              <a:pt x="1827501" y="1198784"/>
                              <a:pt x="1586215" y="1243583"/>
                            </a:cubicBezTo>
                            <a:cubicBezTo>
                              <a:pt x="1344929" y="1288382"/>
                              <a:pt x="1284856" y="1217289"/>
                              <a:pt x="1097274" y="1243583"/>
                            </a:cubicBezTo>
                            <a:cubicBezTo>
                              <a:pt x="909692" y="1269877"/>
                              <a:pt x="756266" y="1183433"/>
                              <a:pt x="528738" y="1243583"/>
                            </a:cubicBezTo>
                            <a:cubicBezTo>
                              <a:pt x="301210" y="1303733"/>
                              <a:pt x="110087" y="1182460"/>
                              <a:pt x="0" y="1243583"/>
                            </a:cubicBezTo>
                            <a:cubicBezTo>
                              <a:pt x="-1952" y="1146584"/>
                              <a:pt x="21473" y="999141"/>
                              <a:pt x="0" y="829055"/>
                            </a:cubicBezTo>
                            <a:cubicBezTo>
                              <a:pt x="-21473" y="658969"/>
                              <a:pt x="22395" y="540881"/>
                              <a:pt x="0" y="439399"/>
                            </a:cubicBezTo>
                            <a:cubicBezTo>
                              <a:pt x="-22395" y="337917"/>
                              <a:pt x="7759" y="16814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C9A7033-D76D-C5A9-0D7E-F48BB02E80B6}"/>
              </a:ext>
            </a:extLst>
          </p:cNvPr>
          <p:cNvSpPr/>
          <p:nvPr/>
        </p:nvSpPr>
        <p:spPr>
          <a:xfrm>
            <a:off x="2877312" y="3155081"/>
            <a:ext cx="3096768" cy="1185271"/>
          </a:xfrm>
          <a:custGeom>
            <a:avLst/>
            <a:gdLst>
              <a:gd name="csX0" fmla="*/ 0 w 3096768"/>
              <a:gd name="csY0" fmla="*/ 0 h 1185271"/>
              <a:gd name="csX1" fmla="*/ 485160 w 3096768"/>
              <a:gd name="csY1" fmla="*/ 0 h 1185271"/>
              <a:gd name="csX2" fmla="*/ 908385 w 3096768"/>
              <a:gd name="csY2" fmla="*/ 0 h 1185271"/>
              <a:gd name="csX3" fmla="*/ 1486449 w 3096768"/>
              <a:gd name="csY3" fmla="*/ 0 h 1185271"/>
              <a:gd name="csX4" fmla="*/ 1971609 w 3096768"/>
              <a:gd name="csY4" fmla="*/ 0 h 1185271"/>
              <a:gd name="csX5" fmla="*/ 2456769 w 3096768"/>
              <a:gd name="csY5" fmla="*/ 0 h 1185271"/>
              <a:gd name="csX6" fmla="*/ 3096768 w 3096768"/>
              <a:gd name="csY6" fmla="*/ 0 h 1185271"/>
              <a:gd name="csX7" fmla="*/ 3096768 w 3096768"/>
              <a:gd name="csY7" fmla="*/ 568930 h 1185271"/>
              <a:gd name="csX8" fmla="*/ 3096768 w 3096768"/>
              <a:gd name="csY8" fmla="*/ 1185271 h 1185271"/>
              <a:gd name="csX9" fmla="*/ 2642575 w 3096768"/>
              <a:gd name="csY9" fmla="*/ 1185271 h 1185271"/>
              <a:gd name="csX10" fmla="*/ 2126447 w 3096768"/>
              <a:gd name="csY10" fmla="*/ 1185271 h 1185271"/>
              <a:gd name="csX11" fmla="*/ 1610319 w 3096768"/>
              <a:gd name="csY11" fmla="*/ 1185271 h 1185271"/>
              <a:gd name="csX12" fmla="*/ 1125159 w 3096768"/>
              <a:gd name="csY12" fmla="*/ 1185271 h 1185271"/>
              <a:gd name="csX13" fmla="*/ 547096 w 3096768"/>
              <a:gd name="csY13" fmla="*/ 1185271 h 1185271"/>
              <a:gd name="csX14" fmla="*/ 0 w 3096768"/>
              <a:gd name="csY14" fmla="*/ 1185271 h 1185271"/>
              <a:gd name="csX15" fmla="*/ 0 w 3096768"/>
              <a:gd name="csY15" fmla="*/ 616341 h 1185271"/>
              <a:gd name="csX16" fmla="*/ 0 w 3096768"/>
              <a:gd name="csY16" fmla="*/ 0 h 1185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96768" h="1185271" extrusionOk="0">
                <a:moveTo>
                  <a:pt x="0" y="0"/>
                </a:moveTo>
                <a:cubicBezTo>
                  <a:pt x="199649" y="-14931"/>
                  <a:pt x="374810" y="26613"/>
                  <a:pt x="485160" y="0"/>
                </a:cubicBezTo>
                <a:cubicBezTo>
                  <a:pt x="595510" y="-26613"/>
                  <a:pt x="811399" y="32909"/>
                  <a:pt x="908385" y="0"/>
                </a:cubicBezTo>
                <a:cubicBezTo>
                  <a:pt x="1005371" y="-32909"/>
                  <a:pt x="1306132" y="36794"/>
                  <a:pt x="1486449" y="0"/>
                </a:cubicBezTo>
                <a:cubicBezTo>
                  <a:pt x="1666766" y="-36794"/>
                  <a:pt x="1862243" y="35699"/>
                  <a:pt x="1971609" y="0"/>
                </a:cubicBezTo>
                <a:cubicBezTo>
                  <a:pt x="2080975" y="-35699"/>
                  <a:pt x="2274376" y="20790"/>
                  <a:pt x="2456769" y="0"/>
                </a:cubicBezTo>
                <a:cubicBezTo>
                  <a:pt x="2639162" y="-20790"/>
                  <a:pt x="2948786" y="20565"/>
                  <a:pt x="3096768" y="0"/>
                </a:cubicBezTo>
                <a:cubicBezTo>
                  <a:pt x="3138299" y="154667"/>
                  <a:pt x="3084945" y="319064"/>
                  <a:pt x="3096768" y="568930"/>
                </a:cubicBezTo>
                <a:cubicBezTo>
                  <a:pt x="3108591" y="818796"/>
                  <a:pt x="3094107" y="887545"/>
                  <a:pt x="3096768" y="1185271"/>
                </a:cubicBezTo>
                <a:cubicBezTo>
                  <a:pt x="2995031" y="1226306"/>
                  <a:pt x="2764377" y="1184985"/>
                  <a:pt x="2642575" y="1185271"/>
                </a:cubicBezTo>
                <a:cubicBezTo>
                  <a:pt x="2520773" y="1185557"/>
                  <a:pt x="2299884" y="1153128"/>
                  <a:pt x="2126447" y="1185271"/>
                </a:cubicBezTo>
                <a:cubicBezTo>
                  <a:pt x="1953010" y="1217414"/>
                  <a:pt x="1802845" y="1127563"/>
                  <a:pt x="1610319" y="1185271"/>
                </a:cubicBezTo>
                <a:cubicBezTo>
                  <a:pt x="1417793" y="1242979"/>
                  <a:pt x="1285525" y="1176458"/>
                  <a:pt x="1125159" y="1185271"/>
                </a:cubicBezTo>
                <a:cubicBezTo>
                  <a:pt x="964793" y="1194084"/>
                  <a:pt x="732373" y="1178698"/>
                  <a:pt x="547096" y="1185271"/>
                </a:cubicBezTo>
                <a:cubicBezTo>
                  <a:pt x="361819" y="1191844"/>
                  <a:pt x="131923" y="1169723"/>
                  <a:pt x="0" y="1185271"/>
                </a:cubicBezTo>
                <a:cubicBezTo>
                  <a:pt x="-43190" y="1048040"/>
                  <a:pt x="36971" y="830447"/>
                  <a:pt x="0" y="616341"/>
                </a:cubicBezTo>
                <a:cubicBezTo>
                  <a:pt x="-36971" y="402235"/>
                  <a:pt x="13290" y="155864"/>
                  <a:pt x="0" y="0"/>
                </a:cubicBezTo>
                <a:close/>
              </a:path>
            </a:pathLst>
          </a:custGeom>
          <a:noFill/>
          <a:ln w="5715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Tight Bounds for Registers 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Resilience, Time Complexity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Persistent Storage Usage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0C2DC8-A4BE-AEAE-28B2-2DC32D85E3BF}"/>
              </a:ext>
            </a:extLst>
          </p:cNvPr>
          <p:cNvSpPr/>
          <p:nvPr/>
        </p:nvSpPr>
        <p:spPr>
          <a:xfrm>
            <a:off x="4950890" y="1499617"/>
            <a:ext cx="3979750" cy="1207007"/>
          </a:xfrm>
          <a:custGeom>
            <a:avLst/>
            <a:gdLst>
              <a:gd name="csX0" fmla="*/ 0 w 3979750"/>
              <a:gd name="csY0" fmla="*/ 0 h 1207007"/>
              <a:gd name="csX1" fmla="*/ 528738 w 3979750"/>
              <a:gd name="csY1" fmla="*/ 0 h 1207007"/>
              <a:gd name="csX2" fmla="*/ 977881 w 3979750"/>
              <a:gd name="csY2" fmla="*/ 0 h 1207007"/>
              <a:gd name="csX3" fmla="*/ 1626012 w 3979750"/>
              <a:gd name="csY3" fmla="*/ 0 h 1207007"/>
              <a:gd name="csX4" fmla="*/ 2154750 w 3979750"/>
              <a:gd name="csY4" fmla="*/ 0 h 1207007"/>
              <a:gd name="csX5" fmla="*/ 2683489 w 3979750"/>
              <a:gd name="csY5" fmla="*/ 0 h 1207007"/>
              <a:gd name="csX6" fmla="*/ 3331619 w 3979750"/>
              <a:gd name="csY6" fmla="*/ 0 h 1207007"/>
              <a:gd name="csX7" fmla="*/ 3979750 w 3979750"/>
              <a:gd name="csY7" fmla="*/ 0 h 1207007"/>
              <a:gd name="csX8" fmla="*/ 3979750 w 3979750"/>
              <a:gd name="csY8" fmla="*/ 426476 h 1207007"/>
              <a:gd name="csX9" fmla="*/ 3979750 w 3979750"/>
              <a:gd name="csY9" fmla="*/ 804671 h 1207007"/>
              <a:gd name="csX10" fmla="*/ 3979750 w 3979750"/>
              <a:gd name="csY10" fmla="*/ 1207007 h 1207007"/>
              <a:gd name="csX11" fmla="*/ 3411214 w 3979750"/>
              <a:gd name="csY11" fmla="*/ 1207007 h 1207007"/>
              <a:gd name="csX12" fmla="*/ 2882476 w 3979750"/>
              <a:gd name="csY12" fmla="*/ 1207007 h 1207007"/>
              <a:gd name="csX13" fmla="*/ 2234345 w 3979750"/>
              <a:gd name="csY13" fmla="*/ 1207007 h 1207007"/>
              <a:gd name="csX14" fmla="*/ 1586215 w 3979750"/>
              <a:gd name="csY14" fmla="*/ 1207007 h 1207007"/>
              <a:gd name="csX15" fmla="*/ 1097274 w 3979750"/>
              <a:gd name="csY15" fmla="*/ 1207007 h 1207007"/>
              <a:gd name="csX16" fmla="*/ 528738 w 3979750"/>
              <a:gd name="csY16" fmla="*/ 1207007 h 1207007"/>
              <a:gd name="csX17" fmla="*/ 0 w 3979750"/>
              <a:gd name="csY17" fmla="*/ 1207007 h 1207007"/>
              <a:gd name="csX18" fmla="*/ 0 w 3979750"/>
              <a:gd name="csY18" fmla="*/ 804671 h 1207007"/>
              <a:gd name="csX19" fmla="*/ 0 w 3979750"/>
              <a:gd name="csY19" fmla="*/ 426476 h 1207007"/>
              <a:gd name="csX20" fmla="*/ 0 w 3979750"/>
              <a:gd name="csY20" fmla="*/ 0 h 120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979750" h="1207007" extrusionOk="0">
                <a:moveTo>
                  <a:pt x="0" y="0"/>
                </a:moveTo>
                <a:cubicBezTo>
                  <a:pt x="130594" y="-53298"/>
                  <a:pt x="344656" y="3633"/>
                  <a:pt x="528738" y="0"/>
                </a:cubicBezTo>
                <a:cubicBezTo>
                  <a:pt x="712820" y="-3633"/>
                  <a:pt x="775508" y="37976"/>
                  <a:pt x="977881" y="0"/>
                </a:cubicBezTo>
                <a:cubicBezTo>
                  <a:pt x="1180254" y="-37976"/>
                  <a:pt x="1383305" y="50243"/>
                  <a:pt x="1626012" y="0"/>
                </a:cubicBezTo>
                <a:cubicBezTo>
                  <a:pt x="1868719" y="-50243"/>
                  <a:pt x="2040662" y="30455"/>
                  <a:pt x="2154750" y="0"/>
                </a:cubicBezTo>
                <a:cubicBezTo>
                  <a:pt x="2268838" y="-30455"/>
                  <a:pt x="2425074" y="29078"/>
                  <a:pt x="2683489" y="0"/>
                </a:cubicBezTo>
                <a:cubicBezTo>
                  <a:pt x="2941904" y="-29078"/>
                  <a:pt x="3117762" y="3831"/>
                  <a:pt x="3331619" y="0"/>
                </a:cubicBezTo>
                <a:cubicBezTo>
                  <a:pt x="3545476" y="-3831"/>
                  <a:pt x="3737474" y="20965"/>
                  <a:pt x="3979750" y="0"/>
                </a:cubicBezTo>
                <a:cubicBezTo>
                  <a:pt x="4009639" y="121863"/>
                  <a:pt x="3942075" y="248994"/>
                  <a:pt x="3979750" y="426476"/>
                </a:cubicBezTo>
                <a:cubicBezTo>
                  <a:pt x="4017425" y="603958"/>
                  <a:pt x="3972782" y="615884"/>
                  <a:pt x="3979750" y="804671"/>
                </a:cubicBezTo>
                <a:cubicBezTo>
                  <a:pt x="3986718" y="993459"/>
                  <a:pt x="3931850" y="1103807"/>
                  <a:pt x="3979750" y="1207007"/>
                </a:cubicBezTo>
                <a:cubicBezTo>
                  <a:pt x="3824873" y="1207053"/>
                  <a:pt x="3550715" y="1169552"/>
                  <a:pt x="3411214" y="1207007"/>
                </a:cubicBezTo>
                <a:cubicBezTo>
                  <a:pt x="3271713" y="1244462"/>
                  <a:pt x="3038179" y="1187443"/>
                  <a:pt x="2882476" y="1207007"/>
                </a:cubicBezTo>
                <a:cubicBezTo>
                  <a:pt x="2726773" y="1226571"/>
                  <a:pt x="2500379" y="1193673"/>
                  <a:pt x="2234345" y="1207007"/>
                </a:cubicBezTo>
                <a:cubicBezTo>
                  <a:pt x="1968311" y="1220341"/>
                  <a:pt x="1827501" y="1162208"/>
                  <a:pt x="1586215" y="1207007"/>
                </a:cubicBezTo>
                <a:cubicBezTo>
                  <a:pt x="1344929" y="1251806"/>
                  <a:pt x="1284856" y="1180713"/>
                  <a:pt x="1097274" y="1207007"/>
                </a:cubicBezTo>
                <a:cubicBezTo>
                  <a:pt x="909692" y="1233301"/>
                  <a:pt x="756266" y="1146857"/>
                  <a:pt x="528738" y="1207007"/>
                </a:cubicBezTo>
                <a:cubicBezTo>
                  <a:pt x="301210" y="1267157"/>
                  <a:pt x="110087" y="1145884"/>
                  <a:pt x="0" y="1207007"/>
                </a:cubicBezTo>
                <a:cubicBezTo>
                  <a:pt x="-47306" y="1054566"/>
                  <a:pt x="34641" y="896198"/>
                  <a:pt x="0" y="804671"/>
                </a:cubicBezTo>
                <a:cubicBezTo>
                  <a:pt x="-34641" y="713144"/>
                  <a:pt x="9836" y="511631"/>
                  <a:pt x="0" y="426476"/>
                </a:cubicBezTo>
                <a:cubicBezTo>
                  <a:pt x="-9836" y="341321"/>
                  <a:pt x="19801" y="92380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Dynamic CRR (CRR-D)</a:t>
            </a:r>
            <a:endParaRPr lang="en-US" sz="1600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Failures: </a:t>
            </a:r>
            <a:r>
              <a:rPr lang="en-GB" sz="1600" dirty="0">
                <a:solidFill>
                  <a:srgbClr val="7030A0"/>
                </a:solidFill>
                <a:latin typeface="Comic Sans MS" panose="030F0902030302020204" pitchFamily="66" charset="0"/>
              </a:rPr>
              <a:t>Crash</a:t>
            </a: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rgbClr val="7030A0"/>
                </a:solidFill>
                <a:latin typeface="Comic Sans MS" panose="030F0902030302020204" pitchFamily="66" charset="0"/>
              </a:rPr>
              <a:t>Every process can rollback </a:t>
            </a:r>
            <a:endParaRPr lang="en-US" sz="16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CCCB8A-E464-BED6-577F-AC7FAD7A3269}"/>
              </a:ext>
            </a:extLst>
          </p:cNvPr>
          <p:cNvCxnSpPr>
            <a:cxnSpLocks/>
          </p:cNvCxnSpPr>
          <p:nvPr/>
        </p:nvCxnSpPr>
        <p:spPr>
          <a:xfrm>
            <a:off x="3718560" y="2731008"/>
            <a:ext cx="0" cy="451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E83026-C078-607C-557B-D63295664289}"/>
              </a:ext>
            </a:extLst>
          </p:cNvPr>
          <p:cNvCxnSpPr>
            <a:cxnSpLocks/>
          </p:cNvCxnSpPr>
          <p:nvPr/>
        </p:nvCxnSpPr>
        <p:spPr>
          <a:xfrm>
            <a:off x="5376672" y="273100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DF5E553-DC3C-C93A-37B4-A3B524E67BE9}"/>
                  </a:ext>
                </a:extLst>
              </p:cNvPr>
              <p:cNvSpPr txBox="1"/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≺</m:t>
                      </m:r>
                    </m:oMath>
                  </m:oMathPara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DF5E553-DC3C-C93A-37B4-A3B524E67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81678C8-1FFE-EF5E-741D-5F9E5BE36792}"/>
              </a:ext>
            </a:extLst>
          </p:cNvPr>
          <p:cNvSpPr txBox="1"/>
          <p:nvPr/>
        </p:nvSpPr>
        <p:spPr>
          <a:xfrm>
            <a:off x="926592" y="90220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Static Failure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9B1F9-82E2-B8C9-8FF0-A384693E66FA}"/>
              </a:ext>
            </a:extLst>
          </p:cNvPr>
          <p:cNvSpPr txBox="1"/>
          <p:nvPr/>
        </p:nvSpPr>
        <p:spPr>
          <a:xfrm>
            <a:off x="5370576" y="902208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Dynamic Failure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7755E-9B1F-C345-505B-D33C77AC245E}"/>
              </a:ext>
            </a:extLst>
          </p:cNvPr>
          <p:cNvSpPr txBox="1"/>
          <p:nvPr/>
        </p:nvSpPr>
        <p:spPr>
          <a:xfrm>
            <a:off x="560832" y="3218688"/>
            <a:ext cx="1827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Crash Fault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Tolerance </a:t>
            </a:r>
            <a:b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</a:b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(CFT)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1BADB-4D4A-4AA3-9ABC-190E92818582}"/>
              </a:ext>
            </a:extLst>
          </p:cNvPr>
          <p:cNvSpPr txBox="1"/>
          <p:nvPr/>
        </p:nvSpPr>
        <p:spPr>
          <a:xfrm>
            <a:off x="6680684" y="3127248"/>
            <a:ext cx="1694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70C0"/>
                </a:solidFill>
                <a:latin typeface="Comic Sans MS" panose="030F0902030302020204" pitchFamily="66" charset="0"/>
              </a:rPr>
              <a:t>Byz</a:t>
            </a: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 Fault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Tolerance </a:t>
            </a:r>
            <a:b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</a:br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(BFT)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E4C505-5743-A564-74D5-414E627281CF}"/>
                  </a:ext>
                </a:extLst>
              </p:cNvPr>
              <p:cNvSpPr txBox="1"/>
              <p:nvPr/>
            </p:nvSpPr>
            <p:spPr>
              <a:xfrm>
                <a:off x="2182368" y="3438144"/>
                <a:ext cx="6511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E4C505-5743-A564-74D5-414E62728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68" y="3438144"/>
                <a:ext cx="651139" cy="646331"/>
              </a:xfrm>
              <a:prstGeom prst="rect">
                <a:avLst/>
              </a:prstGeom>
              <a:blipFill>
                <a:blip r:embed="rId5"/>
                <a:stretch>
                  <a:fillRect l="-1887" b="-7692"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1BD145-E432-0BEB-92E7-BD4ACBC33F5B}"/>
                  </a:ext>
                </a:extLst>
              </p:cNvPr>
              <p:cNvSpPr txBox="1"/>
              <p:nvPr/>
            </p:nvSpPr>
            <p:spPr>
              <a:xfrm>
                <a:off x="6077712" y="3419856"/>
                <a:ext cx="6511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1BD145-E432-0BEB-92E7-BD4ACBC33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12" y="3419856"/>
                <a:ext cx="651139" cy="646331"/>
              </a:xfrm>
              <a:prstGeom prst="rect">
                <a:avLst/>
              </a:prstGeom>
              <a:blipFill>
                <a:blip r:embed="rId6"/>
                <a:stretch>
                  <a:fillRect l="-1923" r="-1923" b="-5769"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11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462B2-9A55-D4DA-79CC-92E02170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CF75-9EC0-1E32-DDDC-471FBF3D7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0" y="103649"/>
            <a:ext cx="749118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Static Failure Models: </a:t>
            </a:r>
            <a:r>
              <a:rPr lang="en-US" dirty="0">
                <a:latin typeface="Comic Sans MS" panose="030F0902030302020204" pitchFamily="66" charset="0"/>
              </a:rPr>
              <a:t>CRR(k, r, 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86E0E-1BB4-0FFB-57C7-6244E97827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F47155-0C36-AC88-DDA5-F0EE9EB796D5}"/>
                  </a:ext>
                </a:extLst>
              </p:cNvPr>
              <p:cNvSpPr/>
              <p:nvPr/>
            </p:nvSpPr>
            <p:spPr>
              <a:xfrm>
                <a:off x="214298" y="1499617"/>
                <a:ext cx="3979750" cy="1243583"/>
              </a:xfrm>
              <a:custGeom>
                <a:avLst/>
                <a:gdLst>
                  <a:gd name="csX0" fmla="*/ 0 w 3979750"/>
                  <a:gd name="csY0" fmla="*/ 0 h 1243583"/>
                  <a:gd name="csX1" fmla="*/ 528738 w 3979750"/>
                  <a:gd name="csY1" fmla="*/ 0 h 1243583"/>
                  <a:gd name="csX2" fmla="*/ 977881 w 3979750"/>
                  <a:gd name="csY2" fmla="*/ 0 h 1243583"/>
                  <a:gd name="csX3" fmla="*/ 1626012 w 3979750"/>
                  <a:gd name="csY3" fmla="*/ 0 h 1243583"/>
                  <a:gd name="csX4" fmla="*/ 2154750 w 3979750"/>
                  <a:gd name="csY4" fmla="*/ 0 h 1243583"/>
                  <a:gd name="csX5" fmla="*/ 2683489 w 3979750"/>
                  <a:gd name="csY5" fmla="*/ 0 h 1243583"/>
                  <a:gd name="csX6" fmla="*/ 3331619 w 3979750"/>
                  <a:gd name="csY6" fmla="*/ 0 h 1243583"/>
                  <a:gd name="csX7" fmla="*/ 3979750 w 3979750"/>
                  <a:gd name="csY7" fmla="*/ 0 h 1243583"/>
                  <a:gd name="csX8" fmla="*/ 3979750 w 3979750"/>
                  <a:gd name="csY8" fmla="*/ 439399 h 1243583"/>
                  <a:gd name="csX9" fmla="*/ 3979750 w 3979750"/>
                  <a:gd name="csY9" fmla="*/ 829055 h 1243583"/>
                  <a:gd name="csX10" fmla="*/ 3979750 w 3979750"/>
                  <a:gd name="csY10" fmla="*/ 1243583 h 1243583"/>
                  <a:gd name="csX11" fmla="*/ 3411214 w 3979750"/>
                  <a:gd name="csY11" fmla="*/ 1243583 h 1243583"/>
                  <a:gd name="csX12" fmla="*/ 2882476 w 3979750"/>
                  <a:gd name="csY12" fmla="*/ 1243583 h 1243583"/>
                  <a:gd name="csX13" fmla="*/ 2234345 w 3979750"/>
                  <a:gd name="csY13" fmla="*/ 1243583 h 1243583"/>
                  <a:gd name="csX14" fmla="*/ 1586215 w 3979750"/>
                  <a:gd name="csY14" fmla="*/ 1243583 h 1243583"/>
                  <a:gd name="csX15" fmla="*/ 1097274 w 3979750"/>
                  <a:gd name="csY15" fmla="*/ 1243583 h 1243583"/>
                  <a:gd name="csX16" fmla="*/ 528738 w 3979750"/>
                  <a:gd name="csY16" fmla="*/ 1243583 h 1243583"/>
                  <a:gd name="csX17" fmla="*/ 0 w 3979750"/>
                  <a:gd name="csY17" fmla="*/ 1243583 h 1243583"/>
                  <a:gd name="csX18" fmla="*/ 0 w 3979750"/>
                  <a:gd name="csY18" fmla="*/ 829055 h 1243583"/>
                  <a:gd name="csX19" fmla="*/ 0 w 3979750"/>
                  <a:gd name="csY19" fmla="*/ 439399 h 1243583"/>
                  <a:gd name="csX20" fmla="*/ 0 w 3979750"/>
                  <a:gd name="csY20" fmla="*/ 0 h 12435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79750" h="1243583" extrusionOk="0">
                    <a:moveTo>
                      <a:pt x="0" y="0"/>
                    </a:moveTo>
                    <a:cubicBezTo>
                      <a:pt x="130594" y="-53298"/>
                      <a:pt x="344656" y="3633"/>
                      <a:pt x="528738" y="0"/>
                    </a:cubicBezTo>
                    <a:cubicBezTo>
                      <a:pt x="712820" y="-3633"/>
                      <a:pt x="775508" y="37976"/>
                      <a:pt x="977881" y="0"/>
                    </a:cubicBezTo>
                    <a:cubicBezTo>
                      <a:pt x="1180254" y="-37976"/>
                      <a:pt x="1383305" y="50243"/>
                      <a:pt x="1626012" y="0"/>
                    </a:cubicBezTo>
                    <a:cubicBezTo>
                      <a:pt x="1868719" y="-50243"/>
                      <a:pt x="2040662" y="30455"/>
                      <a:pt x="2154750" y="0"/>
                    </a:cubicBezTo>
                    <a:cubicBezTo>
                      <a:pt x="2268838" y="-30455"/>
                      <a:pt x="2425074" y="29078"/>
                      <a:pt x="2683489" y="0"/>
                    </a:cubicBezTo>
                    <a:cubicBezTo>
                      <a:pt x="2941904" y="-29078"/>
                      <a:pt x="3117762" y="3831"/>
                      <a:pt x="3331619" y="0"/>
                    </a:cubicBezTo>
                    <a:cubicBezTo>
                      <a:pt x="3545476" y="-3831"/>
                      <a:pt x="3737474" y="20965"/>
                      <a:pt x="3979750" y="0"/>
                    </a:cubicBezTo>
                    <a:cubicBezTo>
                      <a:pt x="3980130" y="186578"/>
                      <a:pt x="3942083" y="322784"/>
                      <a:pt x="3979750" y="439399"/>
                    </a:cubicBezTo>
                    <a:cubicBezTo>
                      <a:pt x="4017417" y="556014"/>
                      <a:pt x="3952912" y="660745"/>
                      <a:pt x="3979750" y="829055"/>
                    </a:cubicBezTo>
                    <a:cubicBezTo>
                      <a:pt x="4006588" y="997365"/>
                      <a:pt x="3961111" y="1108922"/>
                      <a:pt x="3979750" y="1243583"/>
                    </a:cubicBezTo>
                    <a:cubicBezTo>
                      <a:pt x="3824873" y="1243629"/>
                      <a:pt x="3550715" y="1206128"/>
                      <a:pt x="3411214" y="1243583"/>
                    </a:cubicBezTo>
                    <a:cubicBezTo>
                      <a:pt x="3271713" y="1281038"/>
                      <a:pt x="3038179" y="1224019"/>
                      <a:pt x="2882476" y="1243583"/>
                    </a:cubicBezTo>
                    <a:cubicBezTo>
                      <a:pt x="2726773" y="1263147"/>
                      <a:pt x="2500379" y="1230249"/>
                      <a:pt x="2234345" y="1243583"/>
                    </a:cubicBezTo>
                    <a:cubicBezTo>
                      <a:pt x="1968311" y="1256917"/>
                      <a:pt x="1827501" y="1198784"/>
                      <a:pt x="1586215" y="1243583"/>
                    </a:cubicBezTo>
                    <a:cubicBezTo>
                      <a:pt x="1344929" y="1288382"/>
                      <a:pt x="1284856" y="1217289"/>
                      <a:pt x="1097274" y="1243583"/>
                    </a:cubicBezTo>
                    <a:cubicBezTo>
                      <a:pt x="909692" y="1269877"/>
                      <a:pt x="756266" y="1183433"/>
                      <a:pt x="528738" y="1243583"/>
                    </a:cubicBezTo>
                    <a:cubicBezTo>
                      <a:pt x="301210" y="1303733"/>
                      <a:pt x="110087" y="1182460"/>
                      <a:pt x="0" y="1243583"/>
                    </a:cubicBezTo>
                    <a:cubicBezTo>
                      <a:pt x="-1952" y="1146584"/>
                      <a:pt x="21473" y="999141"/>
                      <a:pt x="0" y="829055"/>
                    </a:cubicBezTo>
                    <a:cubicBezTo>
                      <a:pt x="-21473" y="658969"/>
                      <a:pt x="22395" y="540881"/>
                      <a:pt x="0" y="439399"/>
                    </a:cubicBezTo>
                    <a:cubicBezTo>
                      <a:pt x="-22395" y="337917"/>
                      <a:pt x="7759" y="168144"/>
                      <a:pt x="0" y="0"/>
                    </a:cubicBezTo>
                    <a:close/>
                  </a:path>
                </a:pathLst>
              </a:custGeom>
              <a:noFill/>
              <a:ln w="57150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Crash-Restart-Rollback (CRR)</a:t>
                </a:r>
                <a:endParaRPr lang="en-US" sz="16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Failures</a:t>
                </a:r>
                <a:r>
                  <a:rPr lang="en-GB" sz="1600" dirty="0">
                    <a:solidFill>
                      <a:srgbClr val="7030A0"/>
                    </a:solidFill>
                    <a:latin typeface="Comic Sans MS" panose="030F0902030302020204" pitchFamily="66" charset="0"/>
                  </a:rPr>
                  <a:t>: Crash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</a:t>
                </a:r>
                <a:r>
                  <a:rPr lang="en-US" sz="1600" dirty="0">
                    <a:solidFill>
                      <a:srgbClr val="C00000"/>
                    </a:solidFill>
                    <a:latin typeface="Comic Sans MS" panose="030F0902030302020204" pitchFamily="66" charset="0"/>
                  </a:rPr>
                  <a:t>Rollback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F47155-0C36-AC88-DDA5-F0EE9EB79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98" y="1499617"/>
                <a:ext cx="3979750" cy="12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979750"/>
                          <a:gd name="connsiteY0" fmla="*/ 0 h 1243583"/>
                          <a:gd name="connsiteX1" fmla="*/ 528738 w 3979750"/>
                          <a:gd name="connsiteY1" fmla="*/ 0 h 1243583"/>
                          <a:gd name="connsiteX2" fmla="*/ 977881 w 3979750"/>
                          <a:gd name="connsiteY2" fmla="*/ 0 h 1243583"/>
                          <a:gd name="connsiteX3" fmla="*/ 1626012 w 3979750"/>
                          <a:gd name="connsiteY3" fmla="*/ 0 h 1243583"/>
                          <a:gd name="connsiteX4" fmla="*/ 2154750 w 3979750"/>
                          <a:gd name="connsiteY4" fmla="*/ 0 h 1243583"/>
                          <a:gd name="connsiteX5" fmla="*/ 2683489 w 3979750"/>
                          <a:gd name="connsiteY5" fmla="*/ 0 h 1243583"/>
                          <a:gd name="connsiteX6" fmla="*/ 3331619 w 3979750"/>
                          <a:gd name="connsiteY6" fmla="*/ 0 h 1243583"/>
                          <a:gd name="connsiteX7" fmla="*/ 3979750 w 3979750"/>
                          <a:gd name="connsiteY7" fmla="*/ 0 h 1243583"/>
                          <a:gd name="connsiteX8" fmla="*/ 3979750 w 3979750"/>
                          <a:gd name="connsiteY8" fmla="*/ 439399 h 1243583"/>
                          <a:gd name="connsiteX9" fmla="*/ 3979750 w 3979750"/>
                          <a:gd name="connsiteY9" fmla="*/ 829055 h 1243583"/>
                          <a:gd name="connsiteX10" fmla="*/ 3979750 w 3979750"/>
                          <a:gd name="connsiteY10" fmla="*/ 1243583 h 1243583"/>
                          <a:gd name="connsiteX11" fmla="*/ 3411214 w 3979750"/>
                          <a:gd name="connsiteY11" fmla="*/ 1243583 h 1243583"/>
                          <a:gd name="connsiteX12" fmla="*/ 2882476 w 3979750"/>
                          <a:gd name="connsiteY12" fmla="*/ 1243583 h 1243583"/>
                          <a:gd name="connsiteX13" fmla="*/ 2234345 w 3979750"/>
                          <a:gd name="connsiteY13" fmla="*/ 1243583 h 1243583"/>
                          <a:gd name="connsiteX14" fmla="*/ 1586215 w 3979750"/>
                          <a:gd name="connsiteY14" fmla="*/ 1243583 h 1243583"/>
                          <a:gd name="connsiteX15" fmla="*/ 1097274 w 3979750"/>
                          <a:gd name="connsiteY15" fmla="*/ 1243583 h 1243583"/>
                          <a:gd name="connsiteX16" fmla="*/ 528738 w 3979750"/>
                          <a:gd name="connsiteY16" fmla="*/ 1243583 h 1243583"/>
                          <a:gd name="connsiteX17" fmla="*/ 0 w 3979750"/>
                          <a:gd name="connsiteY17" fmla="*/ 1243583 h 1243583"/>
                          <a:gd name="connsiteX18" fmla="*/ 0 w 3979750"/>
                          <a:gd name="connsiteY18" fmla="*/ 829055 h 1243583"/>
                          <a:gd name="connsiteX19" fmla="*/ 0 w 3979750"/>
                          <a:gd name="connsiteY19" fmla="*/ 439399 h 1243583"/>
                          <a:gd name="connsiteX20" fmla="*/ 0 w 3979750"/>
                          <a:gd name="connsiteY20" fmla="*/ 0 h 12435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3979750" h="1243583" extrusionOk="0">
                            <a:moveTo>
                              <a:pt x="0" y="0"/>
                            </a:moveTo>
                            <a:cubicBezTo>
                              <a:pt x="130594" y="-53298"/>
                              <a:pt x="344656" y="3633"/>
                              <a:pt x="528738" y="0"/>
                            </a:cubicBezTo>
                            <a:cubicBezTo>
                              <a:pt x="712820" y="-3633"/>
                              <a:pt x="775508" y="37976"/>
                              <a:pt x="977881" y="0"/>
                            </a:cubicBezTo>
                            <a:cubicBezTo>
                              <a:pt x="1180254" y="-37976"/>
                              <a:pt x="1383305" y="50243"/>
                              <a:pt x="1626012" y="0"/>
                            </a:cubicBezTo>
                            <a:cubicBezTo>
                              <a:pt x="1868719" y="-50243"/>
                              <a:pt x="2040662" y="30455"/>
                              <a:pt x="2154750" y="0"/>
                            </a:cubicBezTo>
                            <a:cubicBezTo>
                              <a:pt x="2268838" y="-30455"/>
                              <a:pt x="2425074" y="29078"/>
                              <a:pt x="2683489" y="0"/>
                            </a:cubicBezTo>
                            <a:cubicBezTo>
                              <a:pt x="2941904" y="-29078"/>
                              <a:pt x="3117762" y="3831"/>
                              <a:pt x="3331619" y="0"/>
                            </a:cubicBezTo>
                            <a:cubicBezTo>
                              <a:pt x="3545476" y="-3831"/>
                              <a:pt x="3737474" y="20965"/>
                              <a:pt x="3979750" y="0"/>
                            </a:cubicBezTo>
                            <a:cubicBezTo>
                              <a:pt x="3980130" y="186578"/>
                              <a:pt x="3942083" y="322784"/>
                              <a:pt x="3979750" y="439399"/>
                            </a:cubicBezTo>
                            <a:cubicBezTo>
                              <a:pt x="4017417" y="556014"/>
                              <a:pt x="3952912" y="660745"/>
                              <a:pt x="3979750" y="829055"/>
                            </a:cubicBezTo>
                            <a:cubicBezTo>
                              <a:pt x="4006588" y="997365"/>
                              <a:pt x="3961111" y="1108922"/>
                              <a:pt x="3979750" y="1243583"/>
                            </a:cubicBezTo>
                            <a:cubicBezTo>
                              <a:pt x="3824873" y="1243629"/>
                              <a:pt x="3550715" y="1206128"/>
                              <a:pt x="3411214" y="1243583"/>
                            </a:cubicBezTo>
                            <a:cubicBezTo>
                              <a:pt x="3271713" y="1281038"/>
                              <a:pt x="3038179" y="1224019"/>
                              <a:pt x="2882476" y="1243583"/>
                            </a:cubicBezTo>
                            <a:cubicBezTo>
                              <a:pt x="2726773" y="1263147"/>
                              <a:pt x="2500379" y="1230249"/>
                              <a:pt x="2234345" y="1243583"/>
                            </a:cubicBezTo>
                            <a:cubicBezTo>
                              <a:pt x="1968311" y="1256917"/>
                              <a:pt x="1827501" y="1198784"/>
                              <a:pt x="1586215" y="1243583"/>
                            </a:cubicBezTo>
                            <a:cubicBezTo>
                              <a:pt x="1344929" y="1288382"/>
                              <a:pt x="1284856" y="1217289"/>
                              <a:pt x="1097274" y="1243583"/>
                            </a:cubicBezTo>
                            <a:cubicBezTo>
                              <a:pt x="909692" y="1269877"/>
                              <a:pt x="756266" y="1183433"/>
                              <a:pt x="528738" y="1243583"/>
                            </a:cubicBezTo>
                            <a:cubicBezTo>
                              <a:pt x="301210" y="1303733"/>
                              <a:pt x="110087" y="1182460"/>
                              <a:pt x="0" y="1243583"/>
                            </a:cubicBezTo>
                            <a:cubicBezTo>
                              <a:pt x="-1952" y="1146584"/>
                              <a:pt x="21473" y="999141"/>
                              <a:pt x="0" y="829055"/>
                            </a:cubicBezTo>
                            <a:cubicBezTo>
                              <a:pt x="-21473" y="658969"/>
                              <a:pt x="22395" y="540881"/>
                              <a:pt x="0" y="439399"/>
                            </a:cubicBezTo>
                            <a:cubicBezTo>
                              <a:pt x="-22395" y="337917"/>
                              <a:pt x="7759" y="16814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A3DA4BF-F0E6-504F-EA2D-5ABF90E715FF}"/>
              </a:ext>
            </a:extLst>
          </p:cNvPr>
          <p:cNvSpPr/>
          <p:nvPr/>
        </p:nvSpPr>
        <p:spPr>
          <a:xfrm>
            <a:off x="573024" y="3191657"/>
            <a:ext cx="3096768" cy="1185271"/>
          </a:xfrm>
          <a:custGeom>
            <a:avLst/>
            <a:gdLst>
              <a:gd name="csX0" fmla="*/ 0 w 3096768"/>
              <a:gd name="csY0" fmla="*/ 0 h 1185271"/>
              <a:gd name="csX1" fmla="*/ 485160 w 3096768"/>
              <a:gd name="csY1" fmla="*/ 0 h 1185271"/>
              <a:gd name="csX2" fmla="*/ 908385 w 3096768"/>
              <a:gd name="csY2" fmla="*/ 0 h 1185271"/>
              <a:gd name="csX3" fmla="*/ 1486449 w 3096768"/>
              <a:gd name="csY3" fmla="*/ 0 h 1185271"/>
              <a:gd name="csX4" fmla="*/ 1971609 w 3096768"/>
              <a:gd name="csY4" fmla="*/ 0 h 1185271"/>
              <a:gd name="csX5" fmla="*/ 2456769 w 3096768"/>
              <a:gd name="csY5" fmla="*/ 0 h 1185271"/>
              <a:gd name="csX6" fmla="*/ 3096768 w 3096768"/>
              <a:gd name="csY6" fmla="*/ 0 h 1185271"/>
              <a:gd name="csX7" fmla="*/ 3096768 w 3096768"/>
              <a:gd name="csY7" fmla="*/ 568930 h 1185271"/>
              <a:gd name="csX8" fmla="*/ 3096768 w 3096768"/>
              <a:gd name="csY8" fmla="*/ 1185271 h 1185271"/>
              <a:gd name="csX9" fmla="*/ 2642575 w 3096768"/>
              <a:gd name="csY9" fmla="*/ 1185271 h 1185271"/>
              <a:gd name="csX10" fmla="*/ 2126447 w 3096768"/>
              <a:gd name="csY10" fmla="*/ 1185271 h 1185271"/>
              <a:gd name="csX11" fmla="*/ 1610319 w 3096768"/>
              <a:gd name="csY11" fmla="*/ 1185271 h 1185271"/>
              <a:gd name="csX12" fmla="*/ 1125159 w 3096768"/>
              <a:gd name="csY12" fmla="*/ 1185271 h 1185271"/>
              <a:gd name="csX13" fmla="*/ 547096 w 3096768"/>
              <a:gd name="csY13" fmla="*/ 1185271 h 1185271"/>
              <a:gd name="csX14" fmla="*/ 0 w 3096768"/>
              <a:gd name="csY14" fmla="*/ 1185271 h 1185271"/>
              <a:gd name="csX15" fmla="*/ 0 w 3096768"/>
              <a:gd name="csY15" fmla="*/ 616341 h 1185271"/>
              <a:gd name="csX16" fmla="*/ 0 w 3096768"/>
              <a:gd name="csY16" fmla="*/ 0 h 1185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96768" h="1185271" extrusionOk="0">
                <a:moveTo>
                  <a:pt x="0" y="0"/>
                </a:moveTo>
                <a:cubicBezTo>
                  <a:pt x="199649" y="-14931"/>
                  <a:pt x="374810" y="26613"/>
                  <a:pt x="485160" y="0"/>
                </a:cubicBezTo>
                <a:cubicBezTo>
                  <a:pt x="595510" y="-26613"/>
                  <a:pt x="811399" y="32909"/>
                  <a:pt x="908385" y="0"/>
                </a:cubicBezTo>
                <a:cubicBezTo>
                  <a:pt x="1005371" y="-32909"/>
                  <a:pt x="1306132" y="36794"/>
                  <a:pt x="1486449" y="0"/>
                </a:cubicBezTo>
                <a:cubicBezTo>
                  <a:pt x="1666766" y="-36794"/>
                  <a:pt x="1862243" y="35699"/>
                  <a:pt x="1971609" y="0"/>
                </a:cubicBezTo>
                <a:cubicBezTo>
                  <a:pt x="2080975" y="-35699"/>
                  <a:pt x="2274376" y="20790"/>
                  <a:pt x="2456769" y="0"/>
                </a:cubicBezTo>
                <a:cubicBezTo>
                  <a:pt x="2639162" y="-20790"/>
                  <a:pt x="2948786" y="20565"/>
                  <a:pt x="3096768" y="0"/>
                </a:cubicBezTo>
                <a:cubicBezTo>
                  <a:pt x="3138299" y="154667"/>
                  <a:pt x="3084945" y="319064"/>
                  <a:pt x="3096768" y="568930"/>
                </a:cubicBezTo>
                <a:cubicBezTo>
                  <a:pt x="3108591" y="818796"/>
                  <a:pt x="3094107" y="887545"/>
                  <a:pt x="3096768" y="1185271"/>
                </a:cubicBezTo>
                <a:cubicBezTo>
                  <a:pt x="2995031" y="1226306"/>
                  <a:pt x="2764377" y="1184985"/>
                  <a:pt x="2642575" y="1185271"/>
                </a:cubicBezTo>
                <a:cubicBezTo>
                  <a:pt x="2520773" y="1185557"/>
                  <a:pt x="2299884" y="1153128"/>
                  <a:pt x="2126447" y="1185271"/>
                </a:cubicBezTo>
                <a:cubicBezTo>
                  <a:pt x="1953010" y="1217414"/>
                  <a:pt x="1802845" y="1127563"/>
                  <a:pt x="1610319" y="1185271"/>
                </a:cubicBezTo>
                <a:cubicBezTo>
                  <a:pt x="1417793" y="1242979"/>
                  <a:pt x="1285525" y="1176458"/>
                  <a:pt x="1125159" y="1185271"/>
                </a:cubicBezTo>
                <a:cubicBezTo>
                  <a:pt x="964793" y="1194084"/>
                  <a:pt x="732373" y="1178698"/>
                  <a:pt x="547096" y="1185271"/>
                </a:cubicBezTo>
                <a:cubicBezTo>
                  <a:pt x="361819" y="1191844"/>
                  <a:pt x="131923" y="1169723"/>
                  <a:pt x="0" y="1185271"/>
                </a:cubicBezTo>
                <a:cubicBezTo>
                  <a:pt x="-43190" y="1048040"/>
                  <a:pt x="36971" y="830447"/>
                  <a:pt x="0" y="616341"/>
                </a:cubicBezTo>
                <a:cubicBezTo>
                  <a:pt x="-36971" y="402235"/>
                  <a:pt x="13290" y="155864"/>
                  <a:pt x="0" y="0"/>
                </a:cubicBezTo>
                <a:close/>
              </a:path>
            </a:pathLst>
          </a:custGeom>
          <a:noFill/>
          <a:ln w="5715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Tight Bounds for Registers 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Resilience, Time Complexity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Persistent Storage Usage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1D2123-CDFB-EB6A-4230-B4A03EB87EAD}"/>
              </a:ext>
            </a:extLst>
          </p:cNvPr>
          <p:cNvCxnSpPr>
            <a:cxnSpLocks/>
          </p:cNvCxnSpPr>
          <p:nvPr/>
        </p:nvCxnSpPr>
        <p:spPr>
          <a:xfrm>
            <a:off x="1414272" y="2767584"/>
            <a:ext cx="0" cy="451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DA118A-5E6A-8BAA-607A-82D6F7F4286F}"/>
              </a:ext>
            </a:extLst>
          </p:cNvPr>
          <p:cNvCxnSpPr>
            <a:cxnSpLocks/>
          </p:cNvCxnSpPr>
          <p:nvPr/>
        </p:nvCxnSpPr>
        <p:spPr>
          <a:xfrm>
            <a:off x="3072384" y="2767584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AC1E7B-1693-55DE-0070-DDE1D3FE9367}"/>
              </a:ext>
            </a:extLst>
          </p:cNvPr>
          <p:cNvSpPr txBox="1"/>
          <p:nvPr/>
        </p:nvSpPr>
        <p:spPr>
          <a:xfrm>
            <a:off x="926592" y="90220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Static Failure Models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156828-7048-B5C3-FAB4-9FCB012609AB}"/>
              </a:ext>
            </a:extLst>
          </p:cNvPr>
          <p:cNvSpPr/>
          <p:nvPr/>
        </p:nvSpPr>
        <p:spPr>
          <a:xfrm>
            <a:off x="5096256" y="2255520"/>
            <a:ext cx="3657600" cy="20116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BCA48D-300A-D0E1-C66D-AFA807F7993F}"/>
              </a:ext>
            </a:extLst>
          </p:cNvPr>
          <p:cNvSpPr/>
          <p:nvPr/>
        </p:nvSpPr>
        <p:spPr>
          <a:xfrm>
            <a:off x="5407152" y="2554223"/>
            <a:ext cx="1956816" cy="1502441"/>
          </a:xfrm>
          <a:prstGeom prst="ellipse">
            <a:avLst/>
          </a:prstGeom>
          <a:pattFill prst="ltVert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21C2A5-C586-72ED-BD9D-2ED2BBA2FB97}"/>
              </a:ext>
            </a:extLst>
          </p:cNvPr>
          <p:cNvSpPr/>
          <p:nvPr/>
        </p:nvSpPr>
        <p:spPr>
          <a:xfrm>
            <a:off x="5596128" y="2779776"/>
            <a:ext cx="865632" cy="805564"/>
          </a:xfrm>
          <a:prstGeom prst="ellipse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257D0F-EBC5-4528-6C15-16CF3CE8BCD5}"/>
                  </a:ext>
                </a:extLst>
              </p:cNvPr>
              <p:cNvSpPr txBox="1"/>
              <p:nvPr/>
            </p:nvSpPr>
            <p:spPr>
              <a:xfrm>
                <a:off x="6358674" y="3291840"/>
                <a:ext cx="8704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257D0F-EBC5-4528-6C15-16CF3CE8B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74" y="3291840"/>
                <a:ext cx="870430" cy="523220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562969-A78B-DC4B-7AA8-6BFB1248CE03}"/>
                  </a:ext>
                </a:extLst>
              </p:cNvPr>
              <p:cNvSpPr txBox="1"/>
              <p:nvPr/>
            </p:nvSpPr>
            <p:spPr>
              <a:xfrm>
                <a:off x="5602224" y="2907792"/>
                <a:ext cx="840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18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562969-A78B-DC4B-7AA8-6BFB1248C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224" y="2907792"/>
                <a:ext cx="840551" cy="523220"/>
              </a:xfrm>
              <a:prstGeom prst="rect">
                <a:avLst/>
              </a:prstGeom>
              <a:blipFill>
                <a:blip r:embed="rId5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B99313C-99C6-9621-BCEE-AF7907EFF73A}"/>
                  </a:ext>
                </a:extLst>
              </p:cNvPr>
              <p:cNvSpPr/>
              <p:nvPr/>
            </p:nvSpPr>
            <p:spPr>
              <a:xfrm>
                <a:off x="7565136" y="2743199"/>
                <a:ext cx="944880" cy="811957"/>
              </a:xfrm>
              <a:prstGeom prst="ellipse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B99313C-99C6-9621-BCEE-AF7907EFF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36" y="2743199"/>
                <a:ext cx="944880" cy="81195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4E8EEAB-3DB6-17E4-A674-E6F267DEBA71}"/>
              </a:ext>
            </a:extLst>
          </p:cNvPr>
          <p:cNvSpPr txBox="1"/>
          <p:nvPr/>
        </p:nvSpPr>
        <p:spPr>
          <a:xfrm>
            <a:off x="5800726" y="4358640"/>
            <a:ext cx="255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omic Sans MS" panose="030F0902030302020204" pitchFamily="66" charset="0"/>
              </a:rPr>
              <a:t>|Processes| =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Line Callout 1 29">
                <a:extLst>
                  <a:ext uri="{FF2B5EF4-FFF2-40B4-BE49-F238E27FC236}">
                    <a16:creationId xmlns:a16="http://schemas.microsoft.com/office/drawing/2014/main" id="{5AA281D1-B124-030D-C5B9-A2F8B02F76CD}"/>
                  </a:ext>
                </a:extLst>
              </p:cNvPr>
              <p:cNvSpPr/>
              <p:nvPr/>
            </p:nvSpPr>
            <p:spPr>
              <a:xfrm>
                <a:off x="7412736" y="1280160"/>
                <a:ext cx="1536192" cy="914400"/>
              </a:xfrm>
              <a:prstGeom prst="borderCallout1">
                <a:avLst>
                  <a:gd name="adj1" fmla="val 99702"/>
                  <a:gd name="adj2" fmla="val 58334"/>
                  <a:gd name="adj3" fmla="val 162609"/>
                  <a:gd name="adj4" fmla="val 44863"/>
                </a:avLst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Benign</a:t>
                </a:r>
              </a:p>
              <a:p>
                <a:pPr algn="ctr"/>
                <a:r>
                  <a:rPr lang="en-GB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Eventually UP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No Rollback</a:t>
                </a:r>
              </a:p>
            </p:txBody>
          </p:sp>
        </mc:Choice>
        <mc:Fallback xmlns="">
          <p:sp>
            <p:nvSpPr>
              <p:cNvPr id="30" name="Line Callout 1 29">
                <a:extLst>
                  <a:ext uri="{FF2B5EF4-FFF2-40B4-BE49-F238E27FC236}">
                    <a16:creationId xmlns:a16="http://schemas.microsoft.com/office/drawing/2014/main" id="{5AA281D1-B124-030D-C5B9-A2F8B02F7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736" y="1280160"/>
                <a:ext cx="1536192" cy="914400"/>
              </a:xfrm>
              <a:prstGeom prst="borderCallout1">
                <a:avLst>
                  <a:gd name="adj1" fmla="val 99702"/>
                  <a:gd name="adj2" fmla="val 58334"/>
                  <a:gd name="adj3" fmla="val 162609"/>
                  <a:gd name="adj4" fmla="val 44863"/>
                </a:avLst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ine Callout 1 30">
                <a:extLst>
                  <a:ext uri="{FF2B5EF4-FFF2-40B4-BE49-F238E27FC236}">
                    <a16:creationId xmlns:a16="http://schemas.microsoft.com/office/drawing/2014/main" id="{C93CF6EB-A6CD-2D93-D0AA-09D140394E1D}"/>
                  </a:ext>
                </a:extLst>
              </p:cNvPr>
              <p:cNvSpPr/>
              <p:nvPr/>
            </p:nvSpPr>
            <p:spPr>
              <a:xfrm>
                <a:off x="5468112" y="524256"/>
                <a:ext cx="1627632" cy="542544"/>
              </a:xfrm>
              <a:prstGeom prst="borderCallout1">
                <a:avLst>
                  <a:gd name="adj1" fmla="val 99702"/>
                  <a:gd name="adj2" fmla="val 58334"/>
                  <a:gd name="adj3" fmla="val 375982"/>
                  <a:gd name="adj4" fmla="val 52534"/>
                </a:avLst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Crash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Rollback</a:t>
                </a:r>
              </a:p>
            </p:txBody>
          </p:sp>
        </mc:Choice>
        <mc:Fallback xmlns="">
          <p:sp>
            <p:nvSpPr>
              <p:cNvPr id="31" name="Line Callout 1 30">
                <a:extLst>
                  <a:ext uri="{FF2B5EF4-FFF2-40B4-BE49-F238E27FC236}">
                    <a16:creationId xmlns:a16="http://schemas.microsoft.com/office/drawing/2014/main" id="{C93CF6EB-A6CD-2D93-D0AA-09D140394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112" y="524256"/>
                <a:ext cx="1627632" cy="542544"/>
              </a:xfrm>
              <a:prstGeom prst="borderCallout1">
                <a:avLst>
                  <a:gd name="adj1" fmla="val 99702"/>
                  <a:gd name="adj2" fmla="val 58334"/>
                  <a:gd name="adj3" fmla="val 375982"/>
                  <a:gd name="adj4" fmla="val 52534"/>
                </a:avLst>
              </a:prstGeom>
              <a:blipFill>
                <a:blip r:embed="rId8"/>
                <a:stretch>
                  <a:fillRect l="-769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ine Callout 1 31">
            <a:extLst>
              <a:ext uri="{FF2B5EF4-FFF2-40B4-BE49-F238E27FC236}">
                <a16:creationId xmlns:a16="http://schemas.microsoft.com/office/drawing/2014/main" id="{C535CA04-4BC7-F162-1300-D9AA22DD3B4C}"/>
              </a:ext>
            </a:extLst>
          </p:cNvPr>
          <p:cNvSpPr/>
          <p:nvPr/>
        </p:nvSpPr>
        <p:spPr>
          <a:xfrm>
            <a:off x="4572000" y="1371600"/>
            <a:ext cx="914400" cy="542544"/>
          </a:xfrm>
          <a:prstGeom prst="borderCallout1">
            <a:avLst>
              <a:gd name="adj1" fmla="val 99702"/>
              <a:gd name="adj2" fmla="val 58334"/>
              <a:gd name="adj3" fmla="val 279353"/>
              <a:gd name="adj4" fmla="val 1272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352515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3" grpId="0"/>
      <p:bldP spid="14" grpId="0"/>
      <p:bldP spid="19" grpId="0" animBg="1"/>
      <p:bldP spid="21" grpId="0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7C1B-3A39-1707-8421-D796C362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C02E-7DDE-7FD3-B816-60DB1013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5697"/>
            <a:ext cx="7886700" cy="326350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Wait-free</a:t>
            </a:r>
            <a:r>
              <a:rPr lang="en-GB" sz="2100" dirty="0">
                <a:latin typeface="Comic Sans MS" panose="030F0902030302020204" pitchFamily="66" charset="0"/>
                <a:cs typeface="Calibri" panose="020F0502020204030204" pitchFamily="34" charset="0"/>
              </a:rPr>
              <a:t> </a:t>
            </a: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atomic</a:t>
            </a:r>
            <a:r>
              <a:rPr lang="en-GB" sz="2100" dirty="0">
                <a:latin typeface="Comic Sans MS" panose="030F0902030302020204" pitchFamily="66" charset="0"/>
                <a:cs typeface="Calibri" panose="020F0502020204030204" pitchFamily="34" charset="0"/>
              </a:rPr>
              <a:t> </a:t>
            </a: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MWMR</a:t>
            </a:r>
            <a:r>
              <a:rPr lang="en-GB" sz="2100" dirty="0">
                <a:latin typeface="Comic Sans MS" panose="030F0902030302020204" pitchFamily="66" charset="0"/>
                <a:cs typeface="Calibri" panose="020F0502020204030204" pitchFamily="34" charset="0"/>
              </a:rPr>
              <a:t> </a:t>
            </a:r>
            <a:r>
              <a:rPr lang="en-GB" sz="2100" dirty="0">
                <a:solidFill>
                  <a:schemeClr val="tx1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register can be implemented </a:t>
            </a: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IFF</a:t>
            </a:r>
            <a:endParaRPr lang="en-GB" sz="2100" dirty="0">
              <a:latin typeface="Comic Sans MS" panose="030F0902030302020204" pitchFamily="66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9AC777-CB73-E694-B2C9-B25C46DAE547}"/>
                  </a:ext>
                </a:extLst>
              </p:cNvPr>
              <p:cNvSpPr txBox="1"/>
              <p:nvPr/>
            </p:nvSpPr>
            <p:spPr>
              <a:xfrm>
                <a:off x="3271671" y="2070544"/>
                <a:ext cx="2743123" cy="32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≥2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GB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GB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GB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9AC777-CB73-E694-B2C9-B25C46DAE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671" y="2070544"/>
                <a:ext cx="2743123" cy="323165"/>
              </a:xfrm>
              <a:prstGeom prst="rect">
                <a:avLst/>
              </a:prstGeom>
              <a:blipFill>
                <a:blip r:embed="rId3"/>
                <a:stretch>
                  <a:fillRect l="-461" r="-1382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E2CBC-EF16-425B-E0FB-A8020091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14568C-8380-82A8-CDA2-0252EE2F2227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592114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Tight Bounds for </a:t>
            </a:r>
            <a:r>
              <a:rPr lang="en-US" dirty="0">
                <a:latin typeface="Comic Sans MS" panose="030F0902030302020204" pitchFamily="66" charset="0"/>
              </a:rPr>
              <a:t>CRR(k, r, 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83E5DC42-938F-7071-3BDB-AC15E92680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055705"/>
                  </p:ext>
                </p:extLst>
              </p:nvPr>
            </p:nvGraphicFramePr>
            <p:xfrm>
              <a:off x="936171" y="2825749"/>
              <a:ext cx="7274768" cy="18582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18692">
                      <a:extLst>
                        <a:ext uri="{9D8B030D-6E8A-4147-A177-3AD203B41FA5}">
                          <a16:colId xmlns:a16="http://schemas.microsoft.com/office/drawing/2014/main" val="2274735064"/>
                        </a:ext>
                      </a:extLst>
                    </a:gridCol>
                    <a:gridCol w="1818692">
                      <a:extLst>
                        <a:ext uri="{9D8B030D-6E8A-4147-A177-3AD203B41FA5}">
                          <a16:colId xmlns:a16="http://schemas.microsoft.com/office/drawing/2014/main" val="3115380720"/>
                        </a:ext>
                      </a:extLst>
                    </a:gridCol>
                    <a:gridCol w="1818692">
                      <a:extLst>
                        <a:ext uri="{9D8B030D-6E8A-4147-A177-3AD203B41FA5}">
                          <a16:colId xmlns:a16="http://schemas.microsoft.com/office/drawing/2014/main" val="1937863749"/>
                        </a:ext>
                      </a:extLst>
                    </a:gridCol>
                    <a:gridCol w="1818692">
                      <a:extLst>
                        <a:ext uri="{9D8B030D-6E8A-4147-A177-3AD203B41FA5}">
                          <a16:colId xmlns:a16="http://schemas.microsoft.com/office/drawing/2014/main" val="3782361545"/>
                        </a:ext>
                      </a:extLst>
                    </a:gridCol>
                  </a:tblGrid>
                  <a:tr h="61940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Resilience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Time Complexity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NV storage requirements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3342867"/>
                      </a:ext>
                    </a:extLst>
                  </a:tr>
                  <a:tr h="6194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GB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>
                              <a:latin typeface="Comic Sans MS" panose="030F0902030302020204" pitchFamily="66" charset="0"/>
                            </a:rPr>
                            <a:t>BFT</a:t>
                          </a:r>
                          <a:endParaRPr 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u="none" strike="noStrike" cap="none" dirty="0">
                              <a:solidFill>
                                <a:schemeClr val="dk1"/>
                              </a:solidFill>
                              <a:latin typeface="Comic Sans MS" panose="030F0902030302020204" pitchFamily="66" charset="0"/>
                              <a:ea typeface="+mn-ea"/>
                              <a:cs typeface="+mn-cs"/>
                              <a:sym typeface="Arial"/>
                            </a:rPr>
                            <a:t>CFT</a:t>
                          </a:r>
                          <a:endParaRPr 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1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3825431"/>
                      </a:ext>
                    </a:extLst>
                  </a:tr>
                  <a:tr h="6194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1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GB" sz="21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u="none" strike="noStrike" cap="none" dirty="0">
                              <a:solidFill>
                                <a:schemeClr val="dk1"/>
                              </a:solidFill>
                              <a:latin typeface="Comic Sans MS" panose="030F0902030302020204" pitchFamily="66" charset="0"/>
                              <a:ea typeface="+mn-ea"/>
                              <a:cs typeface="+mn-cs"/>
                              <a:sym typeface="Arial"/>
                            </a:rPr>
                            <a:t>(BFT, CFT]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u="none" strike="noStrike" cap="none" dirty="0">
                              <a:solidFill>
                                <a:schemeClr val="dk1"/>
                              </a:solidFill>
                              <a:latin typeface="Comic Sans MS" panose="030F0902030302020204" pitchFamily="66" charset="0"/>
                              <a:ea typeface="+mn-ea"/>
                              <a:cs typeface="+mn-cs"/>
                              <a:sym typeface="Arial"/>
                            </a:rPr>
                            <a:t>CFT</a:t>
                          </a:r>
                          <a:endParaRPr 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663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83E5DC42-938F-7071-3BDB-AC15E92680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055705"/>
                  </p:ext>
                </p:extLst>
              </p:nvPr>
            </p:nvGraphicFramePr>
            <p:xfrm>
              <a:off x="936171" y="2825749"/>
              <a:ext cx="7274768" cy="18582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18692">
                      <a:extLst>
                        <a:ext uri="{9D8B030D-6E8A-4147-A177-3AD203B41FA5}">
                          <a16:colId xmlns:a16="http://schemas.microsoft.com/office/drawing/2014/main" val="2274735064"/>
                        </a:ext>
                      </a:extLst>
                    </a:gridCol>
                    <a:gridCol w="1818692">
                      <a:extLst>
                        <a:ext uri="{9D8B030D-6E8A-4147-A177-3AD203B41FA5}">
                          <a16:colId xmlns:a16="http://schemas.microsoft.com/office/drawing/2014/main" val="3115380720"/>
                        </a:ext>
                      </a:extLst>
                    </a:gridCol>
                    <a:gridCol w="1818692">
                      <a:extLst>
                        <a:ext uri="{9D8B030D-6E8A-4147-A177-3AD203B41FA5}">
                          <a16:colId xmlns:a16="http://schemas.microsoft.com/office/drawing/2014/main" val="1937863749"/>
                        </a:ext>
                      </a:extLst>
                    </a:gridCol>
                    <a:gridCol w="1818692">
                      <a:extLst>
                        <a:ext uri="{9D8B030D-6E8A-4147-A177-3AD203B41FA5}">
                          <a16:colId xmlns:a16="http://schemas.microsoft.com/office/drawing/2014/main" val="3782361545"/>
                        </a:ext>
                      </a:extLst>
                    </a:gridCol>
                  </a:tblGrid>
                  <a:tr h="619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Resilience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Time Complexity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NV storage requirements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3342867"/>
                      </a:ext>
                    </a:extLst>
                  </a:tr>
                  <a:tr h="619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94" t="-102041" r="-300000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>
                              <a:latin typeface="Comic Sans MS" panose="030F0902030302020204" pitchFamily="66" charset="0"/>
                            </a:rPr>
                            <a:t>BFT</a:t>
                          </a:r>
                          <a:endParaRPr 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u="none" strike="noStrike" cap="none" dirty="0">
                              <a:solidFill>
                                <a:schemeClr val="dk1"/>
                              </a:solidFill>
                              <a:latin typeface="Comic Sans MS" panose="030F0902030302020204" pitchFamily="66" charset="0"/>
                              <a:ea typeface="+mn-ea"/>
                              <a:cs typeface="+mn-cs"/>
                              <a:sym typeface="Arial"/>
                            </a:rPr>
                            <a:t>CFT</a:t>
                          </a:r>
                          <a:endParaRPr 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098" t="-102041" r="-1399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3825431"/>
                      </a:ext>
                    </a:extLst>
                  </a:tr>
                  <a:tr h="619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94" t="-202041" r="-300000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u="none" strike="noStrike" cap="none" dirty="0">
                              <a:solidFill>
                                <a:schemeClr val="dk1"/>
                              </a:solidFill>
                              <a:latin typeface="Comic Sans MS" panose="030F0902030302020204" pitchFamily="66" charset="0"/>
                              <a:ea typeface="+mn-ea"/>
                              <a:cs typeface="+mn-cs"/>
                              <a:sym typeface="Arial"/>
                            </a:rPr>
                            <a:t>(BFT, CFT]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i="0" u="none" strike="noStrike" cap="none" dirty="0">
                              <a:solidFill>
                                <a:schemeClr val="dk1"/>
                              </a:solidFill>
                              <a:latin typeface="Comic Sans MS" panose="030F0902030302020204" pitchFamily="66" charset="0"/>
                              <a:ea typeface="+mn-ea"/>
                              <a:cs typeface="+mn-cs"/>
                              <a:sym typeface="Arial"/>
                            </a:rPr>
                            <a:t>CFT</a:t>
                          </a:r>
                          <a:endParaRPr 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66312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884E792-11B9-98BD-FF54-FA3F92A6DB32}"/>
              </a:ext>
            </a:extLst>
          </p:cNvPr>
          <p:cNvGrpSpPr/>
          <p:nvPr/>
        </p:nvGrpSpPr>
        <p:grpSpPr>
          <a:xfrm>
            <a:off x="5340096" y="29817"/>
            <a:ext cx="3267456" cy="1426464"/>
            <a:chOff x="5340096" y="0"/>
            <a:chExt cx="3267456" cy="1426464"/>
          </a:xfrm>
        </p:grpSpPr>
        <p:sp>
          <p:nvSpPr>
            <p:cNvPr id="22" name="Cloud 21">
              <a:extLst>
                <a:ext uri="{FF2B5EF4-FFF2-40B4-BE49-F238E27FC236}">
                  <a16:creationId xmlns:a16="http://schemas.microsoft.com/office/drawing/2014/main" id="{DB15AAF3-AC4E-3BAB-38DF-F10F9D0776F1}"/>
                </a:ext>
              </a:extLst>
            </p:cNvPr>
            <p:cNvSpPr/>
            <p:nvPr/>
          </p:nvSpPr>
          <p:spPr>
            <a:xfrm>
              <a:off x="5340096" y="0"/>
              <a:ext cx="3267456" cy="1426464"/>
            </a:xfrm>
            <a:prstGeom prst="cloud">
              <a:avLst/>
            </a:prstGeom>
            <a:solidFill>
              <a:srgbClr val="FDFFD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omic Sans MS" panose="030F0902030302020204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1C3C447-E3D7-5F35-98A8-B3B66CC53ABB}"/>
                    </a:ext>
                  </a:extLst>
                </p:cNvPr>
                <p:cNvSpPr txBox="1"/>
                <p:nvPr/>
              </p:nvSpPr>
              <p:spPr>
                <a:xfrm>
                  <a:off x="5785104" y="289036"/>
                  <a:ext cx="1993392" cy="830997"/>
                </a:xfrm>
                <a:prstGeom prst="rect">
                  <a:avLst/>
                </a:prstGeom>
                <a:solidFill>
                  <a:srgbClr val="FDFFDA"/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en-GB" sz="1600" dirty="0"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Crash </a:t>
                  </a:r>
                  <a14:m>
                    <m:oMath xmlns:m="http://schemas.openxmlformats.org/officeDocument/2006/math"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 Rollback 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en-US" sz="1600" dirty="0"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Rollback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en-GB" sz="1600" dirty="0"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Benign</a:t>
                  </a:r>
                  <a:endPara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1C3C447-E3D7-5F35-98A8-B3B66CC53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104" y="289036"/>
                  <a:ext cx="1993392" cy="830997"/>
                </a:xfrm>
                <a:prstGeom prst="rect">
                  <a:avLst/>
                </a:prstGeom>
                <a:blipFill>
                  <a:blip r:embed="rId5"/>
                  <a:stretch>
                    <a:fillRect t="-2985" r="-3797" b="-89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821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3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89C6D-B44D-07CB-C1F5-95898E46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0C50-80FC-4D7D-0176-296CB95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0" y="103649"/>
            <a:ext cx="4223724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Our Contribution: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05CD-DDC8-940A-0399-52DFD81993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E7CECA-E2D0-0B7F-B821-6AE0629C9491}"/>
                  </a:ext>
                </a:extLst>
              </p:cNvPr>
              <p:cNvSpPr/>
              <p:nvPr/>
            </p:nvSpPr>
            <p:spPr>
              <a:xfrm>
                <a:off x="214298" y="1499617"/>
                <a:ext cx="3979750" cy="1243583"/>
              </a:xfrm>
              <a:noFill/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Crash-Restart-Rollback (CRR)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Failures</a:t>
                </a:r>
                <a:r>
                  <a:rPr lang="en-GB" sz="1600" dirty="0">
                    <a:solidFill>
                      <a:srgbClr val="7030A0"/>
                    </a:solidFill>
                    <a:latin typeface="Comic Sans MS" panose="030F0902030302020204" pitchFamily="66" charset="0"/>
                  </a:rPr>
                  <a:t>: Crash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</a:t>
                </a:r>
                <a:r>
                  <a:rPr lang="en-US" sz="1600" dirty="0">
                    <a:solidFill>
                      <a:srgbClr val="C00000"/>
                    </a:solidFill>
                    <a:latin typeface="Comic Sans MS" panose="030F0902030302020204" pitchFamily="66" charset="0"/>
                  </a:rPr>
                  <a:t>Rollback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Crash</a:t>
                </a:r>
                <a:r>
                  <a:rPr lang="en-US" sz="1600" dirty="0">
                    <a:solidFill>
                      <a:srgbClr val="FF0000"/>
                    </a:solidFill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≺ </m:t>
                    </m:r>
                  </m:oMath>
                </a14:m>
                <a:r>
                  <a:rPr lang="en-US" sz="1600" b="1" dirty="0">
                    <a:solidFill>
                      <a:srgbClr val="002060"/>
                    </a:solidFill>
                    <a:latin typeface="Comic Sans MS" panose="030F0902030302020204" pitchFamily="66" charset="0"/>
                  </a:rPr>
                  <a:t>CRR</a:t>
                </a:r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 Byzantine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E7CECA-E2D0-0B7F-B821-6AE0629C94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98" y="1499617"/>
                <a:ext cx="3979750" cy="12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FAC8B34-B197-5C28-503A-70D3EA3595C7}"/>
              </a:ext>
            </a:extLst>
          </p:cNvPr>
          <p:cNvSpPr/>
          <p:nvPr/>
        </p:nvSpPr>
        <p:spPr>
          <a:xfrm>
            <a:off x="2877312" y="3155081"/>
            <a:ext cx="3096768" cy="1185271"/>
          </a:xfrm>
          <a:custGeom>
            <a:avLst/>
            <a:gdLst>
              <a:gd name="csX0" fmla="*/ 0 w 3096768"/>
              <a:gd name="csY0" fmla="*/ 0 h 1185271"/>
              <a:gd name="csX1" fmla="*/ 485160 w 3096768"/>
              <a:gd name="csY1" fmla="*/ 0 h 1185271"/>
              <a:gd name="csX2" fmla="*/ 908385 w 3096768"/>
              <a:gd name="csY2" fmla="*/ 0 h 1185271"/>
              <a:gd name="csX3" fmla="*/ 1486449 w 3096768"/>
              <a:gd name="csY3" fmla="*/ 0 h 1185271"/>
              <a:gd name="csX4" fmla="*/ 1971609 w 3096768"/>
              <a:gd name="csY4" fmla="*/ 0 h 1185271"/>
              <a:gd name="csX5" fmla="*/ 2456769 w 3096768"/>
              <a:gd name="csY5" fmla="*/ 0 h 1185271"/>
              <a:gd name="csX6" fmla="*/ 3096768 w 3096768"/>
              <a:gd name="csY6" fmla="*/ 0 h 1185271"/>
              <a:gd name="csX7" fmla="*/ 3096768 w 3096768"/>
              <a:gd name="csY7" fmla="*/ 568930 h 1185271"/>
              <a:gd name="csX8" fmla="*/ 3096768 w 3096768"/>
              <a:gd name="csY8" fmla="*/ 1185271 h 1185271"/>
              <a:gd name="csX9" fmla="*/ 2642575 w 3096768"/>
              <a:gd name="csY9" fmla="*/ 1185271 h 1185271"/>
              <a:gd name="csX10" fmla="*/ 2126447 w 3096768"/>
              <a:gd name="csY10" fmla="*/ 1185271 h 1185271"/>
              <a:gd name="csX11" fmla="*/ 1610319 w 3096768"/>
              <a:gd name="csY11" fmla="*/ 1185271 h 1185271"/>
              <a:gd name="csX12" fmla="*/ 1125159 w 3096768"/>
              <a:gd name="csY12" fmla="*/ 1185271 h 1185271"/>
              <a:gd name="csX13" fmla="*/ 547096 w 3096768"/>
              <a:gd name="csY13" fmla="*/ 1185271 h 1185271"/>
              <a:gd name="csX14" fmla="*/ 0 w 3096768"/>
              <a:gd name="csY14" fmla="*/ 1185271 h 1185271"/>
              <a:gd name="csX15" fmla="*/ 0 w 3096768"/>
              <a:gd name="csY15" fmla="*/ 616341 h 1185271"/>
              <a:gd name="csX16" fmla="*/ 0 w 3096768"/>
              <a:gd name="csY16" fmla="*/ 0 h 1185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96768" h="1185271" extrusionOk="0">
                <a:moveTo>
                  <a:pt x="0" y="0"/>
                </a:moveTo>
                <a:cubicBezTo>
                  <a:pt x="199649" y="-14931"/>
                  <a:pt x="374810" y="26613"/>
                  <a:pt x="485160" y="0"/>
                </a:cubicBezTo>
                <a:cubicBezTo>
                  <a:pt x="595510" y="-26613"/>
                  <a:pt x="811399" y="32909"/>
                  <a:pt x="908385" y="0"/>
                </a:cubicBezTo>
                <a:cubicBezTo>
                  <a:pt x="1005371" y="-32909"/>
                  <a:pt x="1306132" y="36794"/>
                  <a:pt x="1486449" y="0"/>
                </a:cubicBezTo>
                <a:cubicBezTo>
                  <a:pt x="1666766" y="-36794"/>
                  <a:pt x="1862243" y="35699"/>
                  <a:pt x="1971609" y="0"/>
                </a:cubicBezTo>
                <a:cubicBezTo>
                  <a:pt x="2080975" y="-35699"/>
                  <a:pt x="2274376" y="20790"/>
                  <a:pt x="2456769" y="0"/>
                </a:cubicBezTo>
                <a:cubicBezTo>
                  <a:pt x="2639162" y="-20790"/>
                  <a:pt x="2948786" y="20565"/>
                  <a:pt x="3096768" y="0"/>
                </a:cubicBezTo>
                <a:cubicBezTo>
                  <a:pt x="3138299" y="154667"/>
                  <a:pt x="3084945" y="319064"/>
                  <a:pt x="3096768" y="568930"/>
                </a:cubicBezTo>
                <a:cubicBezTo>
                  <a:pt x="3108591" y="818796"/>
                  <a:pt x="3094107" y="887545"/>
                  <a:pt x="3096768" y="1185271"/>
                </a:cubicBezTo>
                <a:cubicBezTo>
                  <a:pt x="2995031" y="1226306"/>
                  <a:pt x="2764377" y="1184985"/>
                  <a:pt x="2642575" y="1185271"/>
                </a:cubicBezTo>
                <a:cubicBezTo>
                  <a:pt x="2520773" y="1185557"/>
                  <a:pt x="2299884" y="1153128"/>
                  <a:pt x="2126447" y="1185271"/>
                </a:cubicBezTo>
                <a:cubicBezTo>
                  <a:pt x="1953010" y="1217414"/>
                  <a:pt x="1802845" y="1127563"/>
                  <a:pt x="1610319" y="1185271"/>
                </a:cubicBezTo>
                <a:cubicBezTo>
                  <a:pt x="1417793" y="1242979"/>
                  <a:pt x="1285525" y="1176458"/>
                  <a:pt x="1125159" y="1185271"/>
                </a:cubicBezTo>
                <a:cubicBezTo>
                  <a:pt x="964793" y="1194084"/>
                  <a:pt x="732373" y="1178698"/>
                  <a:pt x="547096" y="1185271"/>
                </a:cubicBezTo>
                <a:cubicBezTo>
                  <a:pt x="361819" y="1191844"/>
                  <a:pt x="131923" y="1169723"/>
                  <a:pt x="0" y="1185271"/>
                </a:cubicBezTo>
                <a:cubicBezTo>
                  <a:pt x="-43190" y="1048040"/>
                  <a:pt x="36971" y="830447"/>
                  <a:pt x="0" y="616341"/>
                </a:cubicBezTo>
                <a:cubicBezTo>
                  <a:pt x="-36971" y="402235"/>
                  <a:pt x="13290" y="155864"/>
                  <a:pt x="0" y="0"/>
                </a:cubicBezTo>
                <a:close/>
              </a:path>
            </a:pathLst>
          </a:custGeom>
          <a:noFill/>
          <a:ln w="2540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Tight Bounds for Registers 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Resilience, Time Complexity</a:t>
            </a:r>
            <a:b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Persistent Storage Usage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8D1F61-83B0-D819-EE2D-C5F5AE9BF684}"/>
              </a:ext>
            </a:extLst>
          </p:cNvPr>
          <p:cNvSpPr/>
          <p:nvPr/>
        </p:nvSpPr>
        <p:spPr>
          <a:xfrm>
            <a:off x="4950890" y="1499617"/>
            <a:ext cx="3979750" cy="1207007"/>
          </a:xfr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902030302020204" pitchFamily="66" charset="0"/>
              </a:rPr>
              <a:t>Dynamic CRR (CRR-D)</a:t>
            </a: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Failures: </a:t>
            </a:r>
            <a:r>
              <a:rPr lang="en-GB" sz="1600" dirty="0">
                <a:solidFill>
                  <a:srgbClr val="7030A0"/>
                </a:solidFill>
                <a:latin typeface="Comic Sans MS" panose="030F0902030302020204" pitchFamily="66" charset="0"/>
              </a:rPr>
              <a:t>Crash</a:t>
            </a: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rgbClr val="7030A0"/>
                </a:solidFill>
                <a:latin typeface="Comic Sans MS" panose="030F0902030302020204" pitchFamily="66" charset="0"/>
              </a:rPr>
              <a:t>Every process can rollback </a:t>
            </a:r>
            <a:endParaRPr lang="en-US" sz="16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5A7737-0288-3880-3B1E-22290CBDD50B}"/>
              </a:ext>
            </a:extLst>
          </p:cNvPr>
          <p:cNvCxnSpPr>
            <a:cxnSpLocks/>
          </p:cNvCxnSpPr>
          <p:nvPr/>
        </p:nvCxnSpPr>
        <p:spPr>
          <a:xfrm>
            <a:off x="3718560" y="2731008"/>
            <a:ext cx="0" cy="451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48B121-15FE-92F2-C849-01AC516FE5B6}"/>
              </a:ext>
            </a:extLst>
          </p:cNvPr>
          <p:cNvCxnSpPr>
            <a:cxnSpLocks/>
          </p:cNvCxnSpPr>
          <p:nvPr/>
        </p:nvCxnSpPr>
        <p:spPr>
          <a:xfrm>
            <a:off x="5376672" y="273100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1E889F-B6DE-133A-FC05-FCC7A61806ED}"/>
                  </a:ext>
                </a:extLst>
              </p:cNvPr>
              <p:cNvSpPr txBox="1"/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≺</m:t>
                      </m:r>
                    </m:oMath>
                  </m:oMathPara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1E889F-B6DE-133A-FC05-FCC7A618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3649955-98C9-7B9F-AC83-CBD0976B0039}"/>
              </a:ext>
            </a:extLst>
          </p:cNvPr>
          <p:cNvSpPr txBox="1"/>
          <p:nvPr/>
        </p:nvSpPr>
        <p:spPr>
          <a:xfrm>
            <a:off x="926592" y="90220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Static Failure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AD5E20-2871-BBB0-B953-1041ED64E1BA}"/>
              </a:ext>
            </a:extLst>
          </p:cNvPr>
          <p:cNvSpPr txBox="1"/>
          <p:nvPr/>
        </p:nvSpPr>
        <p:spPr>
          <a:xfrm>
            <a:off x="5370576" y="902208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omic Sans MS" panose="030F0902030302020204" pitchFamily="66" charset="0"/>
              </a:rPr>
              <a:t>Dynamic Failure Models</a:t>
            </a:r>
          </a:p>
        </p:txBody>
      </p:sp>
      <p:sp>
        <p:nvSpPr>
          <p:cNvPr id="19" name="Cloud Callout 18">
            <a:extLst>
              <a:ext uri="{FF2B5EF4-FFF2-40B4-BE49-F238E27FC236}">
                <a16:creationId xmlns:a16="http://schemas.microsoft.com/office/drawing/2014/main" id="{32F14D67-82DA-23DC-3B80-7738A8E5C772}"/>
              </a:ext>
            </a:extLst>
          </p:cNvPr>
          <p:cNvSpPr/>
          <p:nvPr/>
        </p:nvSpPr>
        <p:spPr>
          <a:xfrm>
            <a:off x="1292352" y="1231392"/>
            <a:ext cx="3438144" cy="2231137"/>
          </a:xfrm>
          <a:prstGeom prst="cloudCallout">
            <a:avLst>
              <a:gd name="adj1" fmla="val 68340"/>
              <a:gd name="adj2" fmla="val 777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Comic Sans MS" panose="030F0902030302020204" pitchFamily="66" charset="0"/>
              </a:rPr>
              <a:t>If all processes can simultaneously crash &amp; restart, no implementation is possible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2F2FFD40-8234-80FD-9E38-D57DC07DF80B}"/>
              </a:ext>
            </a:extLst>
          </p:cNvPr>
          <p:cNvSpPr/>
          <p:nvPr/>
        </p:nvSpPr>
        <p:spPr>
          <a:xfrm>
            <a:off x="5230368" y="2157984"/>
            <a:ext cx="3206496" cy="585216"/>
          </a:xfrm>
          <a:custGeom>
            <a:avLst/>
            <a:gdLst>
              <a:gd name="csX0" fmla="*/ 0 w 3206496"/>
              <a:gd name="csY0" fmla="*/ 231336 h 585216"/>
              <a:gd name="csX1" fmla="*/ 859177 w 3206496"/>
              <a:gd name="csY1" fmla="*/ 43843 h 585216"/>
              <a:gd name="csX2" fmla="*/ 2257838 w 3206496"/>
              <a:gd name="csY2" fmla="*/ 7786 h 585216"/>
              <a:gd name="csX3" fmla="*/ 3017111 w 3206496"/>
              <a:gd name="csY3" fmla="*/ 159223 h 585216"/>
              <a:gd name="csX4" fmla="*/ 3156978 w 3206496"/>
              <a:gd name="csY4" fmla="*/ 382773 h 585216"/>
              <a:gd name="csX5" fmla="*/ 2317781 w 3206496"/>
              <a:gd name="csY5" fmla="*/ 548633 h 585216"/>
              <a:gd name="csX6" fmla="*/ 1438622 w 3206496"/>
              <a:gd name="csY6" fmla="*/ 584690 h 585216"/>
              <a:gd name="csX7" fmla="*/ 299713 w 3206496"/>
              <a:gd name="csY7" fmla="*/ 534211 h 585216"/>
              <a:gd name="csX8" fmla="*/ 239770 w 3206496"/>
              <a:gd name="csY8" fmla="*/ 260182 h 585216"/>
              <a:gd name="csX9" fmla="*/ 1019024 w 3206496"/>
              <a:gd name="csY9" fmla="*/ 123167 h 585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206496" h="585216" extrusionOk="0">
                <a:moveTo>
                  <a:pt x="0" y="231336"/>
                </a:moveTo>
                <a:cubicBezTo>
                  <a:pt x="191055" y="125143"/>
                  <a:pt x="455008" y="91559"/>
                  <a:pt x="859177" y="43843"/>
                </a:cubicBezTo>
                <a:cubicBezTo>
                  <a:pt x="1318957" y="24157"/>
                  <a:pt x="1821271" y="-8998"/>
                  <a:pt x="2257838" y="7786"/>
                </a:cubicBezTo>
                <a:cubicBezTo>
                  <a:pt x="2601349" y="42782"/>
                  <a:pt x="2861258" y="129875"/>
                  <a:pt x="3017111" y="159223"/>
                </a:cubicBezTo>
                <a:cubicBezTo>
                  <a:pt x="3139116" y="206482"/>
                  <a:pt x="3285779" y="323723"/>
                  <a:pt x="3156978" y="382773"/>
                </a:cubicBezTo>
                <a:cubicBezTo>
                  <a:pt x="3085437" y="453015"/>
                  <a:pt x="2622872" y="476499"/>
                  <a:pt x="2317781" y="548633"/>
                </a:cubicBezTo>
                <a:cubicBezTo>
                  <a:pt x="1973415" y="573408"/>
                  <a:pt x="1767984" y="593667"/>
                  <a:pt x="1438622" y="584690"/>
                </a:cubicBezTo>
                <a:cubicBezTo>
                  <a:pt x="1098224" y="543621"/>
                  <a:pt x="488389" y="603766"/>
                  <a:pt x="299713" y="534211"/>
                </a:cubicBezTo>
                <a:cubicBezTo>
                  <a:pt x="126382" y="494950"/>
                  <a:pt x="132533" y="331730"/>
                  <a:pt x="239770" y="260182"/>
                </a:cubicBezTo>
                <a:cubicBezTo>
                  <a:pt x="320708" y="185375"/>
                  <a:pt x="713097" y="176850"/>
                  <a:pt x="1019024" y="123167"/>
                </a:cubicBezTo>
              </a:path>
            </a:pathLst>
          </a:custGeom>
          <a:noFill/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956551"/>
                      <a:gd name="connsiteY0" fmla="*/ 391117 h 989414"/>
                      <a:gd name="connsiteX1" fmla="*/ 524256 w 1956551"/>
                      <a:gd name="connsiteY1" fmla="*/ 74125 h 989414"/>
                      <a:gd name="connsiteX2" fmla="*/ 1377696 w 1956551"/>
                      <a:gd name="connsiteY2" fmla="*/ 13165 h 989414"/>
                      <a:gd name="connsiteX3" fmla="*/ 1840992 w 1956551"/>
                      <a:gd name="connsiteY3" fmla="*/ 269197 h 989414"/>
                      <a:gd name="connsiteX4" fmla="*/ 1926336 w 1956551"/>
                      <a:gd name="connsiteY4" fmla="*/ 647149 h 989414"/>
                      <a:gd name="connsiteX5" fmla="*/ 1414272 w 1956551"/>
                      <a:gd name="connsiteY5" fmla="*/ 927565 h 989414"/>
                      <a:gd name="connsiteX6" fmla="*/ 877824 w 1956551"/>
                      <a:gd name="connsiteY6" fmla="*/ 988525 h 989414"/>
                      <a:gd name="connsiteX7" fmla="*/ 182880 w 1956551"/>
                      <a:gd name="connsiteY7" fmla="*/ 903181 h 989414"/>
                      <a:gd name="connsiteX8" fmla="*/ 146304 w 1956551"/>
                      <a:gd name="connsiteY8" fmla="*/ 439885 h 989414"/>
                      <a:gd name="connsiteX9" fmla="*/ 621792 w 1956551"/>
                      <a:gd name="connsiteY9" fmla="*/ 208237 h 9894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956551" h="989414">
                        <a:moveTo>
                          <a:pt x="0" y="391117"/>
                        </a:moveTo>
                        <a:cubicBezTo>
                          <a:pt x="147320" y="264117"/>
                          <a:pt x="294640" y="137117"/>
                          <a:pt x="524256" y="74125"/>
                        </a:cubicBezTo>
                        <a:cubicBezTo>
                          <a:pt x="753872" y="11133"/>
                          <a:pt x="1158240" y="-19347"/>
                          <a:pt x="1377696" y="13165"/>
                        </a:cubicBezTo>
                        <a:cubicBezTo>
                          <a:pt x="1597152" y="45677"/>
                          <a:pt x="1749552" y="163533"/>
                          <a:pt x="1840992" y="269197"/>
                        </a:cubicBezTo>
                        <a:cubicBezTo>
                          <a:pt x="1932432" y="374861"/>
                          <a:pt x="1997456" y="537421"/>
                          <a:pt x="1926336" y="647149"/>
                        </a:cubicBezTo>
                        <a:cubicBezTo>
                          <a:pt x="1855216" y="756877"/>
                          <a:pt x="1589024" y="870669"/>
                          <a:pt x="1414272" y="927565"/>
                        </a:cubicBezTo>
                        <a:cubicBezTo>
                          <a:pt x="1239520" y="984461"/>
                          <a:pt x="1083056" y="992589"/>
                          <a:pt x="877824" y="988525"/>
                        </a:cubicBezTo>
                        <a:cubicBezTo>
                          <a:pt x="672592" y="984461"/>
                          <a:pt x="304800" y="994621"/>
                          <a:pt x="182880" y="903181"/>
                        </a:cubicBezTo>
                        <a:cubicBezTo>
                          <a:pt x="60960" y="811741"/>
                          <a:pt x="73152" y="555709"/>
                          <a:pt x="146304" y="439885"/>
                        </a:cubicBezTo>
                        <a:cubicBezTo>
                          <a:pt x="219456" y="324061"/>
                          <a:pt x="420624" y="266149"/>
                          <a:pt x="621792" y="208237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5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/>
      <p:bldP spid="19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3251-A53F-A117-7262-CC935F94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Failure Models: </a:t>
            </a:r>
            <a:r>
              <a:rPr lang="en-US" dirty="0">
                <a:latin typeface="Comic Sans MS" panose="030F0902030302020204" pitchFamily="66" charset="0"/>
              </a:rPr>
              <a:t>CRR-D(d, c)</a:t>
            </a:r>
            <a:r>
              <a:rPr lang="en-US" dirty="0"/>
              <a:t> </a:t>
            </a:r>
            <a:endParaRPr lang="en-US" dirty="0">
              <a:latin typeface="Comic Sans MS" panose="030F09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20E3D-7229-C4BA-0BCC-EF88F920A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BDD339-4F9F-BEB2-14DC-7B4D45BD3BBF}"/>
              </a:ext>
            </a:extLst>
          </p:cNvPr>
          <p:cNvSpPr/>
          <p:nvPr/>
        </p:nvSpPr>
        <p:spPr>
          <a:xfrm>
            <a:off x="329184" y="1597152"/>
            <a:ext cx="3255264" cy="170688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3626E2-6690-5E63-FC65-B092BF5B05A0}"/>
              </a:ext>
            </a:extLst>
          </p:cNvPr>
          <p:cNvSpPr/>
          <p:nvPr/>
        </p:nvSpPr>
        <p:spPr>
          <a:xfrm>
            <a:off x="524256" y="1810511"/>
            <a:ext cx="1609344" cy="1249681"/>
          </a:xfrm>
          <a:prstGeom prst="ellipse">
            <a:avLst/>
          </a:prstGeom>
          <a:pattFill prst="ltVert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F6932C-66AE-5004-E820-7870876C9F66}"/>
                  </a:ext>
                </a:extLst>
              </p:cNvPr>
              <p:cNvSpPr txBox="1"/>
              <p:nvPr/>
            </p:nvSpPr>
            <p:spPr>
              <a:xfrm>
                <a:off x="921042" y="2401824"/>
                <a:ext cx="7800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F6932C-66AE-5004-E820-7870876C9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2" y="2401824"/>
                <a:ext cx="78002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32F5B911-4DE9-458C-147D-D81969ABA435}"/>
              </a:ext>
            </a:extLst>
          </p:cNvPr>
          <p:cNvSpPr txBox="1"/>
          <p:nvPr/>
        </p:nvSpPr>
        <p:spPr>
          <a:xfrm>
            <a:off x="2200656" y="2186976"/>
            <a:ext cx="1347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1"/>
                </a:solidFill>
                <a:latin typeface="Comic Sans MS" panose="030F0902030302020204" pitchFamily="66" charset="0"/>
              </a:rPr>
              <a:t>Crash &amp; </a:t>
            </a:r>
            <a:br>
              <a:rPr lang="en-GB" sz="1800" dirty="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GB" sz="1800" dirty="0">
                <a:solidFill>
                  <a:schemeClr val="tx1"/>
                </a:solidFill>
                <a:latin typeface="Comic Sans MS" panose="030F0902030302020204" pitchFamily="66" charset="0"/>
              </a:rPr>
              <a:t>Restart</a:t>
            </a:r>
            <a:endParaRPr lang="en-US" sz="18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1A1179-4230-929D-28CD-CED1082907D7}"/>
              </a:ext>
            </a:extLst>
          </p:cNvPr>
          <p:cNvSpPr txBox="1"/>
          <p:nvPr/>
        </p:nvSpPr>
        <p:spPr>
          <a:xfrm>
            <a:off x="871728" y="1943136"/>
            <a:ext cx="883920" cy="369332"/>
          </a:xfrm>
          <a:prstGeom prst="rect">
            <a:avLst/>
          </a:prstGeom>
          <a:solidFill>
            <a:srgbClr val="FF0000">
              <a:alpha val="4713"/>
            </a:srgb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mic Sans MS" panose="030F0902030302020204" pitchFamily="66" charset="0"/>
              </a:rPr>
              <a:t>Crash</a:t>
            </a:r>
            <a:endParaRPr lang="en-US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D4B0E6-7F75-BE25-0C30-14A9173421E6}"/>
                  </a:ext>
                </a:extLst>
              </p:cNvPr>
              <p:cNvSpPr txBox="1"/>
              <p:nvPr/>
            </p:nvSpPr>
            <p:spPr>
              <a:xfrm>
                <a:off x="201168" y="3698784"/>
                <a:ext cx="376123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FF0000"/>
                    </a:solidFill>
                    <a:latin typeface="Comic Sans MS" panose="030F0902030302020204" pitchFamily="66" charset="0"/>
                    <a:cs typeface="Calibri" panose="020F0502020204030204" pitchFamily="34" charset="0"/>
                  </a:rPr>
                  <a:t>Good Case</a:t>
                </a:r>
              </a:p>
              <a:p>
                <a:pPr algn="ctr"/>
                <a: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  <a:t>Failures are separated by </a:t>
                </a:r>
                <a:b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</m:oMath>
                </a14:m>
                <a: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  <a:t> M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∙</m:t>
                    </m:r>
                    <m:r>
                      <m:rPr>
                        <m:sty m:val="p"/>
                      </m:rPr>
                      <a:rPr lang="el-GR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Δ</m:t>
                    </m:r>
                  </m:oMath>
                </a14:m>
                <a: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  <a:t> </a:t>
                </a:r>
                <a:endParaRPr lang="en-US" sz="18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D4B0E6-7F75-BE25-0C30-14A917342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" y="3698784"/>
                <a:ext cx="3761232" cy="923330"/>
              </a:xfrm>
              <a:prstGeom prst="rect">
                <a:avLst/>
              </a:prstGeom>
              <a:blipFill>
                <a:blip r:embed="rId4"/>
                <a:stretch>
                  <a:fillRect t="-4110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1060CB7C-4368-15BC-DF9C-77BEBF0C8F32}"/>
              </a:ext>
            </a:extLst>
          </p:cNvPr>
          <p:cNvSpPr/>
          <p:nvPr/>
        </p:nvSpPr>
        <p:spPr>
          <a:xfrm>
            <a:off x="5486400" y="1548384"/>
            <a:ext cx="3334512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9ADE3A6-775B-CBB4-FE5A-6DBD266D25D1}"/>
              </a:ext>
            </a:extLst>
          </p:cNvPr>
          <p:cNvSpPr/>
          <p:nvPr/>
        </p:nvSpPr>
        <p:spPr>
          <a:xfrm>
            <a:off x="5663184" y="1682496"/>
            <a:ext cx="2572512" cy="1487424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6ED668E-CE6E-22F6-0B6A-349E39DFA30C}"/>
              </a:ext>
            </a:extLst>
          </p:cNvPr>
          <p:cNvSpPr/>
          <p:nvPr/>
        </p:nvSpPr>
        <p:spPr>
          <a:xfrm>
            <a:off x="5760720" y="1804415"/>
            <a:ext cx="1609344" cy="1249681"/>
          </a:xfrm>
          <a:prstGeom prst="ellipse">
            <a:avLst/>
          </a:prstGeom>
          <a:pattFill prst="ltVert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60E65E0-B8EE-0A46-839A-EA7069F2F6ED}"/>
                  </a:ext>
                </a:extLst>
              </p:cNvPr>
              <p:cNvSpPr txBox="1"/>
              <p:nvPr/>
            </p:nvSpPr>
            <p:spPr>
              <a:xfrm>
                <a:off x="6157506" y="2395728"/>
                <a:ext cx="7800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60E65E0-B8EE-0A46-839A-EA7069F2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506" y="2395728"/>
                <a:ext cx="78002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ACA9652A-4CEB-01A0-80F7-74CE2AE90CF7}"/>
              </a:ext>
            </a:extLst>
          </p:cNvPr>
          <p:cNvSpPr txBox="1"/>
          <p:nvPr/>
        </p:nvSpPr>
        <p:spPr>
          <a:xfrm>
            <a:off x="6108192" y="1937040"/>
            <a:ext cx="883920" cy="369332"/>
          </a:xfrm>
          <a:prstGeom prst="rect">
            <a:avLst/>
          </a:prstGeom>
          <a:solidFill>
            <a:srgbClr val="FF0000">
              <a:alpha val="4713"/>
            </a:srgb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mic Sans MS" panose="030F0902030302020204" pitchFamily="66" charset="0"/>
              </a:rPr>
              <a:t>Crash</a:t>
            </a:r>
            <a:endParaRPr lang="en-US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939148A-C5D3-05D3-CEB1-62BF34F099B9}"/>
                  </a:ext>
                </a:extLst>
              </p:cNvPr>
              <p:cNvSpPr txBox="1"/>
              <p:nvPr/>
            </p:nvSpPr>
            <p:spPr>
              <a:xfrm>
                <a:off x="7382802" y="2194560"/>
                <a:ext cx="7431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939148A-C5D3-05D3-CEB1-62BF34F09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802" y="2194560"/>
                <a:ext cx="74315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50032D8-D8C5-0CB9-98B9-D5B2CE97DDD2}"/>
                  </a:ext>
                </a:extLst>
              </p:cNvPr>
              <p:cNvSpPr txBox="1"/>
              <p:nvPr/>
            </p:nvSpPr>
            <p:spPr>
              <a:xfrm>
                <a:off x="5266944" y="3698784"/>
                <a:ext cx="376123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FF0000"/>
                    </a:solidFill>
                    <a:latin typeface="Comic Sans MS" panose="030F0902030302020204" pitchFamily="66" charset="0"/>
                    <a:cs typeface="Calibri" panose="020F0502020204030204" pitchFamily="34" charset="0"/>
                  </a:rPr>
                  <a:t>Bad Case</a:t>
                </a:r>
                <a:endParaRPr lang="en-US" sz="1800" dirty="0">
                  <a:latin typeface="Comic Sans MS" panose="030F0902030302020204" pitchFamily="66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  <a:t>At most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𝒄</m:t>
                    </m:r>
                    <m:r>
                      <a:rPr lang="en-GB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  <m:r>
                      <a:rPr lang="en-GB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𝒅</m:t>
                    </m:r>
                  </m:oMath>
                </a14:m>
                <a: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  <a:t> can </a:t>
                </a:r>
                <a:b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</a:br>
                <a:r>
                  <a:rPr lang="en-US" sz="1800" dirty="0">
                    <a:latin typeface="Comic Sans MS" panose="030F0902030302020204" pitchFamily="66" charset="0"/>
                    <a:cs typeface="Calibri" panose="020F0502020204030204" pitchFamily="34" charset="0"/>
                  </a:rPr>
                  <a:t>crash &amp; restart</a:t>
                </a:r>
                <a:endParaRPr lang="en-US" sz="18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50032D8-D8C5-0CB9-98B9-D5B2CE97D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944" y="3698784"/>
                <a:ext cx="3761232" cy="923330"/>
              </a:xfrm>
              <a:prstGeom prst="rect">
                <a:avLst/>
              </a:prstGeom>
              <a:blipFill>
                <a:blip r:embed="rId7"/>
                <a:stretch>
                  <a:fillRect t="-4110" b="-10959"/>
                </a:stretch>
              </a:blipFill>
            </p:spPr>
            <p:txBody>
              <a:bodyPr/>
              <a:lstStyle/>
              <a:p>
                <a:r>
                  <a:rPr lang="es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965DBCA-AC56-6D7B-F30E-AD6645AFB6FD}"/>
                  </a:ext>
                </a:extLst>
              </p:cNvPr>
              <p:cNvSpPr txBox="1"/>
              <p:nvPr/>
            </p:nvSpPr>
            <p:spPr>
              <a:xfrm>
                <a:off x="4090416" y="2040672"/>
                <a:ext cx="79857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sz="4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965DBCA-AC56-6D7B-F30E-AD6645AF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416" y="2040672"/>
                <a:ext cx="798576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61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6" grpId="0" animBg="1"/>
      <p:bldP spid="52" grpId="0" animBg="1"/>
      <p:bldP spid="53" grpId="0"/>
      <p:bldP spid="55" grpId="0" animBg="1"/>
      <p:bldP spid="57" grpId="0"/>
      <p:bldP spid="59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97D7-2606-54DB-8A43-7FD4C980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5625-827B-42E8-06A0-3153A1AF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5697"/>
            <a:ext cx="7886700" cy="326350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Wait-free</a:t>
            </a:r>
            <a:r>
              <a:rPr lang="en-GB" sz="2100" dirty="0">
                <a:latin typeface="Comic Sans MS" panose="030F0902030302020204" pitchFamily="66" charset="0"/>
                <a:cs typeface="Calibri" panose="020F0502020204030204" pitchFamily="34" charset="0"/>
              </a:rPr>
              <a:t> </a:t>
            </a: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atomic</a:t>
            </a:r>
            <a:r>
              <a:rPr lang="en-GB" sz="2100" dirty="0">
                <a:latin typeface="Comic Sans MS" panose="030F0902030302020204" pitchFamily="66" charset="0"/>
                <a:cs typeface="Calibri" panose="020F0502020204030204" pitchFamily="34" charset="0"/>
              </a:rPr>
              <a:t> </a:t>
            </a: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MWMR</a:t>
            </a:r>
            <a:r>
              <a:rPr lang="en-GB" sz="2100" dirty="0">
                <a:latin typeface="Comic Sans MS" panose="030F0902030302020204" pitchFamily="66" charset="0"/>
                <a:cs typeface="Calibri" panose="020F0502020204030204" pitchFamily="34" charset="0"/>
              </a:rPr>
              <a:t> </a:t>
            </a:r>
            <a:r>
              <a:rPr lang="en-GB" sz="2100" dirty="0">
                <a:solidFill>
                  <a:schemeClr val="tx1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register can be implemented </a:t>
            </a:r>
            <a:r>
              <a:rPr lang="en-GB" sz="2100" dirty="0">
                <a:solidFill>
                  <a:srgbClr val="FF00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IFF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20685C-2A98-EAEF-CF69-FD9C1E173010}"/>
                  </a:ext>
                </a:extLst>
              </p:cNvPr>
              <p:cNvSpPr txBox="1"/>
              <p:nvPr/>
            </p:nvSpPr>
            <p:spPr>
              <a:xfrm>
                <a:off x="3259479" y="2143696"/>
                <a:ext cx="1657762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GB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GB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20685C-2A98-EAEF-CF69-FD9C1E173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79" y="2143696"/>
                <a:ext cx="1657762" cy="323165"/>
              </a:xfrm>
              <a:prstGeom prst="rect">
                <a:avLst/>
              </a:prstGeom>
              <a:blipFill>
                <a:blip r:embed="rId3"/>
                <a:stretch>
                  <a:fillRect l="-1838" r="-3309" b="-13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2444F-491D-2A6A-8202-603B1FC3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923528-842E-E05A-4DA6-C56FA7AF9DC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22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Tight Bounds for </a:t>
            </a:r>
            <a:r>
              <a:rPr lang="en-US" dirty="0">
                <a:latin typeface="Comic Sans MS" panose="030F0902030302020204" pitchFamily="66" charset="0"/>
              </a:rPr>
              <a:t>CRR-D(d, c), c ≥ d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6FDF60-C88C-01B2-4F23-1EF63304E805}"/>
              </a:ext>
            </a:extLst>
          </p:cNvPr>
          <p:cNvGraphicFramePr>
            <a:graphicFrameLocks noGrp="1"/>
          </p:cNvGraphicFramePr>
          <p:nvPr/>
        </p:nvGraphicFramePr>
        <p:xfrm>
          <a:off x="1511808" y="3069589"/>
          <a:ext cx="6025242" cy="123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414">
                  <a:extLst>
                    <a:ext uri="{9D8B030D-6E8A-4147-A177-3AD203B41FA5}">
                      <a16:colId xmlns:a16="http://schemas.microsoft.com/office/drawing/2014/main" val="3115380720"/>
                    </a:ext>
                  </a:extLst>
                </a:gridCol>
                <a:gridCol w="2008414">
                  <a:extLst>
                    <a:ext uri="{9D8B030D-6E8A-4147-A177-3AD203B41FA5}">
                      <a16:colId xmlns:a16="http://schemas.microsoft.com/office/drawing/2014/main" val="1937863749"/>
                    </a:ext>
                  </a:extLst>
                </a:gridCol>
                <a:gridCol w="2008414">
                  <a:extLst>
                    <a:ext uri="{9D8B030D-6E8A-4147-A177-3AD203B41FA5}">
                      <a16:colId xmlns:a16="http://schemas.microsoft.com/office/drawing/2014/main" val="3782361545"/>
                    </a:ext>
                  </a:extLst>
                </a:gridCol>
              </a:tblGrid>
              <a:tr h="61940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Best Case Resilience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Good Case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NV storage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42867"/>
                  </a:ext>
                </a:extLst>
              </a:tr>
              <a:tr h="619406">
                <a:tc>
                  <a:txBody>
                    <a:bodyPr/>
                    <a:lstStyle/>
                    <a:p>
                      <a:pPr algn="ctr"/>
                      <a:r>
                        <a:rPr lang="en-US" sz="2100" b="0" i="0" u="none" strike="noStrike" cap="none" dirty="0">
                          <a:solidFill>
                            <a:schemeClr val="dk1"/>
                          </a:solidFill>
                          <a:latin typeface="Comic Sans MS" panose="030F0902030302020204" pitchFamily="66" charset="0"/>
                          <a:ea typeface="+mn-ea"/>
                          <a:cs typeface="+mn-cs"/>
                          <a:sym typeface="Arial"/>
                        </a:rPr>
                        <a:t>CFT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 i="0" u="none" strike="noStrike" cap="none" dirty="0">
                          <a:solidFill>
                            <a:schemeClr val="dk1"/>
                          </a:solidFill>
                          <a:latin typeface="Comic Sans MS" panose="030F0902030302020204" pitchFamily="66" charset="0"/>
                          <a:ea typeface="+mn-ea"/>
                          <a:cs typeface="+mn-cs"/>
                          <a:sym typeface="Arial"/>
                        </a:rPr>
                        <a:t>CFT</a:t>
                      </a:r>
                      <a:endParaRPr lang="en-US" sz="2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663122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21228A9A-B5C1-A656-6150-5DA4874BAA65}"/>
              </a:ext>
            </a:extLst>
          </p:cNvPr>
          <p:cNvGrpSpPr/>
          <p:nvPr/>
        </p:nvGrpSpPr>
        <p:grpSpPr>
          <a:xfrm>
            <a:off x="6518471" y="97536"/>
            <a:ext cx="1987296" cy="938784"/>
            <a:chOff x="5486400" y="1548384"/>
            <a:chExt cx="3334512" cy="179222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9F046FC-DBCA-CFCD-9FCF-358B5ABA70AA}"/>
                </a:ext>
              </a:extLst>
            </p:cNvPr>
            <p:cNvSpPr/>
            <p:nvPr/>
          </p:nvSpPr>
          <p:spPr>
            <a:xfrm>
              <a:off x="5486400" y="1548384"/>
              <a:ext cx="3334512" cy="179222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6E87654-BC95-8F15-963B-3A1677ECE9FC}"/>
                </a:ext>
              </a:extLst>
            </p:cNvPr>
            <p:cNvSpPr/>
            <p:nvPr/>
          </p:nvSpPr>
          <p:spPr>
            <a:xfrm>
              <a:off x="5663184" y="1682496"/>
              <a:ext cx="2572512" cy="1487424"/>
            </a:xfrm>
            <a:prstGeom prst="ellipse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908AB3-138A-2183-3F30-79D80F00BD4C}"/>
                </a:ext>
              </a:extLst>
            </p:cNvPr>
            <p:cNvSpPr/>
            <p:nvPr/>
          </p:nvSpPr>
          <p:spPr>
            <a:xfrm>
              <a:off x="5956912" y="1804414"/>
              <a:ext cx="1413151" cy="1047406"/>
            </a:xfrm>
            <a:prstGeom prst="ellipse">
              <a:avLst/>
            </a:prstGeom>
            <a:pattFill prst="ltVert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96F0A34-502B-C0F3-29D9-67DCA7E49AF4}"/>
                    </a:ext>
                  </a:extLst>
                </p:cNvPr>
                <p:cNvSpPr txBox="1"/>
                <p:nvPr/>
              </p:nvSpPr>
              <p:spPr>
                <a:xfrm>
                  <a:off x="6157505" y="2395728"/>
                  <a:ext cx="767748" cy="4226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1050" dirty="0">
                    <a:solidFill>
                      <a:schemeClr val="tx1"/>
                    </a:solidFill>
                    <a:latin typeface="Comic Sans MS" panose="030F0902030302020204" pitchFamily="66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96F0A34-502B-C0F3-29D9-67DCA7E49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7505" y="2395728"/>
                  <a:ext cx="767748" cy="422601"/>
                </a:xfrm>
                <a:prstGeom prst="rect">
                  <a:avLst/>
                </a:prstGeom>
                <a:blipFill>
                  <a:blip r:embed="rId4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38EA92-1944-E7D6-5EEF-23612BCC7632}"/>
                </a:ext>
              </a:extLst>
            </p:cNvPr>
            <p:cNvSpPr txBox="1"/>
            <p:nvPr/>
          </p:nvSpPr>
          <p:spPr>
            <a:xfrm>
              <a:off x="6108191" y="1937041"/>
              <a:ext cx="883920" cy="372882"/>
            </a:xfrm>
            <a:prstGeom prst="rect">
              <a:avLst/>
            </a:prstGeom>
            <a:solidFill>
              <a:srgbClr val="FF0000">
                <a:alpha val="4713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Crash</a:t>
              </a:r>
              <a:endParaRPr lang="en-US" sz="9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B6C3EE1-4D88-15BB-0739-E7D3EFADED99}"/>
                    </a:ext>
                  </a:extLst>
                </p:cNvPr>
                <p:cNvSpPr txBox="1"/>
                <p:nvPr/>
              </p:nvSpPr>
              <p:spPr>
                <a:xfrm>
                  <a:off x="7382802" y="2194560"/>
                  <a:ext cx="727941" cy="4226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GB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US" sz="1050" dirty="0">
                    <a:solidFill>
                      <a:schemeClr val="tx1"/>
                    </a:solidFill>
                    <a:latin typeface="Comic Sans MS" panose="030F0902030302020204" pitchFamily="66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B6C3EE1-4D88-15BB-0739-E7D3EFADE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2802" y="2194560"/>
                  <a:ext cx="727941" cy="422601"/>
                </a:xfrm>
                <a:prstGeom prst="rect">
                  <a:avLst/>
                </a:prstGeom>
                <a:blipFill>
                  <a:blip r:embed="rId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818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5524-0B43-371F-E20D-25747E75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AF277A69-442C-7051-DEA9-B98826AC1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788" y="88511"/>
            <a:ext cx="1577370" cy="108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A321EB-A243-5719-29BA-2F210DC3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Upper Bounds for </a:t>
            </a:r>
            <a:r>
              <a:rPr lang="en-US" dirty="0">
                <a:latin typeface="Comic Sans MS" panose="030F0902030302020204" pitchFamily="66" charset="0"/>
              </a:rPr>
              <a:t>CRR-D(d, c)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6DC61-3191-55CE-DB31-AC7293FA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75805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solidFill>
                  <a:srgbClr val="FF0000"/>
                </a:solidFill>
                <a:latin typeface="Comic Sans MS" panose="030F0902030302020204" pitchFamily="66" charset="0"/>
              </a:rPr>
              <a:t>TEE-Rex</a:t>
            </a:r>
            <a:r>
              <a:rPr lang="en-US" sz="2400" dirty="0"/>
              <a:t>: New Wait-Free Atomic MWMR Register Construction</a:t>
            </a:r>
          </a:p>
          <a:p>
            <a:endParaRPr lang="en-US" dirty="0"/>
          </a:p>
          <a:p>
            <a:r>
              <a:rPr lang="en-US" dirty="0"/>
              <a:t>Incorporates novel </a:t>
            </a:r>
            <a:r>
              <a:rPr lang="en-US" dirty="0">
                <a:solidFill>
                  <a:srgbClr val="FF0000"/>
                </a:solidFill>
              </a:rPr>
              <a:t>distributed state recovery protocol </a:t>
            </a:r>
            <a:r>
              <a:rPr lang="en-US" dirty="0"/>
              <a:t>on restart to guarantee </a:t>
            </a:r>
            <a:r>
              <a:rPr lang="en-US" dirty="0">
                <a:solidFill>
                  <a:srgbClr val="7030A0"/>
                </a:solidFill>
              </a:rPr>
              <a:t>termination</a:t>
            </a:r>
            <a:r>
              <a:rPr lang="en-US" dirty="0"/>
              <a:t> in the </a:t>
            </a:r>
            <a:r>
              <a:rPr lang="en-US" dirty="0">
                <a:solidFill>
                  <a:srgbClr val="7030A0"/>
                </a:solidFill>
              </a:rPr>
              <a:t>good case </a:t>
            </a:r>
            <a:r>
              <a:rPr lang="en-US" dirty="0"/>
              <a:t>executions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First</a:t>
            </a:r>
            <a:r>
              <a:rPr lang="en-US" dirty="0"/>
              <a:t> correct implementation under </a:t>
            </a:r>
            <a:r>
              <a:rPr lang="en-US" dirty="0">
                <a:solidFill>
                  <a:srgbClr val="7030A0"/>
                </a:solidFill>
              </a:rPr>
              <a:t>asynchrony</a:t>
            </a:r>
            <a:r>
              <a:rPr lang="en-US" dirty="0"/>
              <a:t> &amp; </a:t>
            </a:r>
            <a:r>
              <a:rPr lang="en-US" dirty="0">
                <a:solidFill>
                  <a:srgbClr val="7030A0"/>
                </a:solidFill>
              </a:rPr>
              <a:t>without</a:t>
            </a:r>
            <a:r>
              <a:rPr lang="en-US" dirty="0"/>
              <a:t> stable storage</a:t>
            </a:r>
          </a:p>
          <a:p>
            <a:endParaRPr lang="en-US" dirty="0"/>
          </a:p>
          <a:p>
            <a:r>
              <a:rPr lang="en-US" dirty="0"/>
              <a:t>Uncovers </a:t>
            </a:r>
            <a:r>
              <a:rPr lang="en-US" dirty="0">
                <a:solidFill>
                  <a:srgbClr val="FF0000"/>
                </a:solidFill>
              </a:rPr>
              <a:t>bugs</a:t>
            </a:r>
            <a:r>
              <a:rPr lang="en-US" dirty="0"/>
              <a:t> in 7 key prior publications</a:t>
            </a:r>
          </a:p>
          <a:p>
            <a:pPr lvl="1"/>
            <a:r>
              <a:rPr lang="en-US" dirty="0"/>
              <a:t>PODC, DISC, USENIX Security, CCS, NDSS,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B81F8-3738-A705-C708-48E031EAA8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lvl="0"/>
            <a:fld id="{00000000-1234-1234-1234-123412341234}" type="slidenum">
              <a:rPr lang="en-GB" smtClean="0"/>
              <a:pPr lvl="0"/>
              <a:t>12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F550C-400F-3F12-3F5A-32C249070B55}"/>
              </a:ext>
            </a:extLst>
          </p:cNvPr>
          <p:cNvSpPr txBox="1"/>
          <p:nvPr/>
        </p:nvSpPr>
        <p:spPr>
          <a:xfrm>
            <a:off x="7478280" y="1066462"/>
            <a:ext cx="1508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</a:t>
            </a:r>
            <a:r>
              <a:rPr lang="en-GB" b="1" dirty="0"/>
              <a:t>K</a:t>
            </a:r>
            <a:r>
              <a:rPr lang="en-GB" dirty="0"/>
              <a:t>CG - DISC’25]</a:t>
            </a:r>
          </a:p>
        </p:txBody>
      </p:sp>
    </p:spTree>
    <p:extLst>
      <p:ext uri="{BB962C8B-B14F-4D97-AF65-F5344CB8AC3E}">
        <p14:creationId xmlns:p14="http://schemas.microsoft.com/office/powerpoint/2010/main" val="223219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C08677C5-5137-30E1-5737-1CF4A349E713}"/>
              </a:ext>
            </a:extLst>
          </p:cNvPr>
          <p:cNvGrpSpPr/>
          <p:nvPr/>
        </p:nvGrpSpPr>
        <p:grpSpPr>
          <a:xfrm>
            <a:off x="4171905" y="3650287"/>
            <a:ext cx="4015818" cy="1158887"/>
            <a:chOff x="4171905" y="2832138"/>
            <a:chExt cx="4015818" cy="1158887"/>
          </a:xfrm>
        </p:grpSpPr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8430E8AF-CB92-AB1A-FACD-69CCB400C6BD}"/>
                </a:ext>
              </a:extLst>
            </p:cNvPr>
            <p:cNvSpPr>
              <a:spLocks/>
            </p:cNvSpPr>
            <p:nvPr/>
          </p:nvSpPr>
          <p:spPr>
            <a:xfrm>
              <a:off x="4171905" y="2832138"/>
              <a:ext cx="4015818" cy="1158887"/>
            </a:xfrm>
            <a:prstGeom prst="roundRect">
              <a:avLst/>
            </a:prstGeom>
            <a:solidFill>
              <a:schemeClr val="accent2">
                <a:lumMod val="25000"/>
                <a:lumOff val="75000"/>
                <a:alpha val="9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Rounded Rectangle 17">
              <a:extLst>
                <a:ext uri="{FF2B5EF4-FFF2-40B4-BE49-F238E27FC236}">
                  <a16:creationId xmlns:a16="http://schemas.microsoft.com/office/drawing/2014/main" id="{255D37D1-F19C-750C-23AD-C64127408071}"/>
                </a:ext>
              </a:extLst>
            </p:cNvPr>
            <p:cNvSpPr/>
            <p:nvPr/>
          </p:nvSpPr>
          <p:spPr>
            <a:xfrm>
              <a:off x="5588150" y="3277527"/>
              <a:ext cx="1175028" cy="594242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C6319C-09ED-8DDD-C369-FEEE16159462}"/>
                </a:ext>
              </a:extLst>
            </p:cNvPr>
            <p:cNvSpPr txBox="1"/>
            <p:nvPr/>
          </p:nvSpPr>
          <p:spPr>
            <a:xfrm>
              <a:off x="5887101" y="3281808"/>
              <a:ext cx="571237" cy="247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TEE</a:t>
              </a:r>
            </a:p>
          </p:txBody>
        </p:sp>
        <p:pic>
          <p:nvPicPr>
            <p:cNvPr id="16" name="Graphic 15" descr="Lock with solid fill">
              <a:extLst>
                <a:ext uri="{FF2B5EF4-FFF2-40B4-BE49-F238E27FC236}">
                  <a16:creationId xmlns:a16="http://schemas.microsoft.com/office/drawing/2014/main" id="{296189D3-F3F3-9A65-5400-FA7241258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0915" y="3406169"/>
              <a:ext cx="479034" cy="45025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BCDCC5-4938-40B7-F4AA-38664E195D3C}"/>
                </a:ext>
              </a:extLst>
            </p:cNvPr>
            <p:cNvSpPr txBox="1"/>
            <p:nvPr/>
          </p:nvSpPr>
          <p:spPr>
            <a:xfrm>
              <a:off x="5662256" y="2832139"/>
              <a:ext cx="13848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</a:rPr>
                <a:t>Process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79CB141-3448-ED4B-1A68-1FDC8D2A4073}"/>
              </a:ext>
            </a:extLst>
          </p:cNvPr>
          <p:cNvGrpSpPr/>
          <p:nvPr/>
        </p:nvGrpSpPr>
        <p:grpSpPr>
          <a:xfrm>
            <a:off x="4339787" y="4052824"/>
            <a:ext cx="3684698" cy="655938"/>
            <a:chOff x="4339787" y="3234675"/>
            <a:chExt cx="3684698" cy="655938"/>
          </a:xfrm>
        </p:grpSpPr>
        <p:sp>
          <p:nvSpPr>
            <p:cNvPr id="7" name="Rounded Rectangle 17">
              <a:extLst>
                <a:ext uri="{FF2B5EF4-FFF2-40B4-BE49-F238E27FC236}">
                  <a16:creationId xmlns:a16="http://schemas.microsoft.com/office/drawing/2014/main" id="{DBCC1A79-977D-1879-7BA7-C5E678EAAFC5}"/>
                </a:ext>
              </a:extLst>
            </p:cNvPr>
            <p:cNvSpPr/>
            <p:nvPr/>
          </p:nvSpPr>
          <p:spPr>
            <a:xfrm>
              <a:off x="6849457" y="3268098"/>
              <a:ext cx="1175028" cy="59424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66182A-9DFE-131C-DA80-65DA3FD99022}"/>
                </a:ext>
              </a:extLst>
            </p:cNvPr>
            <p:cNvSpPr txBox="1"/>
            <p:nvPr/>
          </p:nvSpPr>
          <p:spPr>
            <a:xfrm>
              <a:off x="7148408" y="3234675"/>
              <a:ext cx="571237" cy="247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TEE</a:t>
              </a:r>
            </a:p>
          </p:txBody>
        </p:sp>
        <p:pic>
          <p:nvPicPr>
            <p:cNvPr id="9" name="Graphic 8" descr="Lock with solid fill">
              <a:extLst>
                <a:ext uri="{FF2B5EF4-FFF2-40B4-BE49-F238E27FC236}">
                  <a16:creationId xmlns:a16="http://schemas.microsoft.com/office/drawing/2014/main" id="{BED37459-1FE6-1B48-79A4-349F7AC9F3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92222" y="3359035"/>
              <a:ext cx="479034" cy="450250"/>
            </a:xfrm>
            <a:prstGeom prst="rect">
              <a:avLst/>
            </a:prstGeom>
          </p:spPr>
        </p:pic>
        <p:sp>
          <p:nvSpPr>
            <p:cNvPr id="11" name="Rounded Rectangle 17">
              <a:extLst>
                <a:ext uri="{FF2B5EF4-FFF2-40B4-BE49-F238E27FC236}">
                  <a16:creationId xmlns:a16="http://schemas.microsoft.com/office/drawing/2014/main" id="{C0098486-8B19-93DC-7980-5412A0DD6C72}"/>
                </a:ext>
              </a:extLst>
            </p:cNvPr>
            <p:cNvSpPr/>
            <p:nvPr/>
          </p:nvSpPr>
          <p:spPr>
            <a:xfrm>
              <a:off x="4339787" y="3296371"/>
              <a:ext cx="1175028" cy="594242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97F034-C0F4-4C39-9162-090B0879E476}"/>
                </a:ext>
              </a:extLst>
            </p:cNvPr>
            <p:cNvSpPr txBox="1"/>
            <p:nvPr/>
          </p:nvSpPr>
          <p:spPr>
            <a:xfrm>
              <a:off x="4638738" y="3300659"/>
              <a:ext cx="571237" cy="247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TEE</a:t>
              </a:r>
            </a:p>
          </p:txBody>
        </p:sp>
        <p:pic>
          <p:nvPicPr>
            <p:cNvPr id="13" name="Graphic 12" descr="Lock with solid fill">
              <a:extLst>
                <a:ext uri="{FF2B5EF4-FFF2-40B4-BE49-F238E27FC236}">
                  <a16:creationId xmlns:a16="http://schemas.microsoft.com/office/drawing/2014/main" id="{63995E8F-CEFD-F79B-2E70-99EDF8F17B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82552" y="3425017"/>
              <a:ext cx="479034" cy="450250"/>
            </a:xfrm>
            <a:prstGeom prst="rect">
              <a:avLst/>
            </a:prstGeom>
          </p:spPr>
        </p:pic>
      </p:grpSp>
      <p:pic>
        <p:nvPicPr>
          <p:cNvPr id="20" name="Graphic 19" descr="Devil face with solid fill with solid fill">
            <a:extLst>
              <a:ext uri="{FF2B5EF4-FFF2-40B4-BE49-F238E27FC236}">
                <a16:creationId xmlns:a16="http://schemas.microsoft.com/office/drawing/2014/main" id="{87B2908E-8CCF-D6E7-C069-049DB34E8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8319" y="3511866"/>
            <a:ext cx="615398" cy="6153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FAF352-B88A-A844-6436-C2D3A80C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Ongoing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6ECD-C0DC-F94B-EFE8-4ADFFA92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4"/>
            <a:ext cx="8520600" cy="3024889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Forking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 resistance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Multiple enclaves in a process</a:t>
            </a:r>
          </a:p>
          <a:p>
            <a:pPr lvl="2"/>
            <a:r>
              <a:rPr lang="en-GB" sz="2200" dirty="0">
                <a:solidFill>
                  <a:schemeClr val="tx1"/>
                </a:solidFill>
                <a:latin typeface="Calibri" panose="020F0502020204030204" pitchFamily="34" charset="0"/>
              </a:rPr>
              <a:t>Same code, </a:t>
            </a:r>
            <a:r>
              <a:rPr lang="en-GB" sz="2200" dirty="0">
                <a:solidFill>
                  <a:srgbClr val="7030A0"/>
                </a:solidFill>
                <a:latin typeface="Calibri" panose="020F0502020204030204" pitchFamily="34" charset="0"/>
              </a:rPr>
              <a:t>different</a:t>
            </a:r>
            <a:r>
              <a:rPr lang="en-GB" sz="2200" dirty="0">
                <a:solidFill>
                  <a:schemeClr val="tx1"/>
                </a:solidFill>
                <a:latin typeface="Calibri" panose="020F0502020204030204" pitchFamily="34" charset="0"/>
              </a:rPr>
              <a:t> state</a:t>
            </a:r>
          </a:p>
          <a:p>
            <a:pPr lvl="3"/>
            <a:r>
              <a:rPr lang="en-GB" sz="2200" dirty="0">
                <a:solidFill>
                  <a:srgbClr val="FF0000"/>
                </a:solidFill>
                <a:latin typeface="Comic Sans MS" panose="030F0702030302020204" pitchFamily="66" charset="0"/>
              </a:rPr>
              <a:t>Equivocation!</a:t>
            </a:r>
          </a:p>
          <a:p>
            <a:pPr lvl="1"/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596900" lvl="1" indent="0">
              <a:buNone/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/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8B86C-98CF-A174-761A-B832CBB3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505D096-126A-6BC8-2001-22D2050ABCA3}"/>
              </a:ext>
            </a:extLst>
          </p:cNvPr>
          <p:cNvGrpSpPr/>
          <p:nvPr/>
        </p:nvGrpSpPr>
        <p:grpSpPr>
          <a:xfrm>
            <a:off x="5066434" y="4245363"/>
            <a:ext cx="2972012" cy="470098"/>
            <a:chOff x="5066434" y="3427214"/>
            <a:chExt cx="2972012" cy="470098"/>
          </a:xfrm>
        </p:grpSpPr>
        <p:pic>
          <p:nvPicPr>
            <p:cNvPr id="23" name="Graphic 22" descr="Devil face with solid fill with solid fill">
              <a:extLst>
                <a:ext uri="{FF2B5EF4-FFF2-40B4-BE49-F238E27FC236}">
                  <a16:creationId xmlns:a16="http://schemas.microsoft.com/office/drawing/2014/main" id="{999D94D4-7763-F420-A4C6-5589F2F124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66434" y="3447062"/>
              <a:ext cx="450250" cy="450250"/>
            </a:xfrm>
            <a:prstGeom prst="rect">
              <a:avLst/>
            </a:prstGeom>
          </p:spPr>
        </p:pic>
        <p:pic>
          <p:nvPicPr>
            <p:cNvPr id="24" name="Graphic 23" descr="Devil face with solid fill with solid fill">
              <a:extLst>
                <a:ext uri="{FF2B5EF4-FFF2-40B4-BE49-F238E27FC236}">
                  <a16:creationId xmlns:a16="http://schemas.microsoft.com/office/drawing/2014/main" id="{12191AAF-853D-97F4-4FDA-09AC5C6A8B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23308" y="3427214"/>
              <a:ext cx="450250" cy="450250"/>
            </a:xfrm>
            <a:prstGeom prst="rect">
              <a:avLst/>
            </a:prstGeom>
          </p:spPr>
        </p:pic>
        <p:pic>
          <p:nvPicPr>
            <p:cNvPr id="25" name="Graphic 24" descr="Devil face with solid fill with solid fill">
              <a:extLst>
                <a:ext uri="{FF2B5EF4-FFF2-40B4-BE49-F238E27FC236}">
                  <a16:creationId xmlns:a16="http://schemas.microsoft.com/office/drawing/2014/main" id="{32316588-D9BC-D6BE-524C-252AB9FF9F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88196" y="3428208"/>
              <a:ext cx="450250" cy="450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76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AACD-41CF-B28C-40D1-518C2423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C076-A8A3-0845-B3C3-A6365654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Ongoing work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7CBB8-9D76-B6CD-7F9E-6F89F18D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3730610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7030A0"/>
                </a:solidFill>
                <a:latin typeface="Calibri" panose="020F0502020204030204" pitchFamily="34" charset="0"/>
              </a:rPr>
              <a:t>Generalise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 the dynamic model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Protocol-independent benchmark</a:t>
            </a:r>
          </a:p>
          <a:p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endParaRPr lang="en-GB" sz="2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Superior to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reconfiguration?</a:t>
            </a:r>
          </a:p>
          <a:p>
            <a:pPr lvl="1"/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Better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GB" sz="2400" dirty="0">
                <a:solidFill>
                  <a:srgbClr val="00B050"/>
                </a:solidFill>
                <a:latin typeface="Calibri" panose="020F0502020204030204" pitchFamily="34" charset="0"/>
              </a:rPr>
              <a:t>resilience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87544-006C-7DFA-99C6-ED87BC01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29" name="Picture 28" descr="iOS 26.4">
            <a:extLst>
              <a:ext uri="{FF2B5EF4-FFF2-40B4-BE49-F238E27FC236}">
                <a16:creationId xmlns:a16="http://schemas.microsoft.com/office/drawing/2014/main" id="{1B738280-336A-24CA-3F4A-E517576F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58" y="3415737"/>
            <a:ext cx="575288" cy="575288"/>
          </a:xfrm>
          <a:prstGeom prst="rect">
            <a:avLst/>
          </a:prstGeom>
        </p:spPr>
      </p:pic>
      <p:sp>
        <p:nvSpPr>
          <p:cNvPr id="30" name="Thought Bubble: Cloud 29">
            <a:extLst>
              <a:ext uri="{FF2B5EF4-FFF2-40B4-BE49-F238E27FC236}">
                <a16:creationId xmlns:a16="http://schemas.microsoft.com/office/drawing/2014/main" id="{4A4F0FFF-2ED1-B4A9-B3BF-947B5A69E693}"/>
              </a:ext>
            </a:extLst>
          </p:cNvPr>
          <p:cNvSpPr/>
          <p:nvPr/>
        </p:nvSpPr>
        <p:spPr>
          <a:xfrm>
            <a:off x="4572000" y="2337594"/>
            <a:ext cx="1618936" cy="989141"/>
          </a:xfrm>
          <a:prstGeom prst="cloudCallout">
            <a:avLst>
              <a:gd name="adj1" fmla="val 54793"/>
              <a:gd name="adj2" fmla="val 7012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Recover</a:t>
            </a:r>
            <a:endParaRPr lang="en-GB" sz="1600" dirty="0"/>
          </a:p>
        </p:txBody>
      </p:sp>
      <p:sp>
        <p:nvSpPr>
          <p:cNvPr id="31" name="Thought Bubble: Cloud 30">
            <a:extLst>
              <a:ext uri="{FF2B5EF4-FFF2-40B4-BE49-F238E27FC236}">
                <a16:creationId xmlns:a16="http://schemas.microsoft.com/office/drawing/2014/main" id="{78BEAA50-9C45-F615-7BBC-5BDEE3C6819C}"/>
              </a:ext>
            </a:extLst>
          </p:cNvPr>
          <p:cNvSpPr/>
          <p:nvPr/>
        </p:nvSpPr>
        <p:spPr>
          <a:xfrm>
            <a:off x="6628446" y="2244856"/>
            <a:ext cx="2239701" cy="989141"/>
          </a:xfrm>
          <a:prstGeom prst="cloudCallout">
            <a:avLst>
              <a:gd name="adj1" fmla="val -39537"/>
              <a:gd name="adj2" fmla="val 83466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Reconfigure</a:t>
            </a:r>
          </a:p>
        </p:txBody>
      </p:sp>
    </p:spTree>
    <p:extLst>
      <p:ext uri="{BB962C8B-B14F-4D97-AF65-F5344CB8AC3E}">
        <p14:creationId xmlns:p14="http://schemas.microsoft.com/office/powerpoint/2010/main" val="196843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4331-A1DD-ACA2-CD7A-8AB6F035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3D98-6016-1A3A-B453-344CEF5E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Ongoing work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B3342-9990-BBD4-67D5-85AD91CEE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3730610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Harder problems</a:t>
            </a:r>
          </a:p>
          <a:p>
            <a:pPr lvl="1"/>
            <a:r>
              <a:rPr lang="en-GB" sz="2200" dirty="0">
                <a:solidFill>
                  <a:srgbClr val="FF0000"/>
                </a:solidFill>
                <a:latin typeface="Calibri" panose="020F0502020204030204" pitchFamily="34" charset="0"/>
              </a:rPr>
              <a:t>Consensus</a:t>
            </a:r>
          </a:p>
          <a:p>
            <a:pPr lvl="2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Partial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GB" sz="2000" dirty="0">
                <a:solidFill>
                  <a:srgbClr val="7030A0"/>
                </a:solidFill>
                <a:latin typeface="Calibri" panose="020F0502020204030204" pitchFamily="34" charset="0"/>
              </a:rPr>
              <a:t>synchrony</a:t>
            </a:r>
          </a:p>
          <a:p>
            <a:pPr lvl="1"/>
            <a:r>
              <a:rPr lang="en-GB" sz="2200" dirty="0">
                <a:solidFill>
                  <a:schemeClr val="tx1"/>
                </a:solidFill>
                <a:latin typeface="Calibri" panose="020F0502020204030204" pitchFamily="34" charset="0"/>
              </a:rPr>
              <a:t>State-Machine 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Replication</a:t>
            </a:r>
          </a:p>
          <a:p>
            <a:pPr lvl="2"/>
            <a:r>
              <a:rPr lang="en-GB" sz="1800" dirty="0">
                <a:solidFill>
                  <a:schemeClr val="tx1"/>
                </a:solidFill>
                <a:latin typeface="Calibri" panose="020F0502020204030204" pitchFamily="34" charset="0"/>
              </a:rPr>
              <a:t>Minimal </a:t>
            </a: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</a:rPr>
              <a:t>Trusted Code 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AD180-120C-3A01-7440-582AF7C0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BCBB1DB-6D3D-3A6E-3C0E-1EEE31CCCA18}"/>
              </a:ext>
            </a:extLst>
          </p:cNvPr>
          <p:cNvGrpSpPr/>
          <p:nvPr/>
        </p:nvGrpSpPr>
        <p:grpSpPr>
          <a:xfrm>
            <a:off x="5996901" y="788458"/>
            <a:ext cx="2018613" cy="3413280"/>
            <a:chOff x="5996901" y="788458"/>
            <a:chExt cx="2018613" cy="3413280"/>
          </a:xfrm>
        </p:grpSpPr>
        <p:sp>
          <p:nvSpPr>
            <p:cNvPr id="12" name="Can 43">
              <a:extLst>
                <a:ext uri="{FF2B5EF4-FFF2-40B4-BE49-F238E27FC236}">
                  <a16:creationId xmlns:a16="http://schemas.microsoft.com/office/drawing/2014/main" id="{0BCD3A9E-FAFA-5FD8-5814-912C1F4D0704}"/>
                </a:ext>
              </a:extLst>
            </p:cNvPr>
            <p:cNvSpPr/>
            <p:nvPr/>
          </p:nvSpPr>
          <p:spPr>
            <a:xfrm>
              <a:off x="6774124" y="3333257"/>
              <a:ext cx="756055" cy="868481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" name="Rounded Rectangle 33">
              <a:extLst>
                <a:ext uri="{FF2B5EF4-FFF2-40B4-BE49-F238E27FC236}">
                  <a16:creationId xmlns:a16="http://schemas.microsoft.com/office/drawing/2014/main" id="{AA8AE2D5-3761-8B0C-509C-6908D3DF41C1}"/>
                </a:ext>
              </a:extLst>
            </p:cNvPr>
            <p:cNvSpPr/>
            <p:nvPr/>
          </p:nvSpPr>
          <p:spPr>
            <a:xfrm>
              <a:off x="5997767" y="2571750"/>
              <a:ext cx="2017747" cy="55171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7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OS</a:t>
              </a:r>
            </a:p>
          </p:txBody>
        </p:sp>
        <p:sp>
          <p:nvSpPr>
            <p:cNvPr id="6" name="Rounded Rectangle 37">
              <a:extLst>
                <a:ext uri="{FF2B5EF4-FFF2-40B4-BE49-F238E27FC236}">
                  <a16:creationId xmlns:a16="http://schemas.microsoft.com/office/drawing/2014/main" id="{3330234F-7AAC-52BF-51CA-D4CF6041EED6}"/>
                </a:ext>
              </a:extLst>
            </p:cNvPr>
            <p:cNvSpPr/>
            <p:nvPr/>
          </p:nvSpPr>
          <p:spPr>
            <a:xfrm>
              <a:off x="5996901" y="800441"/>
              <a:ext cx="2018613" cy="1616966"/>
            </a:xfrm>
            <a:prstGeom prst="roundRect">
              <a:avLst/>
            </a:prstGeom>
            <a:solidFill>
              <a:schemeClr val="accent2">
                <a:lumMod val="25000"/>
                <a:lumOff val="75000"/>
                <a:alpha val="9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" name="TextBox 38">
              <a:extLst>
                <a:ext uri="{FF2B5EF4-FFF2-40B4-BE49-F238E27FC236}">
                  <a16:creationId xmlns:a16="http://schemas.microsoft.com/office/drawing/2014/main" id="{35DBA955-CF5A-EA64-648A-D39577FE91B7}"/>
                </a:ext>
              </a:extLst>
            </p:cNvPr>
            <p:cNvSpPr txBox="1"/>
            <p:nvPr/>
          </p:nvSpPr>
          <p:spPr>
            <a:xfrm>
              <a:off x="6526533" y="788458"/>
              <a:ext cx="104448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</a:rPr>
                <a:t>Process</a:t>
              </a:r>
              <a:endParaRPr lang="en-US" sz="1600" dirty="0"/>
            </a:p>
          </p:txBody>
        </p:sp>
        <p:grpSp>
          <p:nvGrpSpPr>
            <p:cNvPr id="8" name="Group 39">
              <a:extLst>
                <a:ext uri="{FF2B5EF4-FFF2-40B4-BE49-F238E27FC236}">
                  <a16:creationId xmlns:a16="http://schemas.microsoft.com/office/drawing/2014/main" id="{6CCAEFD7-16BE-35C6-E712-0585D191D213}"/>
                </a:ext>
              </a:extLst>
            </p:cNvPr>
            <p:cNvGrpSpPr/>
            <p:nvPr/>
          </p:nvGrpSpPr>
          <p:grpSpPr>
            <a:xfrm>
              <a:off x="6314628" y="1286201"/>
              <a:ext cx="1370686" cy="737506"/>
              <a:chOff x="5982614" y="1878694"/>
              <a:chExt cx="1370686" cy="737506"/>
            </a:xfrm>
          </p:grpSpPr>
          <p:sp>
            <p:nvSpPr>
              <p:cNvPr id="9" name="Rounded Rectangle 40">
                <a:extLst>
                  <a:ext uri="{FF2B5EF4-FFF2-40B4-BE49-F238E27FC236}">
                    <a16:creationId xmlns:a16="http://schemas.microsoft.com/office/drawing/2014/main" id="{23A5FE5C-4408-244C-3AA5-89710FDBC17D}"/>
                  </a:ext>
                </a:extLst>
              </p:cNvPr>
              <p:cNvSpPr/>
              <p:nvPr/>
            </p:nvSpPr>
            <p:spPr>
              <a:xfrm>
                <a:off x="5982614" y="1878694"/>
                <a:ext cx="1370686" cy="737506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41">
                <a:extLst>
                  <a:ext uri="{FF2B5EF4-FFF2-40B4-BE49-F238E27FC236}">
                    <a16:creationId xmlns:a16="http://schemas.microsoft.com/office/drawing/2014/main" id="{E16944A5-6010-3950-655D-7AA4BC27D89B}"/>
                  </a:ext>
                </a:extLst>
              </p:cNvPr>
              <p:cNvSpPr txBox="1"/>
              <p:nvPr/>
            </p:nvSpPr>
            <p:spPr>
              <a:xfrm>
                <a:off x="6331344" y="1884007"/>
                <a:ext cx="6663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/>
                  <a:t>TEE</a:t>
                </a:r>
              </a:p>
            </p:txBody>
          </p:sp>
          <p:pic>
            <p:nvPicPr>
              <p:cNvPr id="11" name="Graphic 42" descr="Lock with solid fill">
                <a:extLst>
                  <a:ext uri="{FF2B5EF4-FFF2-40B4-BE49-F238E27FC236}">
                    <a16:creationId xmlns:a16="http://schemas.microsoft.com/office/drawing/2014/main" id="{B3DE2D67-6D8F-FA94-A2C2-5E147DC242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032500" y="2038350"/>
                <a:ext cx="558800" cy="558800"/>
              </a:xfrm>
              <a:prstGeom prst="rect">
                <a:avLst/>
              </a:prstGeom>
            </p:spPr>
          </p:pic>
        </p:grpSp>
        <p:pic>
          <p:nvPicPr>
            <p:cNvPr id="13" name="Graphic 58" descr="Devil face with solid fill with solid fill">
              <a:extLst>
                <a:ext uri="{FF2B5EF4-FFF2-40B4-BE49-F238E27FC236}">
                  <a16:creationId xmlns:a16="http://schemas.microsoft.com/office/drawing/2014/main" id="{41516EF5-9A30-0B41-1683-454BA2361D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11130" y="2534920"/>
              <a:ext cx="615398" cy="615398"/>
            </a:xfrm>
            <a:prstGeom prst="rect">
              <a:avLst/>
            </a:prstGeom>
          </p:spPr>
        </p:pic>
      </p:grpSp>
      <p:pic>
        <p:nvPicPr>
          <p:cNvPr id="17" name="Imagen 16" descr="iOS 26.4">
            <a:extLst>
              <a:ext uri="{FF2B5EF4-FFF2-40B4-BE49-F238E27FC236}">
                <a16:creationId xmlns:a16="http://schemas.microsoft.com/office/drawing/2014/main" id="{EC85EBED-3D7E-D7E6-3A4D-FD046264F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53" y="3285068"/>
            <a:ext cx="1016000" cy="101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442AC0-4A02-1B27-60A2-8DF3A4D6E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392" y="1544202"/>
            <a:ext cx="418863" cy="4188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739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97C4E1-A5C7-0012-6E12-959BBDD3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30AB-D981-4A6F-A6B9-73A77DE2D4C6}" type="slidenum">
              <a:rPr lang="en-GB" smtClean="0"/>
              <a:t>16</a:t>
            </a:fld>
            <a:endParaRPr lang="en-GB"/>
          </a:p>
        </p:txBody>
      </p:sp>
      <p:pic>
        <p:nvPicPr>
          <p:cNvPr id="3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4D8C86BA-A660-838F-CED1-413E8C314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1290" y="3012742"/>
            <a:ext cx="1877798" cy="128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Thought bubble outline">
            <a:extLst>
              <a:ext uri="{FF2B5EF4-FFF2-40B4-BE49-F238E27FC236}">
                <a16:creationId xmlns:a16="http://schemas.microsoft.com/office/drawing/2014/main" id="{5BB2B2AA-83A3-11A8-F84D-8FD09EEA6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392" y="230886"/>
            <a:ext cx="3749040" cy="3749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BBC825-E4B2-2FF9-8EE3-134660A1C1DD}"/>
              </a:ext>
            </a:extLst>
          </p:cNvPr>
          <p:cNvSpPr txBox="1"/>
          <p:nvPr/>
        </p:nvSpPr>
        <p:spPr>
          <a:xfrm>
            <a:off x="2566416" y="1357920"/>
            <a:ext cx="2859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Thank You!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00084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C5024D-BFDF-124E-7CCF-786C5CE1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045867-0996-CB48-B34E-B3B18446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AAB00E5E-9E79-CD52-0FB3-6298179B4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5696"/>
                <a:ext cx="7886700" cy="3603467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ABD-style algorithms with </a:t>
                </a:r>
                <a:r>
                  <a:rPr lang="en-GB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custom</a:t>
                </a:r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read/write quorum systems</a:t>
                </a:r>
              </a:p>
              <a:p>
                <a:pPr marL="114300" indent="0">
                  <a:buNone/>
                </a:pPr>
                <a:endParaRPr lang="en-GB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 </a:t>
                </a:r>
                <a:r>
                  <a:rPr lang="en-GB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not</a:t>
                </a:r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require non-trivial </a:t>
                </a:r>
                <a:r>
                  <a:rPr lang="en-GB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state recovery </a:t>
                </a:r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on restart!</a:t>
                </a:r>
              </a:p>
              <a:p>
                <a:pPr lvl="1"/>
                <a:endParaRPr lang="en-GB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𝓐</m:t>
                        </m:r>
                      </m:e>
                      <m:sub>
                        <m:r>
                          <a:rPr lang="en-GB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: </a:t>
                </a:r>
                <a:r>
                  <a:rPr lang="en-GB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no</a:t>
                </a:r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 state recovery is needed</a:t>
                </a:r>
              </a:p>
              <a:p>
                <a:pPr lvl="1"/>
                <a:endParaRPr lang="en-GB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𝓐</m:t>
                        </m:r>
                      </m:e>
                      <m:sub>
                        <m:r>
                          <a:rPr lang="en-GB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≥2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: restarted process marks itself as </a:t>
                </a:r>
                <a:r>
                  <a:rPr lang="en-GB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stale</a:t>
                </a:r>
              </a:p>
              <a:p>
                <a:pPr lvl="1"/>
                <a:r>
                  <a:rPr lang="en-GB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Stale processes do not participate in read quorum</a:t>
                </a:r>
              </a:p>
              <a:p>
                <a:pPr lvl="1"/>
                <a:endParaRPr lang="en-GB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GB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AAB00E5E-9E79-CD52-0FB3-6298179B4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5696"/>
                <a:ext cx="7886700" cy="360346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71F56DBD-D6A8-F9D0-C5D3-46368AEEE33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Upper Bounds for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CRR(k, r, b)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773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EF89-F850-92F3-E58C-F30491A7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Recovery Protocol: Take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DCA0F6A-E6C8-5F3B-B040-FC2B843B677F}"/>
              </a:ext>
            </a:extLst>
          </p:cNvPr>
          <p:cNvCxnSpPr/>
          <p:nvPr/>
        </p:nvCxnSpPr>
        <p:spPr>
          <a:xfrm>
            <a:off x="717947" y="2539604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991580-39B0-D002-1B68-082EC25F557B}"/>
              </a:ext>
            </a:extLst>
          </p:cNvPr>
          <p:cNvCxnSpPr/>
          <p:nvPr/>
        </p:nvCxnSpPr>
        <p:spPr>
          <a:xfrm>
            <a:off x="725091" y="3253979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5671D1-9B75-F334-2795-69F8AFF32DEE}"/>
              </a:ext>
            </a:extLst>
          </p:cNvPr>
          <p:cNvCxnSpPr/>
          <p:nvPr/>
        </p:nvCxnSpPr>
        <p:spPr>
          <a:xfrm>
            <a:off x="725091" y="4004072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147563-AF5C-8E6E-171A-AAD550F54CDF}"/>
              </a:ext>
            </a:extLst>
          </p:cNvPr>
          <p:cNvSpPr txBox="1"/>
          <p:nvPr/>
        </p:nvSpPr>
        <p:spPr>
          <a:xfrm>
            <a:off x="289928" y="239467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4DE5C-ED3A-6D3D-42BE-8CD799C463E8}"/>
              </a:ext>
            </a:extLst>
          </p:cNvPr>
          <p:cNvSpPr txBox="1"/>
          <p:nvPr/>
        </p:nvSpPr>
        <p:spPr>
          <a:xfrm>
            <a:off x="289928" y="310178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6C2CB-1FF1-28C1-B0A3-013087602BBE}"/>
              </a:ext>
            </a:extLst>
          </p:cNvPr>
          <p:cNvSpPr txBox="1"/>
          <p:nvPr/>
        </p:nvSpPr>
        <p:spPr>
          <a:xfrm>
            <a:off x="289928" y="38689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74DB4-5302-679A-7FF4-CE18AD5D5888}"/>
              </a:ext>
            </a:extLst>
          </p:cNvPr>
          <p:cNvSpPr txBox="1"/>
          <p:nvPr/>
        </p:nvSpPr>
        <p:spPr>
          <a:xfrm>
            <a:off x="650929" y="2255004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EC4A1-2C3B-D525-7236-1F52AC084150}"/>
              </a:ext>
            </a:extLst>
          </p:cNvPr>
          <p:cNvSpPr txBox="1"/>
          <p:nvPr/>
        </p:nvSpPr>
        <p:spPr>
          <a:xfrm>
            <a:off x="637368" y="295049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967FE-4D77-D6F3-3D10-81F5C1FEE5FF}"/>
              </a:ext>
            </a:extLst>
          </p:cNvPr>
          <p:cNvSpPr txBox="1"/>
          <p:nvPr/>
        </p:nvSpPr>
        <p:spPr>
          <a:xfrm>
            <a:off x="660616" y="3706033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8398B5-08FB-7AD9-2F4D-A9A3D031D3B7}"/>
              </a:ext>
            </a:extLst>
          </p:cNvPr>
          <p:cNvCxnSpPr>
            <a:cxnSpLocks/>
          </p:cNvCxnSpPr>
          <p:nvPr/>
        </p:nvCxnSpPr>
        <p:spPr>
          <a:xfrm>
            <a:off x="1883044" y="1917915"/>
            <a:ext cx="3545237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287965D-7D89-9E8B-F925-87C164BFCE55}"/>
              </a:ext>
            </a:extLst>
          </p:cNvPr>
          <p:cNvSpPr txBox="1"/>
          <p:nvPr/>
        </p:nvSpPr>
        <p:spPr>
          <a:xfrm>
            <a:off x="2754824" y="1604075"/>
            <a:ext cx="824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WRITE(v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753C7E-3DCE-B2D3-1B2B-B7B554FF33E9}"/>
              </a:ext>
            </a:extLst>
          </p:cNvPr>
          <p:cNvCxnSpPr>
            <a:cxnSpLocks/>
          </p:cNvCxnSpPr>
          <p:nvPr/>
        </p:nvCxnSpPr>
        <p:spPr>
          <a:xfrm>
            <a:off x="1964411" y="1941163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14FDFD-4D48-365A-3F99-1BFCBEE7265C}"/>
              </a:ext>
            </a:extLst>
          </p:cNvPr>
          <p:cNvCxnSpPr>
            <a:cxnSpLocks/>
          </p:cNvCxnSpPr>
          <p:nvPr/>
        </p:nvCxnSpPr>
        <p:spPr>
          <a:xfrm flipH="1">
            <a:off x="2276315" y="1927602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CFE9F9-B2E6-5369-89E6-BE35AE07EBBA}"/>
              </a:ext>
            </a:extLst>
          </p:cNvPr>
          <p:cNvCxnSpPr>
            <a:cxnSpLocks/>
          </p:cNvCxnSpPr>
          <p:nvPr/>
        </p:nvCxnSpPr>
        <p:spPr>
          <a:xfrm>
            <a:off x="2752887" y="3996625"/>
            <a:ext cx="1117816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DA3B45-1E7E-25B4-08C5-EE16A95049FD}"/>
              </a:ext>
            </a:extLst>
          </p:cNvPr>
          <p:cNvSpPr txBox="1"/>
          <p:nvPr/>
        </p:nvSpPr>
        <p:spPr>
          <a:xfrm>
            <a:off x="2845876" y="405474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EDA823DB-0996-FB37-3D9E-77AD559108E1}"/>
              </a:ext>
            </a:extLst>
          </p:cNvPr>
          <p:cNvSpPr/>
          <p:nvPr/>
        </p:nvSpPr>
        <p:spPr>
          <a:xfrm>
            <a:off x="2417736" y="3905574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D122F3-A001-E0BA-A0D8-D409D7F3F448}"/>
              </a:ext>
            </a:extLst>
          </p:cNvPr>
          <p:cNvCxnSpPr>
            <a:cxnSpLocks/>
          </p:cNvCxnSpPr>
          <p:nvPr/>
        </p:nvCxnSpPr>
        <p:spPr>
          <a:xfrm flipH="1">
            <a:off x="2936930" y="254559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C9E072-D2CE-A35E-523A-06714040F19D}"/>
              </a:ext>
            </a:extLst>
          </p:cNvPr>
          <p:cNvCxnSpPr>
            <a:cxnSpLocks/>
          </p:cNvCxnSpPr>
          <p:nvPr/>
        </p:nvCxnSpPr>
        <p:spPr>
          <a:xfrm flipH="1">
            <a:off x="2987298" y="326626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C86C36-103A-5F47-680C-A2D35BCB1683}"/>
              </a:ext>
            </a:extLst>
          </p:cNvPr>
          <p:cNvCxnSpPr>
            <a:cxnSpLocks/>
          </p:cNvCxnSpPr>
          <p:nvPr/>
        </p:nvCxnSpPr>
        <p:spPr>
          <a:xfrm flipH="1" flipV="1">
            <a:off x="3182964" y="328757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7668CC-5BEA-73F6-F536-99153DB03A39}"/>
              </a:ext>
            </a:extLst>
          </p:cNvPr>
          <p:cNvCxnSpPr>
            <a:cxnSpLocks/>
          </p:cNvCxnSpPr>
          <p:nvPr/>
        </p:nvCxnSpPr>
        <p:spPr>
          <a:xfrm flipH="1" flipV="1">
            <a:off x="3190715" y="2555283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5A80D3-0299-8837-8B6D-7352B6F3FC2D}"/>
              </a:ext>
            </a:extLst>
          </p:cNvPr>
          <p:cNvCxnSpPr>
            <a:cxnSpLocks/>
          </p:cNvCxnSpPr>
          <p:nvPr/>
        </p:nvCxnSpPr>
        <p:spPr>
          <a:xfrm>
            <a:off x="1976034" y="1952787"/>
            <a:ext cx="3018297" cy="132123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2A3EAC-B28A-3140-C440-081F12668979}"/>
              </a:ext>
            </a:extLst>
          </p:cNvPr>
          <p:cNvCxnSpPr>
            <a:cxnSpLocks/>
          </p:cNvCxnSpPr>
          <p:nvPr/>
        </p:nvCxnSpPr>
        <p:spPr>
          <a:xfrm flipH="1">
            <a:off x="4994331" y="1894668"/>
            <a:ext cx="294467" cy="137935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C4BAC23-D18A-4D6A-2993-4FD46CF353D4}"/>
              </a:ext>
            </a:extLst>
          </p:cNvPr>
          <p:cNvCxnSpPr>
            <a:cxnSpLocks/>
          </p:cNvCxnSpPr>
          <p:nvPr/>
        </p:nvCxnSpPr>
        <p:spPr>
          <a:xfrm>
            <a:off x="6393051" y="1439405"/>
            <a:ext cx="1511085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3397C44-46AA-B7C0-023A-E988DE011AED}"/>
              </a:ext>
            </a:extLst>
          </p:cNvPr>
          <p:cNvSpPr txBox="1"/>
          <p:nvPr/>
        </p:nvSpPr>
        <p:spPr>
          <a:xfrm>
            <a:off x="6881248" y="1139126"/>
            <a:ext cx="5597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9604F6F-78B3-806D-B47D-47A4D52EE544}"/>
              </a:ext>
            </a:extLst>
          </p:cNvPr>
          <p:cNvCxnSpPr>
            <a:cxnSpLocks/>
          </p:cNvCxnSpPr>
          <p:nvPr/>
        </p:nvCxnSpPr>
        <p:spPr>
          <a:xfrm>
            <a:off x="6579031" y="1452966"/>
            <a:ext cx="468824" cy="255110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76BB43F-0F23-5887-05F2-00162D996731}"/>
              </a:ext>
            </a:extLst>
          </p:cNvPr>
          <p:cNvCxnSpPr>
            <a:cxnSpLocks/>
          </p:cNvCxnSpPr>
          <p:nvPr/>
        </p:nvCxnSpPr>
        <p:spPr>
          <a:xfrm flipV="1">
            <a:off x="7053666" y="1429720"/>
            <a:ext cx="594748" cy="259015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D2EC93-65FB-F2A6-EEB0-935E28900026}"/>
              </a:ext>
            </a:extLst>
          </p:cNvPr>
          <p:cNvCxnSpPr>
            <a:cxnSpLocks/>
          </p:cNvCxnSpPr>
          <p:nvPr/>
        </p:nvCxnSpPr>
        <p:spPr>
          <a:xfrm>
            <a:off x="6670084" y="1427782"/>
            <a:ext cx="439763" cy="111182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8B01A3-C633-164A-24DA-5DB2D1ADC8F3}"/>
              </a:ext>
            </a:extLst>
          </p:cNvPr>
          <p:cNvCxnSpPr>
            <a:cxnSpLocks/>
          </p:cNvCxnSpPr>
          <p:nvPr/>
        </p:nvCxnSpPr>
        <p:spPr>
          <a:xfrm flipV="1">
            <a:off x="7109847" y="1452967"/>
            <a:ext cx="317716" cy="11023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FCE00EA-CE08-AF09-57D0-4D4C8614E90B}"/>
              </a:ext>
            </a:extLst>
          </p:cNvPr>
          <p:cNvSpPr txBox="1"/>
          <p:nvPr/>
        </p:nvSpPr>
        <p:spPr>
          <a:xfrm>
            <a:off x="5040825" y="3006671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(1,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B8C353-57D8-C512-309C-96ED67DF456D}"/>
              </a:ext>
            </a:extLst>
          </p:cNvPr>
          <p:cNvSpPr txBox="1"/>
          <p:nvPr/>
        </p:nvSpPr>
        <p:spPr>
          <a:xfrm>
            <a:off x="3971442" y="375059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6F69D-9A54-E6D2-A167-730715E5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B887CECA-CBB1-A940-0919-728E8DC4A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52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/>
      <p:bldP spid="25" grpId="0" animBg="1"/>
      <p:bldP spid="47" grpId="0"/>
      <p:bldP spid="61" grpId="0"/>
      <p:bldP spid="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67B670-86E3-62F4-2956-4858EA43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123323-6B12-A4FA-9F83-4310E53DA8E2}"/>
              </a:ext>
            </a:extLst>
          </p:cNvPr>
          <p:cNvCxnSpPr>
            <a:cxnSpLocks/>
          </p:cNvCxnSpPr>
          <p:nvPr/>
        </p:nvCxnSpPr>
        <p:spPr>
          <a:xfrm>
            <a:off x="1976034" y="1952787"/>
            <a:ext cx="3018297" cy="132123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EC78765-C49E-FDAB-9614-2EB18313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Recovery Protocol: Take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959FB9-592A-D446-9885-C5F15D196C99}"/>
              </a:ext>
            </a:extLst>
          </p:cNvPr>
          <p:cNvCxnSpPr/>
          <p:nvPr/>
        </p:nvCxnSpPr>
        <p:spPr>
          <a:xfrm>
            <a:off x="717947" y="2539604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8895DB-E938-C4FC-A781-1CCBD299C4CE}"/>
              </a:ext>
            </a:extLst>
          </p:cNvPr>
          <p:cNvCxnSpPr/>
          <p:nvPr/>
        </p:nvCxnSpPr>
        <p:spPr>
          <a:xfrm>
            <a:off x="725091" y="3253979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6EE9CF-7C47-AF8A-42DE-36C7EF027FF2}"/>
              </a:ext>
            </a:extLst>
          </p:cNvPr>
          <p:cNvCxnSpPr/>
          <p:nvPr/>
        </p:nvCxnSpPr>
        <p:spPr>
          <a:xfrm>
            <a:off x="725091" y="4004072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33DC6-7881-E48D-CD76-FD7AA1C109AD}"/>
              </a:ext>
            </a:extLst>
          </p:cNvPr>
          <p:cNvSpPr txBox="1"/>
          <p:nvPr/>
        </p:nvSpPr>
        <p:spPr>
          <a:xfrm>
            <a:off x="289928" y="239467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D9902-F70A-56ED-DB14-5D589A4DF02B}"/>
              </a:ext>
            </a:extLst>
          </p:cNvPr>
          <p:cNvSpPr txBox="1"/>
          <p:nvPr/>
        </p:nvSpPr>
        <p:spPr>
          <a:xfrm>
            <a:off x="289928" y="310178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42C1C-6F51-6DFC-7C4D-D8033F6FFEDB}"/>
              </a:ext>
            </a:extLst>
          </p:cNvPr>
          <p:cNvSpPr txBox="1"/>
          <p:nvPr/>
        </p:nvSpPr>
        <p:spPr>
          <a:xfrm>
            <a:off x="289928" y="38689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81BB7-2D3A-D663-79E7-BF9345B45A56}"/>
              </a:ext>
            </a:extLst>
          </p:cNvPr>
          <p:cNvSpPr txBox="1"/>
          <p:nvPr/>
        </p:nvSpPr>
        <p:spPr>
          <a:xfrm>
            <a:off x="650929" y="2255004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0EF1D-0D9C-C580-2B5B-4BD026A972CC}"/>
              </a:ext>
            </a:extLst>
          </p:cNvPr>
          <p:cNvSpPr txBox="1"/>
          <p:nvPr/>
        </p:nvSpPr>
        <p:spPr>
          <a:xfrm>
            <a:off x="637368" y="295049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1AEBB-EDDF-CB3A-309A-EE2AACAE8E8F}"/>
              </a:ext>
            </a:extLst>
          </p:cNvPr>
          <p:cNvSpPr txBox="1"/>
          <p:nvPr/>
        </p:nvSpPr>
        <p:spPr>
          <a:xfrm>
            <a:off x="660616" y="3706033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BAC1FB-BC0C-701A-9FC3-6FFBC301A2B0}"/>
              </a:ext>
            </a:extLst>
          </p:cNvPr>
          <p:cNvCxnSpPr>
            <a:cxnSpLocks/>
          </p:cNvCxnSpPr>
          <p:nvPr/>
        </p:nvCxnSpPr>
        <p:spPr>
          <a:xfrm>
            <a:off x="1883044" y="1917915"/>
            <a:ext cx="3545237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65077B-4777-2793-5D1F-13C4727A4404}"/>
              </a:ext>
            </a:extLst>
          </p:cNvPr>
          <p:cNvSpPr txBox="1"/>
          <p:nvPr/>
        </p:nvSpPr>
        <p:spPr>
          <a:xfrm>
            <a:off x="2754824" y="1604075"/>
            <a:ext cx="824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WRITE(v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FD6AC0-C666-7169-37CD-8129C8B4E893}"/>
              </a:ext>
            </a:extLst>
          </p:cNvPr>
          <p:cNvCxnSpPr>
            <a:cxnSpLocks/>
          </p:cNvCxnSpPr>
          <p:nvPr/>
        </p:nvCxnSpPr>
        <p:spPr>
          <a:xfrm>
            <a:off x="1964411" y="1941163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3644C9-D5EA-F95E-7CF9-7FC6D9BE083D}"/>
              </a:ext>
            </a:extLst>
          </p:cNvPr>
          <p:cNvCxnSpPr>
            <a:cxnSpLocks/>
          </p:cNvCxnSpPr>
          <p:nvPr/>
        </p:nvCxnSpPr>
        <p:spPr>
          <a:xfrm flipH="1">
            <a:off x="2276315" y="1927602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47CA01-9075-A63B-CAE9-F454207F1814}"/>
              </a:ext>
            </a:extLst>
          </p:cNvPr>
          <p:cNvCxnSpPr>
            <a:cxnSpLocks/>
          </p:cNvCxnSpPr>
          <p:nvPr/>
        </p:nvCxnSpPr>
        <p:spPr>
          <a:xfrm>
            <a:off x="2752887" y="3996625"/>
            <a:ext cx="1117816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532CF12-783C-A905-E393-35EFE159DAA6}"/>
              </a:ext>
            </a:extLst>
          </p:cNvPr>
          <p:cNvSpPr txBox="1"/>
          <p:nvPr/>
        </p:nvSpPr>
        <p:spPr>
          <a:xfrm>
            <a:off x="2845876" y="405474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C98BD779-D7FE-F7BD-E536-2E1AB9137124}"/>
              </a:ext>
            </a:extLst>
          </p:cNvPr>
          <p:cNvSpPr/>
          <p:nvPr/>
        </p:nvSpPr>
        <p:spPr>
          <a:xfrm>
            <a:off x="2417736" y="3905574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80EB49-80E4-6695-782C-42A2950BAA19}"/>
              </a:ext>
            </a:extLst>
          </p:cNvPr>
          <p:cNvCxnSpPr>
            <a:cxnSpLocks/>
          </p:cNvCxnSpPr>
          <p:nvPr/>
        </p:nvCxnSpPr>
        <p:spPr>
          <a:xfrm flipH="1">
            <a:off x="2936930" y="254559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139AA7F-1901-F9CC-CAB1-E3E49F6A9E82}"/>
              </a:ext>
            </a:extLst>
          </p:cNvPr>
          <p:cNvCxnSpPr>
            <a:cxnSpLocks/>
          </p:cNvCxnSpPr>
          <p:nvPr/>
        </p:nvCxnSpPr>
        <p:spPr>
          <a:xfrm flipH="1">
            <a:off x="2987298" y="326626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E9AA51-2DE3-B6C2-CE5E-87D4D7242557}"/>
              </a:ext>
            </a:extLst>
          </p:cNvPr>
          <p:cNvCxnSpPr>
            <a:cxnSpLocks/>
          </p:cNvCxnSpPr>
          <p:nvPr/>
        </p:nvCxnSpPr>
        <p:spPr>
          <a:xfrm flipH="1" flipV="1">
            <a:off x="3182964" y="328757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8045565-A1CF-8BDE-521F-CE930130A0A1}"/>
              </a:ext>
            </a:extLst>
          </p:cNvPr>
          <p:cNvCxnSpPr>
            <a:cxnSpLocks/>
          </p:cNvCxnSpPr>
          <p:nvPr/>
        </p:nvCxnSpPr>
        <p:spPr>
          <a:xfrm flipH="1" flipV="1">
            <a:off x="3190715" y="2555283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5807A2-EF36-0737-E4E7-44BF91E0DD7D}"/>
              </a:ext>
            </a:extLst>
          </p:cNvPr>
          <p:cNvCxnSpPr>
            <a:cxnSpLocks/>
          </p:cNvCxnSpPr>
          <p:nvPr/>
        </p:nvCxnSpPr>
        <p:spPr>
          <a:xfrm flipH="1">
            <a:off x="4994331" y="1894668"/>
            <a:ext cx="294467" cy="137935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4668665-02E6-D3E5-3BDF-196F87BDC95F}"/>
              </a:ext>
            </a:extLst>
          </p:cNvPr>
          <p:cNvSpPr/>
          <p:nvPr/>
        </p:nvSpPr>
        <p:spPr>
          <a:xfrm>
            <a:off x="4940085" y="3208149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674E0B-4A65-F7A7-ED0F-FA3D531C7B94}"/>
              </a:ext>
            </a:extLst>
          </p:cNvPr>
          <p:cNvSpPr/>
          <p:nvPr/>
        </p:nvSpPr>
        <p:spPr>
          <a:xfrm>
            <a:off x="2201942" y="3920969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BA99617-00D0-1DA9-9DF0-A7DA0891C767}"/>
              </a:ext>
            </a:extLst>
          </p:cNvPr>
          <p:cNvSpPr/>
          <p:nvPr/>
        </p:nvSpPr>
        <p:spPr>
          <a:xfrm>
            <a:off x="3118519" y="3200915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79E5EBF-E61C-26AF-2114-C68B71515D32}"/>
              </a:ext>
            </a:extLst>
          </p:cNvPr>
          <p:cNvSpPr/>
          <p:nvPr/>
        </p:nvSpPr>
        <p:spPr>
          <a:xfrm>
            <a:off x="3118519" y="2506434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8C6A7A-D4C9-D81E-9A4B-671B7E805161}"/>
              </a:ext>
            </a:extLst>
          </p:cNvPr>
          <p:cNvSpPr txBox="1"/>
          <p:nvPr/>
        </p:nvSpPr>
        <p:spPr>
          <a:xfrm>
            <a:off x="5265964" y="4408715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Not crash-consistent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22D9EB-7B59-3237-51BE-81FE9CF8C7C9}"/>
              </a:ext>
            </a:extLst>
          </p:cNvPr>
          <p:cNvCxnSpPr/>
          <p:nvPr/>
        </p:nvCxnSpPr>
        <p:spPr>
          <a:xfrm>
            <a:off x="3427063" y="3355697"/>
            <a:ext cx="1424337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3B4F58-F497-27A0-4AE3-74304894A12A}"/>
              </a:ext>
            </a:extLst>
          </p:cNvPr>
          <p:cNvCxnSpPr>
            <a:cxnSpLocks/>
          </p:cNvCxnSpPr>
          <p:nvPr/>
        </p:nvCxnSpPr>
        <p:spPr>
          <a:xfrm>
            <a:off x="3816350" y="3355481"/>
            <a:ext cx="5715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5F5F0-E366-B2C9-762C-177189F3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4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413DDA27-579F-374D-2BDF-55971FDFC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4928229-60E1-47F4-BD20-D03132C3B78E}"/>
              </a:ext>
            </a:extLst>
          </p:cNvPr>
          <p:cNvSpPr txBox="1"/>
          <p:nvPr/>
        </p:nvSpPr>
        <p:spPr>
          <a:xfrm>
            <a:off x="5358384" y="4698528"/>
            <a:ext cx="2151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[Michael et al., DISC’17]</a:t>
            </a:r>
          </a:p>
        </p:txBody>
      </p:sp>
    </p:spTree>
    <p:extLst>
      <p:ext uri="{BB962C8B-B14F-4D97-AF65-F5344CB8AC3E}">
        <p14:creationId xmlns:p14="http://schemas.microsoft.com/office/powerpoint/2010/main" val="262376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6" grpId="0" animBg="1"/>
      <p:bldP spid="19" grpId="0" animBg="1"/>
      <p:bldP spid="27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3C7C60-7AC0-6CA5-8A2E-2D8D524D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BBE8-A340-CC61-CA70-A92B5C0B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Recovery Protocol: Take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AB8DD41-8598-0116-83F5-D0AD3F08E423}"/>
              </a:ext>
            </a:extLst>
          </p:cNvPr>
          <p:cNvCxnSpPr/>
          <p:nvPr/>
        </p:nvCxnSpPr>
        <p:spPr>
          <a:xfrm>
            <a:off x="717947" y="2539604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AB1446-DD42-6BC7-DDAC-7C745549DACB}"/>
              </a:ext>
            </a:extLst>
          </p:cNvPr>
          <p:cNvCxnSpPr/>
          <p:nvPr/>
        </p:nvCxnSpPr>
        <p:spPr>
          <a:xfrm>
            <a:off x="725091" y="3253979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7BBE03-A7C4-B005-17A6-FAA43537E6B7}"/>
              </a:ext>
            </a:extLst>
          </p:cNvPr>
          <p:cNvCxnSpPr/>
          <p:nvPr/>
        </p:nvCxnSpPr>
        <p:spPr>
          <a:xfrm>
            <a:off x="725091" y="4004072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FA35CC-CCF7-0175-5BB8-A9197F662C1C}"/>
              </a:ext>
            </a:extLst>
          </p:cNvPr>
          <p:cNvSpPr txBox="1"/>
          <p:nvPr/>
        </p:nvSpPr>
        <p:spPr>
          <a:xfrm>
            <a:off x="289928" y="239467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519B2-250F-1C5C-0232-CABC91107B1F}"/>
              </a:ext>
            </a:extLst>
          </p:cNvPr>
          <p:cNvSpPr txBox="1"/>
          <p:nvPr/>
        </p:nvSpPr>
        <p:spPr>
          <a:xfrm>
            <a:off x="289928" y="310178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5A9DFB-D451-C085-FA7A-D5CBFE21BD4D}"/>
              </a:ext>
            </a:extLst>
          </p:cNvPr>
          <p:cNvSpPr txBox="1"/>
          <p:nvPr/>
        </p:nvSpPr>
        <p:spPr>
          <a:xfrm>
            <a:off x="289928" y="38689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D3E8B-2855-13D5-C76E-B4638B0DFBAB}"/>
              </a:ext>
            </a:extLst>
          </p:cNvPr>
          <p:cNvSpPr txBox="1"/>
          <p:nvPr/>
        </p:nvSpPr>
        <p:spPr>
          <a:xfrm>
            <a:off x="650929" y="2255004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A9EE56-AE8A-4952-E62E-549F61FAA23D}"/>
              </a:ext>
            </a:extLst>
          </p:cNvPr>
          <p:cNvSpPr txBox="1"/>
          <p:nvPr/>
        </p:nvSpPr>
        <p:spPr>
          <a:xfrm>
            <a:off x="637368" y="295049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5FD9F-3E1E-29AB-7EA1-ED6438A460D1}"/>
              </a:ext>
            </a:extLst>
          </p:cNvPr>
          <p:cNvSpPr txBox="1"/>
          <p:nvPr/>
        </p:nvSpPr>
        <p:spPr>
          <a:xfrm>
            <a:off x="660616" y="3706033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24204B-A548-CBEB-25A5-A54ED0B5CDF8}"/>
              </a:ext>
            </a:extLst>
          </p:cNvPr>
          <p:cNvCxnSpPr>
            <a:cxnSpLocks/>
          </p:cNvCxnSpPr>
          <p:nvPr/>
        </p:nvCxnSpPr>
        <p:spPr>
          <a:xfrm>
            <a:off x="1883044" y="1917915"/>
            <a:ext cx="3545237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37C7DB-FCEC-0BB5-8211-1F90FAF5FA3C}"/>
              </a:ext>
            </a:extLst>
          </p:cNvPr>
          <p:cNvSpPr txBox="1"/>
          <p:nvPr/>
        </p:nvSpPr>
        <p:spPr>
          <a:xfrm>
            <a:off x="2754824" y="1604075"/>
            <a:ext cx="824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WRITE(v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C34D31-F41A-7D0F-4D77-4C55A95BEE81}"/>
              </a:ext>
            </a:extLst>
          </p:cNvPr>
          <p:cNvCxnSpPr>
            <a:cxnSpLocks/>
          </p:cNvCxnSpPr>
          <p:nvPr/>
        </p:nvCxnSpPr>
        <p:spPr>
          <a:xfrm>
            <a:off x="1964411" y="1941163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9A73BE-E29B-907F-613D-89E2D880C1AD}"/>
              </a:ext>
            </a:extLst>
          </p:cNvPr>
          <p:cNvCxnSpPr>
            <a:cxnSpLocks/>
          </p:cNvCxnSpPr>
          <p:nvPr/>
        </p:nvCxnSpPr>
        <p:spPr>
          <a:xfrm flipH="1">
            <a:off x="2276315" y="1927602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268C50-263B-EE38-E552-F6F69E623B39}"/>
              </a:ext>
            </a:extLst>
          </p:cNvPr>
          <p:cNvCxnSpPr>
            <a:cxnSpLocks/>
          </p:cNvCxnSpPr>
          <p:nvPr/>
        </p:nvCxnSpPr>
        <p:spPr>
          <a:xfrm>
            <a:off x="4102477" y="3996625"/>
            <a:ext cx="1117816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983D35A-5C80-F01C-37C5-A6642B02F9B0}"/>
              </a:ext>
            </a:extLst>
          </p:cNvPr>
          <p:cNvSpPr txBox="1"/>
          <p:nvPr/>
        </p:nvSpPr>
        <p:spPr>
          <a:xfrm>
            <a:off x="4195466" y="405474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F7E3D6E2-F958-2737-AAF0-02CE28C1A721}"/>
              </a:ext>
            </a:extLst>
          </p:cNvPr>
          <p:cNvSpPr/>
          <p:nvPr/>
        </p:nvSpPr>
        <p:spPr>
          <a:xfrm>
            <a:off x="2417736" y="3905574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103A50-C898-5E47-6414-62F3CEFA8AB3}"/>
              </a:ext>
            </a:extLst>
          </p:cNvPr>
          <p:cNvCxnSpPr>
            <a:cxnSpLocks/>
          </p:cNvCxnSpPr>
          <p:nvPr/>
        </p:nvCxnSpPr>
        <p:spPr>
          <a:xfrm flipH="1">
            <a:off x="4286520" y="254559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3EA2D8-5290-023C-96DB-F17EA6F71CB9}"/>
              </a:ext>
            </a:extLst>
          </p:cNvPr>
          <p:cNvCxnSpPr>
            <a:cxnSpLocks/>
          </p:cNvCxnSpPr>
          <p:nvPr/>
        </p:nvCxnSpPr>
        <p:spPr>
          <a:xfrm flipH="1">
            <a:off x="4336888" y="326626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A97E73F-8D69-EF9B-D08F-43D22A629B38}"/>
              </a:ext>
            </a:extLst>
          </p:cNvPr>
          <p:cNvCxnSpPr>
            <a:cxnSpLocks/>
          </p:cNvCxnSpPr>
          <p:nvPr/>
        </p:nvCxnSpPr>
        <p:spPr>
          <a:xfrm flipH="1" flipV="1">
            <a:off x="4532554" y="328757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BAD270-CC4B-DD6A-7582-076E5A5B4CD0}"/>
              </a:ext>
            </a:extLst>
          </p:cNvPr>
          <p:cNvCxnSpPr>
            <a:cxnSpLocks/>
          </p:cNvCxnSpPr>
          <p:nvPr/>
        </p:nvCxnSpPr>
        <p:spPr>
          <a:xfrm flipH="1" flipV="1">
            <a:off x="4540305" y="2555283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8ECE2A-4630-3EC9-F964-8C8738C1AD06}"/>
              </a:ext>
            </a:extLst>
          </p:cNvPr>
          <p:cNvCxnSpPr>
            <a:cxnSpLocks/>
          </p:cNvCxnSpPr>
          <p:nvPr/>
        </p:nvCxnSpPr>
        <p:spPr>
          <a:xfrm>
            <a:off x="1976035" y="1952786"/>
            <a:ext cx="754919" cy="131701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EC44FF6-BDAA-7E95-C1F9-4EBF1A76689A}"/>
              </a:ext>
            </a:extLst>
          </p:cNvPr>
          <p:cNvCxnSpPr>
            <a:cxnSpLocks/>
          </p:cNvCxnSpPr>
          <p:nvPr/>
        </p:nvCxnSpPr>
        <p:spPr>
          <a:xfrm flipH="1">
            <a:off x="2767693" y="1922690"/>
            <a:ext cx="2461532" cy="132261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3969D7D-712F-1318-9AB0-2CE69C938B1D}"/>
              </a:ext>
            </a:extLst>
          </p:cNvPr>
          <p:cNvSpPr/>
          <p:nvPr/>
        </p:nvSpPr>
        <p:spPr>
          <a:xfrm>
            <a:off x="2686743" y="3183656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0ABB313-052B-D536-3931-A4B1324E3D6D}"/>
              </a:ext>
            </a:extLst>
          </p:cNvPr>
          <p:cNvSpPr/>
          <p:nvPr/>
        </p:nvSpPr>
        <p:spPr>
          <a:xfrm>
            <a:off x="2202696" y="3921717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C20B1E-45AF-0DC4-C591-AEA61A52FE5A}"/>
              </a:ext>
            </a:extLst>
          </p:cNvPr>
          <p:cNvSpPr/>
          <p:nvPr/>
        </p:nvSpPr>
        <p:spPr>
          <a:xfrm>
            <a:off x="4468109" y="3200915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E127CB-3729-B363-2CC7-741B16A39DC9}"/>
              </a:ext>
            </a:extLst>
          </p:cNvPr>
          <p:cNvSpPr/>
          <p:nvPr/>
        </p:nvSpPr>
        <p:spPr>
          <a:xfrm>
            <a:off x="4468109" y="2506434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F325CF-1FE1-1190-B5F0-7F73ED90E284}"/>
              </a:ext>
            </a:extLst>
          </p:cNvPr>
          <p:cNvSpPr txBox="1"/>
          <p:nvPr/>
        </p:nvSpPr>
        <p:spPr>
          <a:xfrm>
            <a:off x="5265964" y="4408715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Crash-consistent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D543E8-BB92-486D-A96B-B602893DA86D}"/>
              </a:ext>
            </a:extLst>
          </p:cNvPr>
          <p:cNvCxnSpPr>
            <a:cxnSpLocks/>
          </p:cNvCxnSpPr>
          <p:nvPr/>
        </p:nvCxnSpPr>
        <p:spPr>
          <a:xfrm>
            <a:off x="2866920" y="3355481"/>
            <a:ext cx="1419600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B700D4-45E8-C9C1-39B5-3A0A7D4ACB20}"/>
              </a:ext>
            </a:extLst>
          </p:cNvPr>
          <p:cNvCxnSpPr>
            <a:cxnSpLocks/>
          </p:cNvCxnSpPr>
          <p:nvPr/>
        </p:nvCxnSpPr>
        <p:spPr>
          <a:xfrm flipH="1">
            <a:off x="3145019" y="3355481"/>
            <a:ext cx="811031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74AC0EC-A337-C0F6-525E-B9B070B2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1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F3CCFB86-E0A0-4710-90DB-4CDD962F6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9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ED246D-1188-1E58-295C-6DB9AEFF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209F-E4C3-6BC8-A8F5-695EB14B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Incarnation Numbers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FD67CB-9690-DC4B-8A50-97DA1A5128C2}"/>
              </a:ext>
            </a:extLst>
          </p:cNvPr>
          <p:cNvCxnSpPr/>
          <p:nvPr/>
        </p:nvCxnSpPr>
        <p:spPr>
          <a:xfrm>
            <a:off x="717947" y="2539604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D6EA7D-E7A6-D328-7F9C-8C64661986E3}"/>
              </a:ext>
            </a:extLst>
          </p:cNvPr>
          <p:cNvCxnSpPr/>
          <p:nvPr/>
        </p:nvCxnSpPr>
        <p:spPr>
          <a:xfrm>
            <a:off x="725091" y="3253979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944E4-DB77-766F-1D63-5E11A87BDDBA}"/>
              </a:ext>
            </a:extLst>
          </p:cNvPr>
          <p:cNvCxnSpPr/>
          <p:nvPr/>
        </p:nvCxnSpPr>
        <p:spPr>
          <a:xfrm>
            <a:off x="725091" y="4004072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0A70F9A-03E0-762F-0B0E-EB7737F99AC1}"/>
              </a:ext>
            </a:extLst>
          </p:cNvPr>
          <p:cNvSpPr txBox="1"/>
          <p:nvPr/>
        </p:nvSpPr>
        <p:spPr>
          <a:xfrm>
            <a:off x="289928" y="239467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B0AEC-C383-D9C7-C5C1-44DDC2C40D33}"/>
              </a:ext>
            </a:extLst>
          </p:cNvPr>
          <p:cNvSpPr txBox="1"/>
          <p:nvPr/>
        </p:nvSpPr>
        <p:spPr>
          <a:xfrm>
            <a:off x="289928" y="310178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8C9E9-3A07-50AD-8905-6CBB4E07FA6C}"/>
              </a:ext>
            </a:extLst>
          </p:cNvPr>
          <p:cNvSpPr txBox="1"/>
          <p:nvPr/>
        </p:nvSpPr>
        <p:spPr>
          <a:xfrm>
            <a:off x="289928" y="38689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157A8-28FB-C338-51C0-99C37137E894}"/>
              </a:ext>
            </a:extLst>
          </p:cNvPr>
          <p:cNvSpPr txBox="1"/>
          <p:nvPr/>
        </p:nvSpPr>
        <p:spPr>
          <a:xfrm>
            <a:off x="650929" y="2255004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40E05-10FE-9DD3-FB4E-DDEB2056208D}"/>
              </a:ext>
            </a:extLst>
          </p:cNvPr>
          <p:cNvSpPr txBox="1"/>
          <p:nvPr/>
        </p:nvSpPr>
        <p:spPr>
          <a:xfrm>
            <a:off x="637368" y="295049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8FE02-C31F-CB26-FE5D-F8F16E502905}"/>
              </a:ext>
            </a:extLst>
          </p:cNvPr>
          <p:cNvSpPr txBox="1"/>
          <p:nvPr/>
        </p:nvSpPr>
        <p:spPr>
          <a:xfrm>
            <a:off x="660616" y="3706033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0D1C52-DD2F-43B5-9E4B-5951D82F7A5A}"/>
              </a:ext>
            </a:extLst>
          </p:cNvPr>
          <p:cNvCxnSpPr>
            <a:cxnSpLocks/>
          </p:cNvCxnSpPr>
          <p:nvPr/>
        </p:nvCxnSpPr>
        <p:spPr>
          <a:xfrm>
            <a:off x="1883044" y="1917915"/>
            <a:ext cx="3545237" cy="0"/>
          </a:xfrm>
          <a:prstGeom prst="straightConnector1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782EA1-8E2F-7702-15DE-025D9ECB990B}"/>
              </a:ext>
            </a:extLst>
          </p:cNvPr>
          <p:cNvSpPr txBox="1"/>
          <p:nvPr/>
        </p:nvSpPr>
        <p:spPr>
          <a:xfrm>
            <a:off x="3220188" y="1555090"/>
            <a:ext cx="824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WRITE(v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86AE66-4732-66FC-FA59-CF0A7D850216}"/>
              </a:ext>
            </a:extLst>
          </p:cNvPr>
          <p:cNvCxnSpPr>
            <a:cxnSpLocks/>
          </p:cNvCxnSpPr>
          <p:nvPr/>
        </p:nvCxnSpPr>
        <p:spPr>
          <a:xfrm>
            <a:off x="1964411" y="1941163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DC9728-5A8F-0D94-EA61-0BB2E886C4A6}"/>
              </a:ext>
            </a:extLst>
          </p:cNvPr>
          <p:cNvCxnSpPr>
            <a:cxnSpLocks/>
          </p:cNvCxnSpPr>
          <p:nvPr/>
        </p:nvCxnSpPr>
        <p:spPr>
          <a:xfrm flipH="1">
            <a:off x="2276315" y="1927602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A65AFD-AE53-406C-145E-B0A5C97ADFB7}"/>
              </a:ext>
            </a:extLst>
          </p:cNvPr>
          <p:cNvCxnSpPr>
            <a:cxnSpLocks/>
          </p:cNvCxnSpPr>
          <p:nvPr/>
        </p:nvCxnSpPr>
        <p:spPr>
          <a:xfrm>
            <a:off x="2752887" y="3996625"/>
            <a:ext cx="1117816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1AB0D4C-2E0C-237F-ABE5-E25D7DB817C8}"/>
              </a:ext>
            </a:extLst>
          </p:cNvPr>
          <p:cNvSpPr txBox="1"/>
          <p:nvPr/>
        </p:nvSpPr>
        <p:spPr>
          <a:xfrm>
            <a:off x="2845876" y="405474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4934D89B-F68A-B4DF-E75F-30F5A330476C}"/>
              </a:ext>
            </a:extLst>
          </p:cNvPr>
          <p:cNvSpPr/>
          <p:nvPr/>
        </p:nvSpPr>
        <p:spPr>
          <a:xfrm>
            <a:off x="2417736" y="3905574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ED3FA3-A805-3DB5-8147-144A8F321394}"/>
              </a:ext>
            </a:extLst>
          </p:cNvPr>
          <p:cNvCxnSpPr>
            <a:cxnSpLocks/>
          </p:cNvCxnSpPr>
          <p:nvPr/>
        </p:nvCxnSpPr>
        <p:spPr>
          <a:xfrm flipH="1">
            <a:off x="2936930" y="254559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1C6438-5B49-A1EF-16DA-91451017D2C0}"/>
              </a:ext>
            </a:extLst>
          </p:cNvPr>
          <p:cNvCxnSpPr>
            <a:cxnSpLocks/>
          </p:cNvCxnSpPr>
          <p:nvPr/>
        </p:nvCxnSpPr>
        <p:spPr>
          <a:xfrm flipH="1">
            <a:off x="2987298" y="326626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A11FE8-6224-A61A-5F82-33D012FA6374}"/>
              </a:ext>
            </a:extLst>
          </p:cNvPr>
          <p:cNvCxnSpPr>
            <a:cxnSpLocks/>
          </p:cNvCxnSpPr>
          <p:nvPr/>
        </p:nvCxnSpPr>
        <p:spPr>
          <a:xfrm flipH="1" flipV="1">
            <a:off x="3182964" y="328757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A97903-8F75-7F70-D810-67C8CECC3ADC}"/>
              </a:ext>
            </a:extLst>
          </p:cNvPr>
          <p:cNvCxnSpPr>
            <a:cxnSpLocks/>
          </p:cNvCxnSpPr>
          <p:nvPr/>
        </p:nvCxnSpPr>
        <p:spPr>
          <a:xfrm flipH="1" flipV="1">
            <a:off x="3190715" y="2555283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83C31C-CE3B-0654-ACF2-91B2C9AD9D93}"/>
              </a:ext>
            </a:extLst>
          </p:cNvPr>
          <p:cNvCxnSpPr>
            <a:cxnSpLocks/>
          </p:cNvCxnSpPr>
          <p:nvPr/>
        </p:nvCxnSpPr>
        <p:spPr>
          <a:xfrm>
            <a:off x="1976034" y="1952787"/>
            <a:ext cx="2987298" cy="131348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784FF9-2975-D603-8AB5-9176C50AC3A1}"/>
              </a:ext>
            </a:extLst>
          </p:cNvPr>
          <p:cNvCxnSpPr>
            <a:cxnSpLocks/>
          </p:cNvCxnSpPr>
          <p:nvPr/>
        </p:nvCxnSpPr>
        <p:spPr>
          <a:xfrm flipH="1">
            <a:off x="4994331" y="1894668"/>
            <a:ext cx="294467" cy="137935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98C8D374-3B37-7A9B-9FB6-3E6136B7427D}"/>
              </a:ext>
            </a:extLst>
          </p:cNvPr>
          <p:cNvSpPr/>
          <p:nvPr/>
        </p:nvSpPr>
        <p:spPr>
          <a:xfrm>
            <a:off x="4940085" y="3208149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33F3C2E-4B7C-00FD-E7CD-5306C5180DD6}"/>
              </a:ext>
            </a:extLst>
          </p:cNvPr>
          <p:cNvSpPr/>
          <p:nvPr/>
        </p:nvSpPr>
        <p:spPr>
          <a:xfrm>
            <a:off x="3118519" y="3200915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C2919D6-F20C-FA8A-E811-9D9041C36BE8}"/>
              </a:ext>
            </a:extLst>
          </p:cNvPr>
          <p:cNvSpPr/>
          <p:nvPr/>
        </p:nvSpPr>
        <p:spPr>
          <a:xfrm>
            <a:off x="3118519" y="2506434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6BFCCE-E3DC-5511-0F01-35B5854AFD71}"/>
              </a:ext>
            </a:extLst>
          </p:cNvPr>
          <p:cNvSpPr txBox="1"/>
          <p:nvPr/>
        </p:nvSpPr>
        <p:spPr>
          <a:xfrm>
            <a:off x="4580164" y="90623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Not crash-consistent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Discard P3’s response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FEE29-8F17-71C9-602A-B5E13073DF8F}"/>
              </a:ext>
            </a:extLst>
          </p:cNvPr>
          <p:cNvSpPr txBox="1"/>
          <p:nvPr/>
        </p:nvSpPr>
        <p:spPr>
          <a:xfrm>
            <a:off x="612321" y="40290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3CDA35-18DC-FFD3-A338-AFB9B6C1C212}"/>
              </a:ext>
            </a:extLst>
          </p:cNvPr>
          <p:cNvSpPr txBox="1"/>
          <p:nvPr/>
        </p:nvSpPr>
        <p:spPr>
          <a:xfrm>
            <a:off x="612321" y="32493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6D8DD0-2248-5225-B198-61E3870365BE}"/>
              </a:ext>
            </a:extLst>
          </p:cNvPr>
          <p:cNvSpPr txBox="1"/>
          <p:nvPr/>
        </p:nvSpPr>
        <p:spPr>
          <a:xfrm>
            <a:off x="612321" y="25390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88579C-BBD2-8666-D147-1ADCB3FEF6A8}"/>
              </a:ext>
            </a:extLst>
          </p:cNvPr>
          <p:cNvSpPr txBox="1"/>
          <p:nvPr/>
        </p:nvSpPr>
        <p:spPr>
          <a:xfrm>
            <a:off x="2624818" y="40086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9B1D5E-AA86-AAB9-B357-0F15D4E1D456}"/>
              </a:ext>
            </a:extLst>
          </p:cNvPr>
          <p:cNvSpPr txBox="1"/>
          <p:nvPr/>
        </p:nvSpPr>
        <p:spPr>
          <a:xfrm>
            <a:off x="2208439" y="15471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AA58A5-45AD-466A-A0E4-2874232A5744}"/>
              </a:ext>
            </a:extLst>
          </p:cNvPr>
          <p:cNvSpPr txBox="1"/>
          <p:nvPr/>
        </p:nvSpPr>
        <p:spPr>
          <a:xfrm>
            <a:off x="5041447" y="152672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5E4492-5C98-4B9E-8C5D-C52FC3F03585}"/>
              </a:ext>
            </a:extLst>
          </p:cNvPr>
          <p:cNvSpPr txBox="1"/>
          <p:nvPr/>
        </p:nvSpPr>
        <p:spPr>
          <a:xfrm>
            <a:off x="3257551" y="29636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A60F34-8615-0FAF-78B9-73557709F7D8}"/>
              </a:ext>
            </a:extLst>
          </p:cNvPr>
          <p:cNvCxnSpPr>
            <a:cxnSpLocks/>
          </p:cNvCxnSpPr>
          <p:nvPr/>
        </p:nvCxnSpPr>
        <p:spPr>
          <a:xfrm>
            <a:off x="5458297" y="1916464"/>
            <a:ext cx="460313" cy="0"/>
          </a:xfrm>
          <a:prstGeom prst="straightConnector1">
            <a:avLst/>
          </a:prstGeom>
          <a:ln w="38100">
            <a:prstDash val="sys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E8DC9B-6570-7F3D-A4D6-E1ECFB88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B1CDDD-327A-152C-CA12-1DE26F42EC86}"/>
              </a:ext>
            </a:extLst>
          </p:cNvPr>
          <p:cNvSpPr/>
          <p:nvPr/>
        </p:nvSpPr>
        <p:spPr>
          <a:xfrm>
            <a:off x="2202696" y="3921717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pic>
        <p:nvPicPr>
          <p:cNvPr id="41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F39CAEF0-554A-58C2-0047-C52D8193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3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35" grpId="0"/>
      <p:bldP spid="36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E1785A-908D-DF83-FA69-300CAC85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C694-B48B-0E57-03BD-7F60C67E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Incarnation Number Challenges: Rollback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27129AE-B174-BDA5-2B15-CA0362F0E7CF}"/>
              </a:ext>
            </a:extLst>
          </p:cNvPr>
          <p:cNvCxnSpPr/>
          <p:nvPr/>
        </p:nvCxnSpPr>
        <p:spPr>
          <a:xfrm>
            <a:off x="717947" y="2539604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93A4FB-8350-DD1D-C2CD-A139AA08D69F}"/>
              </a:ext>
            </a:extLst>
          </p:cNvPr>
          <p:cNvCxnSpPr/>
          <p:nvPr/>
        </p:nvCxnSpPr>
        <p:spPr>
          <a:xfrm>
            <a:off x="725091" y="3253979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223609-7264-DB2C-1B06-1BC3CCFEC397}"/>
              </a:ext>
            </a:extLst>
          </p:cNvPr>
          <p:cNvCxnSpPr/>
          <p:nvPr/>
        </p:nvCxnSpPr>
        <p:spPr>
          <a:xfrm>
            <a:off x="725091" y="4004072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3AC543-3364-CC94-26CF-CF0ED48D8C84}"/>
              </a:ext>
            </a:extLst>
          </p:cNvPr>
          <p:cNvSpPr txBox="1"/>
          <p:nvPr/>
        </p:nvSpPr>
        <p:spPr>
          <a:xfrm>
            <a:off x="289928" y="239467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13B7F-C33F-C007-5C07-66CEB39527CD}"/>
              </a:ext>
            </a:extLst>
          </p:cNvPr>
          <p:cNvSpPr txBox="1"/>
          <p:nvPr/>
        </p:nvSpPr>
        <p:spPr>
          <a:xfrm>
            <a:off x="289928" y="3101781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8BFEC-101C-0E30-9277-39FEB10F8082}"/>
              </a:ext>
            </a:extLst>
          </p:cNvPr>
          <p:cNvSpPr txBox="1"/>
          <p:nvPr/>
        </p:nvSpPr>
        <p:spPr>
          <a:xfrm>
            <a:off x="289928" y="38689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B20CF-FCA0-C233-A439-3A49D05C13E4}"/>
              </a:ext>
            </a:extLst>
          </p:cNvPr>
          <p:cNvSpPr txBox="1"/>
          <p:nvPr/>
        </p:nvSpPr>
        <p:spPr>
          <a:xfrm>
            <a:off x="650929" y="2255004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AB52B-6EF9-E8D1-D1F5-E2B0EA530156}"/>
              </a:ext>
            </a:extLst>
          </p:cNvPr>
          <p:cNvSpPr txBox="1"/>
          <p:nvPr/>
        </p:nvSpPr>
        <p:spPr>
          <a:xfrm>
            <a:off x="637368" y="295049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49C45-915A-17B4-6D32-52A12709D6ED}"/>
              </a:ext>
            </a:extLst>
          </p:cNvPr>
          <p:cNvSpPr txBox="1"/>
          <p:nvPr/>
        </p:nvSpPr>
        <p:spPr>
          <a:xfrm>
            <a:off x="660616" y="3706033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E2FEEB-65F6-073E-7F5F-2D7D6122EB4E}"/>
              </a:ext>
            </a:extLst>
          </p:cNvPr>
          <p:cNvCxnSpPr>
            <a:cxnSpLocks/>
          </p:cNvCxnSpPr>
          <p:nvPr/>
        </p:nvCxnSpPr>
        <p:spPr>
          <a:xfrm>
            <a:off x="1883044" y="1917915"/>
            <a:ext cx="3545237" cy="0"/>
          </a:xfrm>
          <a:prstGeom prst="straightConnector1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9D07A0-BC34-9CA4-6ACA-BC9BF39B41BB}"/>
              </a:ext>
            </a:extLst>
          </p:cNvPr>
          <p:cNvSpPr txBox="1"/>
          <p:nvPr/>
        </p:nvSpPr>
        <p:spPr>
          <a:xfrm>
            <a:off x="3220188" y="1555090"/>
            <a:ext cx="824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WRITE(v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ECFBCC-EB0D-B69E-B207-83B9F045A859}"/>
              </a:ext>
            </a:extLst>
          </p:cNvPr>
          <p:cNvCxnSpPr>
            <a:cxnSpLocks/>
          </p:cNvCxnSpPr>
          <p:nvPr/>
        </p:nvCxnSpPr>
        <p:spPr>
          <a:xfrm>
            <a:off x="1964411" y="1941163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DDEC18-9C50-EAE0-2BF5-99C316960933}"/>
              </a:ext>
            </a:extLst>
          </p:cNvPr>
          <p:cNvCxnSpPr>
            <a:cxnSpLocks/>
          </p:cNvCxnSpPr>
          <p:nvPr/>
        </p:nvCxnSpPr>
        <p:spPr>
          <a:xfrm flipH="1">
            <a:off x="2276315" y="1927602"/>
            <a:ext cx="302216" cy="208064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1DEF95-F8C8-46AA-614C-11466253ABE0}"/>
              </a:ext>
            </a:extLst>
          </p:cNvPr>
          <p:cNvCxnSpPr>
            <a:cxnSpLocks/>
          </p:cNvCxnSpPr>
          <p:nvPr/>
        </p:nvCxnSpPr>
        <p:spPr>
          <a:xfrm>
            <a:off x="2752887" y="3996625"/>
            <a:ext cx="1117816" cy="0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8CAC07-28FB-9E92-4BE6-A9EC2EBFE9DB}"/>
              </a:ext>
            </a:extLst>
          </p:cNvPr>
          <p:cNvSpPr txBox="1"/>
          <p:nvPr/>
        </p:nvSpPr>
        <p:spPr>
          <a:xfrm>
            <a:off x="2845876" y="405474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5B742B93-9A20-71D7-B53C-0B084CE9F50F}"/>
              </a:ext>
            </a:extLst>
          </p:cNvPr>
          <p:cNvSpPr/>
          <p:nvPr/>
        </p:nvSpPr>
        <p:spPr>
          <a:xfrm>
            <a:off x="2417736" y="3905574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D87E1D-5CBC-A194-7351-0244DA186C34}"/>
              </a:ext>
            </a:extLst>
          </p:cNvPr>
          <p:cNvCxnSpPr>
            <a:cxnSpLocks/>
          </p:cNvCxnSpPr>
          <p:nvPr/>
        </p:nvCxnSpPr>
        <p:spPr>
          <a:xfrm flipH="1">
            <a:off x="2936930" y="254559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463D0B-85BE-AE85-A958-18BC8EC8C557}"/>
              </a:ext>
            </a:extLst>
          </p:cNvPr>
          <p:cNvCxnSpPr>
            <a:cxnSpLocks/>
          </p:cNvCxnSpPr>
          <p:nvPr/>
        </p:nvCxnSpPr>
        <p:spPr>
          <a:xfrm flipH="1">
            <a:off x="2987298" y="326626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4A4303-E66D-4543-4072-2B6F4E6589E9}"/>
              </a:ext>
            </a:extLst>
          </p:cNvPr>
          <p:cNvCxnSpPr>
            <a:cxnSpLocks/>
          </p:cNvCxnSpPr>
          <p:nvPr/>
        </p:nvCxnSpPr>
        <p:spPr>
          <a:xfrm flipH="1" flipV="1">
            <a:off x="3182964" y="3287579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404D03-DCFD-299E-DACF-F0C4C50FC9BD}"/>
              </a:ext>
            </a:extLst>
          </p:cNvPr>
          <p:cNvCxnSpPr>
            <a:cxnSpLocks/>
          </p:cNvCxnSpPr>
          <p:nvPr/>
        </p:nvCxnSpPr>
        <p:spPr>
          <a:xfrm flipH="1" flipV="1">
            <a:off x="3190715" y="2555283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851C59-8A7C-FD76-9653-1AB4C6882A21}"/>
              </a:ext>
            </a:extLst>
          </p:cNvPr>
          <p:cNvCxnSpPr>
            <a:cxnSpLocks/>
          </p:cNvCxnSpPr>
          <p:nvPr/>
        </p:nvCxnSpPr>
        <p:spPr>
          <a:xfrm>
            <a:off x="1976034" y="1952787"/>
            <a:ext cx="2987298" cy="131348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17DDB2-02EF-E575-F7F4-015C620E9690}"/>
              </a:ext>
            </a:extLst>
          </p:cNvPr>
          <p:cNvCxnSpPr>
            <a:cxnSpLocks/>
          </p:cNvCxnSpPr>
          <p:nvPr/>
        </p:nvCxnSpPr>
        <p:spPr>
          <a:xfrm flipH="1">
            <a:off x="4994331" y="1894668"/>
            <a:ext cx="294467" cy="137935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35B7323-6BBC-7E96-991F-8EF164B40E5D}"/>
              </a:ext>
            </a:extLst>
          </p:cNvPr>
          <p:cNvSpPr/>
          <p:nvPr/>
        </p:nvSpPr>
        <p:spPr>
          <a:xfrm>
            <a:off x="4940085" y="3208149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9F3BA4-C7BC-7B88-1ADF-17AEE3BCB316}"/>
              </a:ext>
            </a:extLst>
          </p:cNvPr>
          <p:cNvSpPr/>
          <p:nvPr/>
        </p:nvSpPr>
        <p:spPr>
          <a:xfrm>
            <a:off x="3118519" y="3200915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C1B5C3-1B83-AAF8-BC4D-089AA9045946}"/>
              </a:ext>
            </a:extLst>
          </p:cNvPr>
          <p:cNvSpPr/>
          <p:nvPr/>
        </p:nvSpPr>
        <p:spPr>
          <a:xfrm>
            <a:off x="3118519" y="2506434"/>
            <a:ext cx="127861" cy="1394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E04C1-8119-1FCC-64D6-3A59ADFF540B}"/>
              </a:ext>
            </a:extLst>
          </p:cNvPr>
          <p:cNvSpPr txBox="1"/>
          <p:nvPr/>
        </p:nvSpPr>
        <p:spPr>
          <a:xfrm>
            <a:off x="612321" y="40290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B9224F-14E9-1EF9-6BD0-CDA806FAEDCB}"/>
              </a:ext>
            </a:extLst>
          </p:cNvPr>
          <p:cNvSpPr txBox="1"/>
          <p:nvPr/>
        </p:nvSpPr>
        <p:spPr>
          <a:xfrm>
            <a:off x="612321" y="32493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6F6354-12C2-DD09-B913-5B20806317EA}"/>
              </a:ext>
            </a:extLst>
          </p:cNvPr>
          <p:cNvSpPr txBox="1"/>
          <p:nvPr/>
        </p:nvSpPr>
        <p:spPr>
          <a:xfrm>
            <a:off x="612321" y="25390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17801D-EE65-B782-0144-53187A2B65AA}"/>
              </a:ext>
            </a:extLst>
          </p:cNvPr>
          <p:cNvSpPr txBox="1"/>
          <p:nvPr/>
        </p:nvSpPr>
        <p:spPr>
          <a:xfrm>
            <a:off x="2624818" y="400866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4BD448-3242-7016-A428-885F08BFE49D}"/>
              </a:ext>
            </a:extLst>
          </p:cNvPr>
          <p:cNvSpPr txBox="1"/>
          <p:nvPr/>
        </p:nvSpPr>
        <p:spPr>
          <a:xfrm>
            <a:off x="2208439" y="15471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1AFF20-2694-E2F3-A413-39DF78B0DFFC}"/>
              </a:ext>
            </a:extLst>
          </p:cNvPr>
          <p:cNvSpPr txBox="1"/>
          <p:nvPr/>
        </p:nvSpPr>
        <p:spPr>
          <a:xfrm>
            <a:off x="5041447" y="152672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FECB67-3D11-AE8E-A787-F7CF1D710058}"/>
              </a:ext>
            </a:extLst>
          </p:cNvPr>
          <p:cNvSpPr txBox="1"/>
          <p:nvPr/>
        </p:nvSpPr>
        <p:spPr>
          <a:xfrm>
            <a:off x="3257551" y="296363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3EFE20-C613-7CB9-AF66-526022DB1463}"/>
              </a:ext>
            </a:extLst>
          </p:cNvPr>
          <p:cNvCxnSpPr>
            <a:cxnSpLocks/>
          </p:cNvCxnSpPr>
          <p:nvPr/>
        </p:nvCxnSpPr>
        <p:spPr>
          <a:xfrm>
            <a:off x="5458297" y="1916464"/>
            <a:ext cx="460313" cy="0"/>
          </a:xfrm>
          <a:prstGeom prst="straightConnector1">
            <a:avLst/>
          </a:prstGeom>
          <a:ln w="38100">
            <a:prstDash val="sys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3745E5E-E774-4751-5E4B-65929A32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Thought Bubble: Cloud 26">
            <a:extLst>
              <a:ext uri="{FF2B5EF4-FFF2-40B4-BE49-F238E27FC236}">
                <a16:creationId xmlns:a16="http://schemas.microsoft.com/office/drawing/2014/main" id="{C4ADAB65-77D0-6A8C-CC7E-F8D56A945BA2}"/>
              </a:ext>
            </a:extLst>
          </p:cNvPr>
          <p:cNvSpPr/>
          <p:nvPr/>
        </p:nvSpPr>
        <p:spPr>
          <a:xfrm>
            <a:off x="5632704" y="1"/>
            <a:ext cx="3417346" cy="1706880"/>
          </a:xfrm>
          <a:prstGeom prst="cloudCallout">
            <a:avLst>
              <a:gd name="adj1" fmla="val -49261"/>
              <a:gd name="adj2" fmla="val 13935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Store/retrieve incarnation number via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crash-consistent quorums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!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4DAA9C3-AA4A-3B9F-B2BB-DD0026B9FCD3}"/>
              </a:ext>
            </a:extLst>
          </p:cNvPr>
          <p:cNvSpPr/>
          <p:nvPr/>
        </p:nvSpPr>
        <p:spPr>
          <a:xfrm>
            <a:off x="2202696" y="3921717"/>
            <a:ext cx="127861" cy="139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868946F5-15E2-1362-CA6C-1F7BB9E658E6}"/>
              </a:ext>
            </a:extLst>
          </p:cNvPr>
          <p:cNvSpPr/>
          <p:nvPr/>
        </p:nvSpPr>
        <p:spPr>
          <a:xfrm>
            <a:off x="6108038" y="3792523"/>
            <a:ext cx="2638770" cy="1059922"/>
          </a:xfrm>
          <a:prstGeom prst="wedgeEllipseCallout">
            <a:avLst>
              <a:gd name="adj1" fmla="val -55439"/>
              <a:gd name="adj2" fmla="val -612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Rollback-resistant counter</a:t>
            </a:r>
          </a:p>
        </p:txBody>
      </p:sp>
      <p:pic>
        <p:nvPicPr>
          <p:cNvPr id="40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81A77006-F885-C406-AE33-7B7D77389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2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27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DF71A5-90F5-D632-4159-D35B59F2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7AC6-36C9-580A-6485-FCE2BAA3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Incarnation Number Challenges: Distributed Storage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5D71D6-A214-DDF1-0EEB-3B67D65CB2CB}"/>
              </a:ext>
            </a:extLst>
          </p:cNvPr>
          <p:cNvCxnSpPr/>
          <p:nvPr/>
        </p:nvCxnSpPr>
        <p:spPr>
          <a:xfrm>
            <a:off x="717947" y="1836870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E44B95-6DB4-88BA-F666-CEA93054AA82}"/>
              </a:ext>
            </a:extLst>
          </p:cNvPr>
          <p:cNvCxnSpPr/>
          <p:nvPr/>
        </p:nvCxnSpPr>
        <p:spPr>
          <a:xfrm>
            <a:off x="725091" y="2551245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E4DDB5-724C-8653-78C6-81F80317FB34}"/>
              </a:ext>
            </a:extLst>
          </p:cNvPr>
          <p:cNvCxnSpPr/>
          <p:nvPr/>
        </p:nvCxnSpPr>
        <p:spPr>
          <a:xfrm>
            <a:off x="725091" y="3301338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83F780-0745-62FD-F65D-AE4F2C667444}"/>
              </a:ext>
            </a:extLst>
          </p:cNvPr>
          <p:cNvSpPr txBox="1"/>
          <p:nvPr/>
        </p:nvSpPr>
        <p:spPr>
          <a:xfrm>
            <a:off x="289928" y="169193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1E6EF6-164D-7492-0A3F-91D9869DA29C}"/>
              </a:ext>
            </a:extLst>
          </p:cNvPr>
          <p:cNvSpPr txBox="1"/>
          <p:nvPr/>
        </p:nvSpPr>
        <p:spPr>
          <a:xfrm>
            <a:off x="289928" y="23990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72546-ED5D-145F-8E38-B06679C2A669}"/>
              </a:ext>
            </a:extLst>
          </p:cNvPr>
          <p:cNvSpPr txBox="1"/>
          <p:nvPr/>
        </p:nvSpPr>
        <p:spPr>
          <a:xfrm>
            <a:off x="289928" y="3166213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17ADE-AA68-0184-D006-0E5413905A93}"/>
              </a:ext>
            </a:extLst>
          </p:cNvPr>
          <p:cNvSpPr txBox="1"/>
          <p:nvPr/>
        </p:nvSpPr>
        <p:spPr>
          <a:xfrm>
            <a:off x="650929" y="155227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9213A-37EC-F85B-DEA4-D241BA47D191}"/>
              </a:ext>
            </a:extLst>
          </p:cNvPr>
          <p:cNvSpPr txBox="1"/>
          <p:nvPr/>
        </p:nvSpPr>
        <p:spPr>
          <a:xfrm>
            <a:off x="637368" y="2247756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2EBA8-0941-DE34-8A66-02C2C5959959}"/>
              </a:ext>
            </a:extLst>
          </p:cNvPr>
          <p:cNvSpPr txBox="1"/>
          <p:nvPr/>
        </p:nvSpPr>
        <p:spPr>
          <a:xfrm>
            <a:off x="660616" y="3003299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6ADEB1-5E07-CC30-D434-EBA8C361A95A}"/>
              </a:ext>
            </a:extLst>
          </p:cNvPr>
          <p:cNvCxnSpPr>
            <a:cxnSpLocks/>
          </p:cNvCxnSpPr>
          <p:nvPr/>
        </p:nvCxnSpPr>
        <p:spPr>
          <a:xfrm>
            <a:off x="3354021" y="3293891"/>
            <a:ext cx="4247506" cy="7447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F8E334B-C283-ABE8-4252-36C6037569C4}"/>
              </a:ext>
            </a:extLst>
          </p:cNvPr>
          <p:cNvSpPr txBox="1"/>
          <p:nvPr/>
        </p:nvSpPr>
        <p:spPr>
          <a:xfrm>
            <a:off x="5955845" y="3003299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FD8B4184-6DB5-BA88-7587-156CC0477474}"/>
              </a:ext>
            </a:extLst>
          </p:cNvPr>
          <p:cNvSpPr/>
          <p:nvPr/>
        </p:nvSpPr>
        <p:spPr>
          <a:xfrm>
            <a:off x="2417736" y="3202840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12359-6D8F-1379-7AF4-D418EA4CA1F4}"/>
              </a:ext>
            </a:extLst>
          </p:cNvPr>
          <p:cNvSpPr txBox="1"/>
          <p:nvPr/>
        </p:nvSpPr>
        <p:spPr>
          <a:xfrm>
            <a:off x="612321" y="332634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563D15-181D-C361-BBD6-C273B481E9A9}"/>
              </a:ext>
            </a:extLst>
          </p:cNvPr>
          <p:cNvSpPr txBox="1"/>
          <p:nvPr/>
        </p:nvSpPr>
        <p:spPr>
          <a:xfrm>
            <a:off x="612321" y="25466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BFAC2-22B2-FF5B-3B72-B12B4ED379A0}"/>
              </a:ext>
            </a:extLst>
          </p:cNvPr>
          <p:cNvSpPr txBox="1"/>
          <p:nvPr/>
        </p:nvSpPr>
        <p:spPr>
          <a:xfrm>
            <a:off x="612321" y="18363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28A840-7E56-3163-C86C-8A1154A6FF59}"/>
              </a:ext>
            </a:extLst>
          </p:cNvPr>
          <p:cNvSpPr txBox="1"/>
          <p:nvPr/>
        </p:nvSpPr>
        <p:spPr>
          <a:xfrm>
            <a:off x="3225952" y="330593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162F0E9-0D0A-1073-6FDC-CC070733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40A3F3-7BF6-A6DE-9EBE-F148B5803889}"/>
              </a:ext>
            </a:extLst>
          </p:cNvPr>
          <p:cNvCxnSpPr>
            <a:cxnSpLocks/>
          </p:cNvCxnSpPr>
          <p:nvPr/>
        </p:nvCxnSpPr>
        <p:spPr>
          <a:xfrm flipH="1">
            <a:off x="3566518" y="1811886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8DF2DB-E40E-D8ED-EA12-5FB228118A4F}"/>
              </a:ext>
            </a:extLst>
          </p:cNvPr>
          <p:cNvCxnSpPr>
            <a:cxnSpLocks/>
          </p:cNvCxnSpPr>
          <p:nvPr/>
        </p:nvCxnSpPr>
        <p:spPr>
          <a:xfrm flipH="1">
            <a:off x="3566518" y="2532558"/>
            <a:ext cx="236348" cy="75750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A98068-40C1-35C9-8018-18E1C8F8035D}"/>
              </a:ext>
            </a:extLst>
          </p:cNvPr>
          <p:cNvCxnSpPr>
            <a:cxnSpLocks/>
          </p:cNvCxnSpPr>
          <p:nvPr/>
        </p:nvCxnSpPr>
        <p:spPr>
          <a:xfrm flipH="1" flipV="1">
            <a:off x="3812552" y="2553868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D36085-633C-2B68-4D1A-A967FE343714}"/>
              </a:ext>
            </a:extLst>
          </p:cNvPr>
          <p:cNvCxnSpPr>
            <a:cxnSpLocks/>
          </p:cNvCxnSpPr>
          <p:nvPr/>
        </p:nvCxnSpPr>
        <p:spPr>
          <a:xfrm flipH="1" flipV="1">
            <a:off x="3820303" y="1821572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D66084-D684-CC10-D3D1-5487DA49EA68}"/>
              </a:ext>
            </a:extLst>
          </p:cNvPr>
          <p:cNvSpPr txBox="1"/>
          <p:nvPr/>
        </p:nvSpPr>
        <p:spPr>
          <a:xfrm>
            <a:off x="3938477" y="21845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B4E0E9-07B5-C497-29D2-F72D30ED1F68}"/>
              </a:ext>
            </a:extLst>
          </p:cNvPr>
          <p:cNvSpPr txBox="1"/>
          <p:nvPr/>
        </p:nvSpPr>
        <p:spPr>
          <a:xfrm>
            <a:off x="3364284" y="144956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0)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6FBA7604-DAF2-51D8-27A3-C84CFAEB6D21}"/>
              </a:ext>
            </a:extLst>
          </p:cNvPr>
          <p:cNvSpPr/>
          <p:nvPr/>
        </p:nvSpPr>
        <p:spPr>
          <a:xfrm>
            <a:off x="2417736" y="3823855"/>
            <a:ext cx="1823711" cy="655774"/>
          </a:xfrm>
          <a:prstGeom prst="wedgeRoundRectCallout">
            <a:avLst>
              <a:gd name="adj1" fmla="val 26202"/>
              <a:gd name="adj2" fmla="val -9524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Read last incarnation number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1CC526-F5EC-83B2-BCF8-8A37995C8D4F}"/>
              </a:ext>
            </a:extLst>
          </p:cNvPr>
          <p:cNvSpPr txBox="1"/>
          <p:nvPr/>
        </p:nvSpPr>
        <p:spPr>
          <a:xfrm>
            <a:off x="5556845" y="33059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C562E4-1B97-2155-7BA1-5352F6CC68D5}"/>
              </a:ext>
            </a:extLst>
          </p:cNvPr>
          <p:cNvCxnSpPr>
            <a:cxnSpLocks/>
          </p:cNvCxnSpPr>
          <p:nvPr/>
        </p:nvCxnSpPr>
        <p:spPr>
          <a:xfrm flipH="1">
            <a:off x="4978772" y="1829351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2025EE-DE6A-0DE9-1DBD-1760DF17561F}"/>
              </a:ext>
            </a:extLst>
          </p:cNvPr>
          <p:cNvCxnSpPr>
            <a:cxnSpLocks/>
          </p:cNvCxnSpPr>
          <p:nvPr/>
        </p:nvCxnSpPr>
        <p:spPr>
          <a:xfrm flipH="1">
            <a:off x="4978772" y="2550023"/>
            <a:ext cx="236348" cy="74973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A47CFE-2994-7103-BC11-FE652CF60F9B}"/>
              </a:ext>
            </a:extLst>
          </p:cNvPr>
          <p:cNvCxnSpPr>
            <a:cxnSpLocks/>
          </p:cNvCxnSpPr>
          <p:nvPr/>
        </p:nvCxnSpPr>
        <p:spPr>
          <a:xfrm flipH="1" flipV="1">
            <a:off x="5224806" y="2571333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ACDEEC-EB01-F9FE-4518-BE127637694E}"/>
              </a:ext>
            </a:extLst>
          </p:cNvPr>
          <p:cNvCxnSpPr>
            <a:cxnSpLocks/>
          </p:cNvCxnSpPr>
          <p:nvPr/>
        </p:nvCxnSpPr>
        <p:spPr>
          <a:xfrm flipH="1" flipV="1">
            <a:off x="5232557" y="183903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493D1B6-07A6-D5B7-CC67-D2BB82A5DB07}"/>
              </a:ext>
            </a:extLst>
          </p:cNvPr>
          <p:cNvSpPr txBox="1"/>
          <p:nvPr/>
        </p:nvSpPr>
        <p:spPr>
          <a:xfrm>
            <a:off x="5350731" y="22019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0F775C-8325-03B3-54F7-F3B081545B22}"/>
              </a:ext>
            </a:extLst>
          </p:cNvPr>
          <p:cNvSpPr txBox="1"/>
          <p:nvPr/>
        </p:nvSpPr>
        <p:spPr>
          <a:xfrm>
            <a:off x="4776538" y="14670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1)</a:t>
            </a:r>
          </a:p>
        </p:txBody>
      </p: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11702FA4-2C55-6E48-FE8F-58D367A54850}"/>
              </a:ext>
            </a:extLst>
          </p:cNvPr>
          <p:cNvSpPr/>
          <p:nvPr/>
        </p:nvSpPr>
        <p:spPr>
          <a:xfrm>
            <a:off x="4612732" y="3867665"/>
            <a:ext cx="1823711" cy="655774"/>
          </a:xfrm>
          <a:prstGeom prst="wedgeRoundRectCallout">
            <a:avLst>
              <a:gd name="adj1" fmla="val -22925"/>
              <a:gd name="adj2" fmla="val -11074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Store new incarnation number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DCAE44-9D5D-4EDC-5859-96BF60ECED4C}"/>
              </a:ext>
            </a:extLst>
          </p:cNvPr>
          <p:cNvCxnSpPr>
            <a:cxnSpLocks/>
          </p:cNvCxnSpPr>
          <p:nvPr/>
        </p:nvCxnSpPr>
        <p:spPr>
          <a:xfrm flipH="1">
            <a:off x="6878297" y="1829351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CEF120-BE7D-E427-AEDA-ABDFC59EFB23}"/>
              </a:ext>
            </a:extLst>
          </p:cNvPr>
          <p:cNvCxnSpPr>
            <a:cxnSpLocks/>
          </p:cNvCxnSpPr>
          <p:nvPr/>
        </p:nvCxnSpPr>
        <p:spPr>
          <a:xfrm flipH="1">
            <a:off x="6878297" y="2550023"/>
            <a:ext cx="236348" cy="7322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41D297B-05F8-5E8D-5D30-8B646940E795}"/>
              </a:ext>
            </a:extLst>
          </p:cNvPr>
          <p:cNvCxnSpPr>
            <a:cxnSpLocks/>
          </p:cNvCxnSpPr>
          <p:nvPr/>
        </p:nvCxnSpPr>
        <p:spPr>
          <a:xfrm flipH="1" flipV="1">
            <a:off x="7124331" y="2571333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59656D-D759-5AF1-0E86-E9737D45836E}"/>
              </a:ext>
            </a:extLst>
          </p:cNvPr>
          <p:cNvCxnSpPr>
            <a:cxnSpLocks/>
          </p:cNvCxnSpPr>
          <p:nvPr/>
        </p:nvCxnSpPr>
        <p:spPr>
          <a:xfrm flipH="1" flipV="1">
            <a:off x="7132082" y="183903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B612C04-7336-E75F-8C8F-1D2963869BE3}"/>
              </a:ext>
            </a:extLst>
          </p:cNvPr>
          <p:cNvSpPr txBox="1"/>
          <p:nvPr/>
        </p:nvSpPr>
        <p:spPr>
          <a:xfrm>
            <a:off x="7250256" y="22019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4D5988-31F1-4964-76EB-8E99B06B2F56}"/>
              </a:ext>
            </a:extLst>
          </p:cNvPr>
          <p:cNvSpPr txBox="1"/>
          <p:nvPr/>
        </p:nvSpPr>
        <p:spPr>
          <a:xfrm>
            <a:off x="6676063" y="14670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1)</a:t>
            </a:r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7ABE132F-92CF-A9D8-B732-2380256AB70E}"/>
              </a:ext>
            </a:extLst>
          </p:cNvPr>
          <p:cNvSpPr/>
          <p:nvPr/>
        </p:nvSpPr>
        <p:spPr>
          <a:xfrm>
            <a:off x="6715254" y="3605154"/>
            <a:ext cx="1357321" cy="280984"/>
          </a:xfrm>
          <a:prstGeom prst="wedgeRoundRectCallout">
            <a:avLst>
              <a:gd name="adj1" fmla="val -22925"/>
              <a:gd name="adj2" fmla="val -11074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Recover State</a:t>
            </a:r>
          </a:p>
        </p:txBody>
      </p:sp>
      <p:pic>
        <p:nvPicPr>
          <p:cNvPr id="42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0CDBC089-599E-347E-E651-C9498B5FD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 animBg="1"/>
      <p:bldP spid="26" grpId="0"/>
      <p:bldP spid="34" grpId="0"/>
      <p:bldP spid="35" grpId="0"/>
      <p:bldP spid="36" grpId="0" animBg="1"/>
      <p:bldP spid="41" grpId="0"/>
      <p:bldP spid="46" grpId="0"/>
      <p:bldP spid="4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362577-9A45-B94F-91B5-15C78351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55E65-76DA-FDBB-2BB3-1D23F9E8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Incarnation Number Challenges: Distributed Storage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571A7E-EE3E-D0E4-8470-95A3B999A4E3}"/>
              </a:ext>
            </a:extLst>
          </p:cNvPr>
          <p:cNvCxnSpPr/>
          <p:nvPr/>
        </p:nvCxnSpPr>
        <p:spPr>
          <a:xfrm>
            <a:off x="717947" y="1836870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37F6EE-9429-B281-748C-93C0354C3A1B}"/>
              </a:ext>
            </a:extLst>
          </p:cNvPr>
          <p:cNvCxnSpPr/>
          <p:nvPr/>
        </p:nvCxnSpPr>
        <p:spPr>
          <a:xfrm>
            <a:off x="725091" y="2551245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BB117E-EBCD-8B1E-B5BE-C326CF8C84CF}"/>
              </a:ext>
            </a:extLst>
          </p:cNvPr>
          <p:cNvCxnSpPr/>
          <p:nvPr/>
        </p:nvCxnSpPr>
        <p:spPr>
          <a:xfrm>
            <a:off x="725091" y="3301338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ECFE03-3188-94A0-AF6E-88D2E2587B5D}"/>
              </a:ext>
            </a:extLst>
          </p:cNvPr>
          <p:cNvSpPr txBox="1"/>
          <p:nvPr/>
        </p:nvSpPr>
        <p:spPr>
          <a:xfrm>
            <a:off x="289928" y="169193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71D8F-7BF5-FC38-1256-28A7EC8C30BA}"/>
              </a:ext>
            </a:extLst>
          </p:cNvPr>
          <p:cNvSpPr txBox="1"/>
          <p:nvPr/>
        </p:nvSpPr>
        <p:spPr>
          <a:xfrm>
            <a:off x="289928" y="23990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A28CF-7C98-A87A-44A0-BBEEE30CD715}"/>
              </a:ext>
            </a:extLst>
          </p:cNvPr>
          <p:cNvSpPr txBox="1"/>
          <p:nvPr/>
        </p:nvSpPr>
        <p:spPr>
          <a:xfrm>
            <a:off x="289928" y="3166213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D5699-F8F6-0FEA-71DC-A4512FE9DD8E}"/>
              </a:ext>
            </a:extLst>
          </p:cNvPr>
          <p:cNvSpPr txBox="1"/>
          <p:nvPr/>
        </p:nvSpPr>
        <p:spPr>
          <a:xfrm>
            <a:off x="650929" y="155227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112DC-7E02-215C-35B7-EB306F2C838D}"/>
              </a:ext>
            </a:extLst>
          </p:cNvPr>
          <p:cNvSpPr txBox="1"/>
          <p:nvPr/>
        </p:nvSpPr>
        <p:spPr>
          <a:xfrm>
            <a:off x="637368" y="2247756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01916-5376-B5F2-7C2E-687783CFC252}"/>
              </a:ext>
            </a:extLst>
          </p:cNvPr>
          <p:cNvSpPr txBox="1"/>
          <p:nvPr/>
        </p:nvSpPr>
        <p:spPr>
          <a:xfrm>
            <a:off x="660616" y="3003299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2217B3-0E4C-3604-B089-0ED4C21849E7}"/>
              </a:ext>
            </a:extLst>
          </p:cNvPr>
          <p:cNvCxnSpPr>
            <a:cxnSpLocks/>
          </p:cNvCxnSpPr>
          <p:nvPr/>
        </p:nvCxnSpPr>
        <p:spPr>
          <a:xfrm>
            <a:off x="3354021" y="3293891"/>
            <a:ext cx="4247506" cy="7447"/>
          </a:xfrm>
          <a:prstGeom prst="straightConnector1">
            <a:avLst/>
          </a:prstGeom>
          <a:ln w="3810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2DA805-E960-9602-A602-8825A471ED11}"/>
              </a:ext>
            </a:extLst>
          </p:cNvPr>
          <p:cNvSpPr txBox="1"/>
          <p:nvPr/>
        </p:nvSpPr>
        <p:spPr>
          <a:xfrm>
            <a:off x="5955845" y="3003299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BA9E1392-F7F5-F5AF-9C56-567EC51D8D5E}"/>
              </a:ext>
            </a:extLst>
          </p:cNvPr>
          <p:cNvSpPr/>
          <p:nvPr/>
        </p:nvSpPr>
        <p:spPr>
          <a:xfrm>
            <a:off x="2417736" y="3202840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43CAA-04BD-0BAB-9CF7-005F20BFF6C5}"/>
              </a:ext>
            </a:extLst>
          </p:cNvPr>
          <p:cNvSpPr txBox="1"/>
          <p:nvPr/>
        </p:nvSpPr>
        <p:spPr>
          <a:xfrm>
            <a:off x="612321" y="332634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F4E8DF-114F-57C6-00C8-65FE67BB08AE}"/>
              </a:ext>
            </a:extLst>
          </p:cNvPr>
          <p:cNvSpPr txBox="1"/>
          <p:nvPr/>
        </p:nvSpPr>
        <p:spPr>
          <a:xfrm>
            <a:off x="612321" y="25466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B75ED-B5BD-4DE2-F977-BFB3C4EFAA9A}"/>
              </a:ext>
            </a:extLst>
          </p:cNvPr>
          <p:cNvSpPr txBox="1"/>
          <p:nvPr/>
        </p:nvSpPr>
        <p:spPr>
          <a:xfrm>
            <a:off x="612321" y="18363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0F5DE0-8D62-01B3-F859-5126F2BBEB22}"/>
              </a:ext>
            </a:extLst>
          </p:cNvPr>
          <p:cNvSpPr txBox="1"/>
          <p:nvPr/>
        </p:nvSpPr>
        <p:spPr>
          <a:xfrm>
            <a:off x="3225952" y="330593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8517DD4-5F92-1ECB-C542-AA8056B8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614813-01AF-75E1-6975-508124AE7463}"/>
              </a:ext>
            </a:extLst>
          </p:cNvPr>
          <p:cNvSpPr txBox="1"/>
          <p:nvPr/>
        </p:nvSpPr>
        <p:spPr>
          <a:xfrm>
            <a:off x="3938477" y="218450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AB40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840AF-89F9-BF5A-D96A-E064EBA47E48}"/>
              </a:ext>
            </a:extLst>
          </p:cNvPr>
          <p:cNvSpPr txBox="1"/>
          <p:nvPr/>
        </p:nvSpPr>
        <p:spPr>
          <a:xfrm>
            <a:off x="3364284" y="144956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AB40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ED148395-40C7-9DD4-1CBA-9A1D15A9D26F}"/>
              </a:ext>
            </a:extLst>
          </p:cNvPr>
          <p:cNvSpPr/>
          <p:nvPr/>
        </p:nvSpPr>
        <p:spPr>
          <a:xfrm>
            <a:off x="2417736" y="3823855"/>
            <a:ext cx="1823711" cy="655774"/>
          </a:xfrm>
          <a:prstGeom prst="wedgeRoundRectCallout">
            <a:avLst>
              <a:gd name="adj1" fmla="val 26202"/>
              <a:gd name="adj2" fmla="val -9524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Read last incarnation number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AA0AF-1B98-BD3A-0E97-72D535C3AC7B}"/>
              </a:ext>
            </a:extLst>
          </p:cNvPr>
          <p:cNvSpPr txBox="1"/>
          <p:nvPr/>
        </p:nvSpPr>
        <p:spPr>
          <a:xfrm>
            <a:off x="5556845" y="33059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94E66F-2837-F64E-4E27-DD7F77FA9AEE}"/>
              </a:ext>
            </a:extLst>
          </p:cNvPr>
          <p:cNvSpPr txBox="1"/>
          <p:nvPr/>
        </p:nvSpPr>
        <p:spPr>
          <a:xfrm>
            <a:off x="5350731" y="2201971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AB40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E0B20F-3FE4-2CEB-A5E7-D54FFB02BD9D}"/>
              </a:ext>
            </a:extLst>
          </p:cNvPr>
          <p:cNvSpPr txBox="1"/>
          <p:nvPr/>
        </p:nvSpPr>
        <p:spPr>
          <a:xfrm>
            <a:off x="4776538" y="146702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AB40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686D4FE3-A1F4-9754-F16F-90F262DC9B45}"/>
              </a:ext>
            </a:extLst>
          </p:cNvPr>
          <p:cNvSpPr/>
          <p:nvPr/>
        </p:nvSpPr>
        <p:spPr>
          <a:xfrm>
            <a:off x="4612732" y="3867665"/>
            <a:ext cx="1823711" cy="655774"/>
          </a:xfrm>
          <a:prstGeom prst="wedgeRoundRectCallout">
            <a:avLst>
              <a:gd name="adj1" fmla="val -22925"/>
              <a:gd name="adj2" fmla="val -11074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Store new incarnation number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D33DA5-CC60-EB76-27B8-B146D7362E80}"/>
              </a:ext>
            </a:extLst>
          </p:cNvPr>
          <p:cNvSpPr txBox="1"/>
          <p:nvPr/>
        </p:nvSpPr>
        <p:spPr>
          <a:xfrm>
            <a:off x="7250256" y="2201971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AB40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AA2432-78A9-C18B-E722-882137B810F9}"/>
              </a:ext>
            </a:extLst>
          </p:cNvPr>
          <p:cNvSpPr txBox="1"/>
          <p:nvPr/>
        </p:nvSpPr>
        <p:spPr>
          <a:xfrm>
            <a:off x="6676063" y="146702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1,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AB40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7407AFFE-5A9A-66D5-CB33-A42EDDFE51C6}"/>
              </a:ext>
            </a:extLst>
          </p:cNvPr>
          <p:cNvSpPr/>
          <p:nvPr/>
        </p:nvSpPr>
        <p:spPr>
          <a:xfrm>
            <a:off x="6715254" y="3605154"/>
            <a:ext cx="1357321" cy="280984"/>
          </a:xfrm>
          <a:prstGeom prst="wedgeRoundRectCallout">
            <a:avLst>
              <a:gd name="adj1" fmla="val -22925"/>
              <a:gd name="adj2" fmla="val -11074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Recover State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6850A34-06B7-1B91-9687-8144F9AC7702}"/>
              </a:ext>
            </a:extLst>
          </p:cNvPr>
          <p:cNvSpPr/>
          <p:nvPr/>
        </p:nvSpPr>
        <p:spPr>
          <a:xfrm>
            <a:off x="6923181" y="1604655"/>
            <a:ext cx="439765" cy="13637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56" name="Speech Bubble: Rectangle with Corners Rounded 55">
            <a:extLst>
              <a:ext uri="{FF2B5EF4-FFF2-40B4-BE49-F238E27FC236}">
                <a16:creationId xmlns:a16="http://schemas.microsoft.com/office/drawing/2014/main" id="{9BF1665B-03A8-E670-1424-A988416CE29D}"/>
              </a:ext>
            </a:extLst>
          </p:cNvPr>
          <p:cNvSpPr/>
          <p:nvPr/>
        </p:nvSpPr>
        <p:spPr>
          <a:xfrm>
            <a:off x="7026225" y="503805"/>
            <a:ext cx="1692164" cy="683343"/>
          </a:xfrm>
          <a:prstGeom prst="wedgeRoundRectCallout">
            <a:avLst>
              <a:gd name="adj1" fmla="val -32296"/>
              <a:gd name="adj2" fmla="val 11586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Crash-consistent!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9868F9F-FA1D-4DFB-9234-34E6047B42EB}"/>
              </a:ext>
            </a:extLst>
          </p:cNvPr>
          <p:cNvSpPr/>
          <p:nvPr/>
        </p:nvSpPr>
        <p:spPr>
          <a:xfrm>
            <a:off x="5033810" y="1611409"/>
            <a:ext cx="439765" cy="13637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58" name="Speech Bubble: Rectangle with Corners Rounded 57">
            <a:extLst>
              <a:ext uri="{FF2B5EF4-FFF2-40B4-BE49-F238E27FC236}">
                <a16:creationId xmlns:a16="http://schemas.microsoft.com/office/drawing/2014/main" id="{7C06BCB0-9F76-9F2E-A453-4567FC63A0B3}"/>
              </a:ext>
            </a:extLst>
          </p:cNvPr>
          <p:cNvSpPr/>
          <p:nvPr/>
        </p:nvSpPr>
        <p:spPr>
          <a:xfrm>
            <a:off x="5136854" y="510559"/>
            <a:ext cx="1692164" cy="683343"/>
          </a:xfrm>
          <a:prstGeom prst="wedgeRoundRectCallout">
            <a:avLst>
              <a:gd name="adj1" fmla="val -32296"/>
              <a:gd name="adj2" fmla="val 11586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Crash-consistent!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D8F9DA8-4EE1-433F-BE8E-E4B555CFF3EA}"/>
              </a:ext>
            </a:extLst>
          </p:cNvPr>
          <p:cNvCxnSpPr>
            <a:cxnSpLocks/>
          </p:cNvCxnSpPr>
          <p:nvPr/>
        </p:nvCxnSpPr>
        <p:spPr>
          <a:xfrm flipH="1">
            <a:off x="3566518" y="1811886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AA6181-E431-889F-67B3-CAFC26EE9C75}"/>
              </a:ext>
            </a:extLst>
          </p:cNvPr>
          <p:cNvCxnSpPr>
            <a:cxnSpLocks/>
          </p:cNvCxnSpPr>
          <p:nvPr/>
        </p:nvCxnSpPr>
        <p:spPr>
          <a:xfrm flipH="1">
            <a:off x="3566518" y="2532558"/>
            <a:ext cx="236348" cy="75750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F342CD-8491-8F41-6C2A-1EED566B9651}"/>
              </a:ext>
            </a:extLst>
          </p:cNvPr>
          <p:cNvCxnSpPr>
            <a:cxnSpLocks/>
          </p:cNvCxnSpPr>
          <p:nvPr/>
        </p:nvCxnSpPr>
        <p:spPr>
          <a:xfrm flipH="1" flipV="1">
            <a:off x="3812552" y="2553868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319B3A-4C89-0429-A710-E3D7C710FB08}"/>
              </a:ext>
            </a:extLst>
          </p:cNvPr>
          <p:cNvCxnSpPr>
            <a:cxnSpLocks/>
          </p:cNvCxnSpPr>
          <p:nvPr/>
        </p:nvCxnSpPr>
        <p:spPr>
          <a:xfrm flipH="1" flipV="1">
            <a:off x="3820303" y="1821572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EC1989-970F-98F8-C7DD-A89E0BCCA81B}"/>
              </a:ext>
            </a:extLst>
          </p:cNvPr>
          <p:cNvCxnSpPr>
            <a:cxnSpLocks/>
          </p:cNvCxnSpPr>
          <p:nvPr/>
        </p:nvCxnSpPr>
        <p:spPr>
          <a:xfrm flipH="1">
            <a:off x="4978772" y="1829351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D33421-CB51-1B58-9B26-2D7273902C09}"/>
              </a:ext>
            </a:extLst>
          </p:cNvPr>
          <p:cNvCxnSpPr>
            <a:cxnSpLocks/>
          </p:cNvCxnSpPr>
          <p:nvPr/>
        </p:nvCxnSpPr>
        <p:spPr>
          <a:xfrm flipH="1">
            <a:off x="4978772" y="2550023"/>
            <a:ext cx="236348" cy="74973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CF777DA-1838-25FD-3368-A9FC4A186E05}"/>
              </a:ext>
            </a:extLst>
          </p:cNvPr>
          <p:cNvCxnSpPr>
            <a:cxnSpLocks/>
          </p:cNvCxnSpPr>
          <p:nvPr/>
        </p:nvCxnSpPr>
        <p:spPr>
          <a:xfrm flipH="1" flipV="1">
            <a:off x="5224806" y="2571333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3F501B-E998-D400-E285-027FD4BBF7B9}"/>
              </a:ext>
            </a:extLst>
          </p:cNvPr>
          <p:cNvCxnSpPr>
            <a:cxnSpLocks/>
          </p:cNvCxnSpPr>
          <p:nvPr/>
        </p:nvCxnSpPr>
        <p:spPr>
          <a:xfrm flipH="1" flipV="1">
            <a:off x="5232557" y="183903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092C51-CF2A-B405-F224-A6CF70CC9473}"/>
              </a:ext>
            </a:extLst>
          </p:cNvPr>
          <p:cNvCxnSpPr>
            <a:cxnSpLocks/>
          </p:cNvCxnSpPr>
          <p:nvPr/>
        </p:nvCxnSpPr>
        <p:spPr>
          <a:xfrm flipH="1">
            <a:off x="6878297" y="1829351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BE616F5-CB11-B6D8-A74D-20CC4BDC163F}"/>
              </a:ext>
            </a:extLst>
          </p:cNvPr>
          <p:cNvCxnSpPr>
            <a:cxnSpLocks/>
          </p:cNvCxnSpPr>
          <p:nvPr/>
        </p:nvCxnSpPr>
        <p:spPr>
          <a:xfrm flipH="1">
            <a:off x="6878297" y="2550023"/>
            <a:ext cx="236348" cy="7322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73C0AF2-6BE8-4686-7495-15B45AC434DB}"/>
              </a:ext>
            </a:extLst>
          </p:cNvPr>
          <p:cNvCxnSpPr>
            <a:cxnSpLocks/>
          </p:cNvCxnSpPr>
          <p:nvPr/>
        </p:nvCxnSpPr>
        <p:spPr>
          <a:xfrm flipH="1" flipV="1">
            <a:off x="7124331" y="2571333"/>
            <a:ext cx="185980" cy="72067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8EAB8C6-5BEF-050E-8788-150B94F5ACEB}"/>
              </a:ext>
            </a:extLst>
          </p:cNvPr>
          <p:cNvCxnSpPr>
            <a:cxnSpLocks/>
          </p:cNvCxnSpPr>
          <p:nvPr/>
        </p:nvCxnSpPr>
        <p:spPr>
          <a:xfrm flipH="1" flipV="1">
            <a:off x="7132082" y="1839037"/>
            <a:ext cx="236348" cy="14607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503DCBA7-0A64-F0EA-324B-894057F08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26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B8C4EC-66B6-CC7F-F93D-512B6C2B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CC6F-0F63-12C2-0EB0-107FAF97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Incarnation Number Challenges: Simultaneous Recovery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BF713A-CD41-6035-87F6-9CE7BB281A3D}"/>
              </a:ext>
            </a:extLst>
          </p:cNvPr>
          <p:cNvCxnSpPr/>
          <p:nvPr/>
        </p:nvCxnSpPr>
        <p:spPr>
          <a:xfrm>
            <a:off x="717947" y="1836870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9FD8C7-0996-D5A0-2C42-5B9C58463364}"/>
              </a:ext>
            </a:extLst>
          </p:cNvPr>
          <p:cNvCxnSpPr/>
          <p:nvPr/>
        </p:nvCxnSpPr>
        <p:spPr>
          <a:xfrm>
            <a:off x="725091" y="2551245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EDE5ED-B81C-03A1-5290-C09860B5052B}"/>
              </a:ext>
            </a:extLst>
          </p:cNvPr>
          <p:cNvCxnSpPr/>
          <p:nvPr/>
        </p:nvCxnSpPr>
        <p:spPr>
          <a:xfrm>
            <a:off x="725091" y="3301338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E0F6D0-6C33-FDC9-24E6-74B94EBF9A68}"/>
              </a:ext>
            </a:extLst>
          </p:cNvPr>
          <p:cNvSpPr txBox="1"/>
          <p:nvPr/>
        </p:nvSpPr>
        <p:spPr>
          <a:xfrm>
            <a:off x="289928" y="169193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7C74C-688B-7523-7406-98B00C05C039}"/>
              </a:ext>
            </a:extLst>
          </p:cNvPr>
          <p:cNvSpPr txBox="1"/>
          <p:nvPr/>
        </p:nvSpPr>
        <p:spPr>
          <a:xfrm>
            <a:off x="289928" y="23990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CF8DD3-94D2-8375-B16D-FC884C3E3FDC}"/>
              </a:ext>
            </a:extLst>
          </p:cNvPr>
          <p:cNvSpPr txBox="1"/>
          <p:nvPr/>
        </p:nvSpPr>
        <p:spPr>
          <a:xfrm>
            <a:off x="289928" y="3166213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D658F-6E38-FEB2-3CD0-D0358E4C8C9A}"/>
              </a:ext>
            </a:extLst>
          </p:cNvPr>
          <p:cNvSpPr txBox="1"/>
          <p:nvPr/>
        </p:nvSpPr>
        <p:spPr>
          <a:xfrm>
            <a:off x="650929" y="155227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07279-6942-642D-470D-F6A81282D32E}"/>
              </a:ext>
            </a:extLst>
          </p:cNvPr>
          <p:cNvSpPr txBox="1"/>
          <p:nvPr/>
        </p:nvSpPr>
        <p:spPr>
          <a:xfrm>
            <a:off x="637368" y="2247756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C8A77-FF34-D3FD-9231-C630A3D8B225}"/>
              </a:ext>
            </a:extLst>
          </p:cNvPr>
          <p:cNvSpPr txBox="1"/>
          <p:nvPr/>
        </p:nvSpPr>
        <p:spPr>
          <a:xfrm>
            <a:off x="660616" y="3003299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0370DF-6BFD-1DBF-2C9F-31E63361532C}"/>
              </a:ext>
            </a:extLst>
          </p:cNvPr>
          <p:cNvSpPr txBox="1"/>
          <p:nvPr/>
        </p:nvSpPr>
        <p:spPr>
          <a:xfrm>
            <a:off x="2346933" y="301170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9B1BD7D9-2FD8-3A39-6522-C9B74B92F564}"/>
              </a:ext>
            </a:extLst>
          </p:cNvPr>
          <p:cNvSpPr/>
          <p:nvPr/>
        </p:nvSpPr>
        <p:spPr>
          <a:xfrm>
            <a:off x="1281663" y="3202840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F482D-B161-76DF-7BB7-14D1396943DD}"/>
              </a:ext>
            </a:extLst>
          </p:cNvPr>
          <p:cNvSpPr txBox="1"/>
          <p:nvPr/>
        </p:nvSpPr>
        <p:spPr>
          <a:xfrm>
            <a:off x="612321" y="332634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ADF7D4-A5FC-1871-F045-AD8F71F8AD7D}"/>
              </a:ext>
            </a:extLst>
          </p:cNvPr>
          <p:cNvSpPr txBox="1"/>
          <p:nvPr/>
        </p:nvSpPr>
        <p:spPr>
          <a:xfrm>
            <a:off x="612321" y="25466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6395C-21CF-F3E7-8E82-C32068227E30}"/>
              </a:ext>
            </a:extLst>
          </p:cNvPr>
          <p:cNvSpPr txBox="1"/>
          <p:nvPr/>
        </p:nvSpPr>
        <p:spPr>
          <a:xfrm>
            <a:off x="612321" y="18363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917AB8-7E91-30F6-CDF7-1DA138E7DCC3}"/>
              </a:ext>
            </a:extLst>
          </p:cNvPr>
          <p:cNvSpPr txBox="1"/>
          <p:nvPr/>
        </p:nvSpPr>
        <p:spPr>
          <a:xfrm>
            <a:off x="2125875" y="296562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1138BCC-A216-8B49-D810-E1317EC1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D84CA5-F684-FBB5-E1D8-ADB0B9CBC350}"/>
              </a:ext>
            </a:extLst>
          </p:cNvPr>
          <p:cNvCxnSpPr/>
          <p:nvPr/>
        </p:nvCxnSpPr>
        <p:spPr>
          <a:xfrm>
            <a:off x="725091" y="3995018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3C503FC-5C9F-3420-0757-8E21B3B2485E}"/>
              </a:ext>
            </a:extLst>
          </p:cNvPr>
          <p:cNvSpPr txBox="1"/>
          <p:nvPr/>
        </p:nvSpPr>
        <p:spPr>
          <a:xfrm>
            <a:off x="289928" y="3859893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B55853-661C-354B-2279-C2249B5ED9FE}"/>
              </a:ext>
            </a:extLst>
          </p:cNvPr>
          <p:cNvSpPr txBox="1"/>
          <p:nvPr/>
        </p:nvSpPr>
        <p:spPr>
          <a:xfrm>
            <a:off x="660616" y="3696979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4982FF-3B71-CFEB-6EAD-0BB5AC4BDB4A}"/>
              </a:ext>
            </a:extLst>
          </p:cNvPr>
          <p:cNvSpPr txBox="1"/>
          <p:nvPr/>
        </p:nvSpPr>
        <p:spPr>
          <a:xfrm>
            <a:off x="612321" y="40200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50" name="Explosion 1 24">
            <a:extLst>
              <a:ext uri="{FF2B5EF4-FFF2-40B4-BE49-F238E27FC236}">
                <a16:creationId xmlns:a16="http://schemas.microsoft.com/office/drawing/2014/main" id="{0804C3B4-9453-84C5-BA93-3090BC2534BA}"/>
              </a:ext>
            </a:extLst>
          </p:cNvPr>
          <p:cNvSpPr/>
          <p:nvPr/>
        </p:nvSpPr>
        <p:spPr>
          <a:xfrm>
            <a:off x="1557699" y="3902028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4A92A5-46FA-5E21-A980-08F236FDC350}"/>
              </a:ext>
            </a:extLst>
          </p:cNvPr>
          <p:cNvSpPr txBox="1"/>
          <p:nvPr/>
        </p:nvSpPr>
        <p:spPr>
          <a:xfrm>
            <a:off x="2123013" y="4054926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04D656-356F-0C41-0363-3ABE22FFF401}"/>
              </a:ext>
            </a:extLst>
          </p:cNvPr>
          <p:cNvSpPr txBox="1"/>
          <p:nvPr/>
        </p:nvSpPr>
        <p:spPr>
          <a:xfrm>
            <a:off x="1901955" y="400884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26583B-C771-B477-3285-23A218CA68B4}"/>
              </a:ext>
            </a:extLst>
          </p:cNvPr>
          <p:cNvCxnSpPr>
            <a:cxnSpLocks/>
          </p:cNvCxnSpPr>
          <p:nvPr/>
        </p:nvCxnSpPr>
        <p:spPr>
          <a:xfrm>
            <a:off x="2139287" y="3300812"/>
            <a:ext cx="5794749" cy="0"/>
          </a:xfrm>
          <a:prstGeom prst="straightConnector1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DD612F-2CA3-0F19-C708-768E5CBC0DF3}"/>
              </a:ext>
            </a:extLst>
          </p:cNvPr>
          <p:cNvCxnSpPr>
            <a:cxnSpLocks/>
          </p:cNvCxnSpPr>
          <p:nvPr/>
        </p:nvCxnSpPr>
        <p:spPr>
          <a:xfrm flipV="1">
            <a:off x="2017458" y="3994492"/>
            <a:ext cx="5916578" cy="5119"/>
          </a:xfrm>
          <a:prstGeom prst="straightConnector1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hicken or Egg Problems for Your Services Business">
            <a:extLst>
              <a:ext uri="{FF2B5EF4-FFF2-40B4-BE49-F238E27FC236}">
                <a16:creationId xmlns:a16="http://schemas.microsoft.com/office/drawing/2014/main" id="{09B03804-B3B7-2EFF-4AB7-BA7EE1054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101" y="353591"/>
            <a:ext cx="2221199" cy="124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084151-11EF-F9CA-4DB0-8CE7719654EE}"/>
              </a:ext>
            </a:extLst>
          </p:cNvPr>
          <p:cNvCxnSpPr>
            <a:cxnSpLocks/>
          </p:cNvCxnSpPr>
          <p:nvPr/>
        </p:nvCxnSpPr>
        <p:spPr>
          <a:xfrm flipH="1">
            <a:off x="3158836" y="3293706"/>
            <a:ext cx="433450" cy="69640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E558D0-660C-DB90-D88A-51A13CE5F336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3302000"/>
            <a:ext cx="382841" cy="36778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42E713BD-1FC5-FE1E-C9E8-F140D449CB96}"/>
              </a:ext>
            </a:extLst>
          </p:cNvPr>
          <p:cNvSpPr/>
          <p:nvPr/>
        </p:nvSpPr>
        <p:spPr>
          <a:xfrm>
            <a:off x="2791325" y="4378179"/>
            <a:ext cx="1823711" cy="655774"/>
          </a:xfrm>
          <a:prstGeom prst="wedgeRoundRectCallout">
            <a:avLst>
              <a:gd name="adj1" fmla="val -28496"/>
              <a:gd name="adj2" fmla="val -966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Store new incarnation number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81207E-9010-A5E7-778D-DFB896F61EA2}"/>
              </a:ext>
            </a:extLst>
          </p:cNvPr>
          <p:cNvSpPr txBox="1"/>
          <p:nvPr/>
        </p:nvSpPr>
        <p:spPr>
          <a:xfrm>
            <a:off x="3725049" y="361120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?)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D99068DC-3AF2-38D7-6100-842E4ED3C8C9}"/>
              </a:ext>
            </a:extLst>
          </p:cNvPr>
          <p:cNvSpPr/>
          <p:nvPr/>
        </p:nvSpPr>
        <p:spPr>
          <a:xfrm>
            <a:off x="4483715" y="2288945"/>
            <a:ext cx="1823711" cy="655774"/>
          </a:xfrm>
          <a:prstGeom prst="wedgeRoundRectCallout">
            <a:avLst>
              <a:gd name="adj1" fmla="val -20899"/>
              <a:gd name="adj2" fmla="val 8926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Store new incarnation number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3923CF-5BD8-D158-3DAA-AC5650FC499C}"/>
              </a:ext>
            </a:extLst>
          </p:cNvPr>
          <p:cNvCxnSpPr>
            <a:cxnSpLocks/>
          </p:cNvCxnSpPr>
          <p:nvPr/>
        </p:nvCxnSpPr>
        <p:spPr>
          <a:xfrm flipH="1" flipV="1">
            <a:off x="5016738" y="3300287"/>
            <a:ext cx="467510" cy="70856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68C943-5CCA-AE00-0ED8-61D6E14E3F43}"/>
              </a:ext>
            </a:extLst>
          </p:cNvPr>
          <p:cNvCxnSpPr>
            <a:cxnSpLocks/>
          </p:cNvCxnSpPr>
          <p:nvPr/>
        </p:nvCxnSpPr>
        <p:spPr>
          <a:xfrm flipH="1">
            <a:off x="5484248" y="3642115"/>
            <a:ext cx="283423" cy="36673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23BF69E-3E6B-CE6E-F124-8924EF9C8E46}"/>
              </a:ext>
            </a:extLst>
          </p:cNvPr>
          <p:cNvSpPr txBox="1"/>
          <p:nvPr/>
        </p:nvSpPr>
        <p:spPr>
          <a:xfrm>
            <a:off x="5767671" y="336753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(P4, ?)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92FDDF0-21C6-4CC6-913C-A8A2B5705EDC}"/>
              </a:ext>
            </a:extLst>
          </p:cNvPr>
          <p:cNvCxnSpPr>
            <a:cxnSpLocks/>
          </p:cNvCxnSpPr>
          <p:nvPr/>
        </p:nvCxnSpPr>
        <p:spPr>
          <a:xfrm flipH="1">
            <a:off x="3165404" y="2546652"/>
            <a:ext cx="422732" cy="143231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44633C-EAD7-6503-12FE-702B08B272CB}"/>
              </a:ext>
            </a:extLst>
          </p:cNvPr>
          <p:cNvCxnSpPr>
            <a:cxnSpLocks/>
          </p:cNvCxnSpPr>
          <p:nvPr/>
        </p:nvCxnSpPr>
        <p:spPr>
          <a:xfrm flipH="1">
            <a:off x="3163604" y="1832252"/>
            <a:ext cx="246264" cy="214171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loud 38">
            <a:extLst>
              <a:ext uri="{FF2B5EF4-FFF2-40B4-BE49-F238E27FC236}">
                <a16:creationId xmlns:a16="http://schemas.microsoft.com/office/drawing/2014/main" id="{53C08756-0E50-437F-3C7C-D533EDE6FC12}"/>
              </a:ext>
            </a:extLst>
          </p:cNvPr>
          <p:cNvSpPr/>
          <p:nvPr/>
        </p:nvSpPr>
        <p:spPr>
          <a:xfrm>
            <a:off x="1094805" y="865992"/>
            <a:ext cx="3076887" cy="2174495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Reusing incarnation numbers is safe!</a:t>
            </a:r>
          </a:p>
        </p:txBody>
      </p:sp>
      <p:pic>
        <p:nvPicPr>
          <p:cNvPr id="18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6B707F10-D781-F309-109C-BDF93414D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03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31" grpId="0"/>
      <p:bldP spid="50" grpId="0" animBg="1"/>
      <p:bldP spid="52" grpId="0"/>
      <p:bldP spid="53" grpId="0"/>
      <p:bldP spid="21" grpId="0" animBg="1"/>
      <p:bldP spid="22" grpId="0"/>
      <p:bldP spid="23" grpId="0" animBg="1"/>
      <p:bldP spid="41" grpId="0"/>
      <p:bldP spid="3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CC59E2-EEB7-7999-2C7B-F3C0C39E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4B17-E1A0-F7DF-0C28-444951E1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Incarnation Number Challenges: Simultaneous Recovery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3BC50C-3160-24F1-1CB9-79C36A4E92A1}"/>
              </a:ext>
            </a:extLst>
          </p:cNvPr>
          <p:cNvCxnSpPr/>
          <p:nvPr/>
        </p:nvCxnSpPr>
        <p:spPr>
          <a:xfrm>
            <a:off x="717947" y="1836870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F60475-FF89-DFC8-5751-CD9EFC9B470D}"/>
              </a:ext>
            </a:extLst>
          </p:cNvPr>
          <p:cNvCxnSpPr/>
          <p:nvPr/>
        </p:nvCxnSpPr>
        <p:spPr>
          <a:xfrm>
            <a:off x="725091" y="2551245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FC5D31-B40C-C3AA-C5EF-51C027D96F9E}"/>
              </a:ext>
            </a:extLst>
          </p:cNvPr>
          <p:cNvCxnSpPr/>
          <p:nvPr/>
        </p:nvCxnSpPr>
        <p:spPr>
          <a:xfrm>
            <a:off x="725091" y="3301338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EDCA08-9D86-BF86-ABD4-45D804FAF23B}"/>
              </a:ext>
            </a:extLst>
          </p:cNvPr>
          <p:cNvSpPr txBox="1"/>
          <p:nvPr/>
        </p:nvSpPr>
        <p:spPr>
          <a:xfrm>
            <a:off x="289928" y="169193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30CDE-6586-D56E-4A59-76C74BA67A17}"/>
              </a:ext>
            </a:extLst>
          </p:cNvPr>
          <p:cNvSpPr txBox="1"/>
          <p:nvPr/>
        </p:nvSpPr>
        <p:spPr>
          <a:xfrm>
            <a:off x="289928" y="239904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9A76-2B3F-1E6B-C44B-AF3F149D15EF}"/>
              </a:ext>
            </a:extLst>
          </p:cNvPr>
          <p:cNvSpPr txBox="1"/>
          <p:nvPr/>
        </p:nvSpPr>
        <p:spPr>
          <a:xfrm>
            <a:off x="289928" y="3166213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F9BAA-605E-1B9A-074F-8A1A9F7D6458}"/>
              </a:ext>
            </a:extLst>
          </p:cNvPr>
          <p:cNvSpPr txBox="1"/>
          <p:nvPr/>
        </p:nvSpPr>
        <p:spPr>
          <a:xfrm>
            <a:off x="650929" y="1552270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66BD01-EA11-5C68-F1EF-11346B46DF1D}"/>
              </a:ext>
            </a:extLst>
          </p:cNvPr>
          <p:cNvSpPr txBox="1"/>
          <p:nvPr/>
        </p:nvSpPr>
        <p:spPr>
          <a:xfrm>
            <a:off x="637368" y="2247756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034C2-004B-A9A4-C5AC-4C8E47977C49}"/>
              </a:ext>
            </a:extLst>
          </p:cNvPr>
          <p:cNvSpPr txBox="1"/>
          <p:nvPr/>
        </p:nvSpPr>
        <p:spPr>
          <a:xfrm>
            <a:off x="660616" y="3003299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1590E-8BBD-01BA-BC0A-1F6CAD97A42F}"/>
              </a:ext>
            </a:extLst>
          </p:cNvPr>
          <p:cNvSpPr txBox="1"/>
          <p:nvPr/>
        </p:nvSpPr>
        <p:spPr>
          <a:xfrm>
            <a:off x="2346933" y="3011704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25" name="Explosion 1 24">
            <a:extLst>
              <a:ext uri="{FF2B5EF4-FFF2-40B4-BE49-F238E27FC236}">
                <a16:creationId xmlns:a16="http://schemas.microsoft.com/office/drawing/2014/main" id="{1E4DD6A4-4CAF-7DF0-C770-23E1EF410428}"/>
              </a:ext>
            </a:extLst>
          </p:cNvPr>
          <p:cNvSpPr/>
          <p:nvPr/>
        </p:nvSpPr>
        <p:spPr>
          <a:xfrm>
            <a:off x="1281663" y="3202840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3669B-0C7F-AB51-1139-F1D3280A9B6B}"/>
              </a:ext>
            </a:extLst>
          </p:cNvPr>
          <p:cNvSpPr txBox="1"/>
          <p:nvPr/>
        </p:nvSpPr>
        <p:spPr>
          <a:xfrm>
            <a:off x="612321" y="332634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845D3B-586A-2F3F-D69F-561C8E3C1C85}"/>
              </a:ext>
            </a:extLst>
          </p:cNvPr>
          <p:cNvSpPr txBox="1"/>
          <p:nvPr/>
        </p:nvSpPr>
        <p:spPr>
          <a:xfrm>
            <a:off x="612321" y="25466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FB3B5C-E6FB-AF16-CBC9-5CAF9CE4150F}"/>
              </a:ext>
            </a:extLst>
          </p:cNvPr>
          <p:cNvSpPr txBox="1"/>
          <p:nvPr/>
        </p:nvSpPr>
        <p:spPr>
          <a:xfrm>
            <a:off x="612321" y="18363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20620F-235C-880E-4043-CA10EE29028A}"/>
              </a:ext>
            </a:extLst>
          </p:cNvPr>
          <p:cNvSpPr txBox="1"/>
          <p:nvPr/>
        </p:nvSpPr>
        <p:spPr>
          <a:xfrm>
            <a:off x="2125875" y="29656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F105902-E945-BD97-E11E-69D94EAE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30EA680-D336-4FF7-8B7A-9848BB0A1C32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33C571-2503-58E4-2979-C72A34D56423}"/>
              </a:ext>
            </a:extLst>
          </p:cNvPr>
          <p:cNvCxnSpPr/>
          <p:nvPr/>
        </p:nvCxnSpPr>
        <p:spPr>
          <a:xfrm>
            <a:off x="725091" y="3995018"/>
            <a:ext cx="737235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7D8B6E0-AA8C-9C63-3062-CA6F9D7E74E2}"/>
              </a:ext>
            </a:extLst>
          </p:cNvPr>
          <p:cNvSpPr txBox="1"/>
          <p:nvPr/>
        </p:nvSpPr>
        <p:spPr>
          <a:xfrm>
            <a:off x="289928" y="3859893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A62850-1FDC-05E1-BEFD-CFDB5D2B7788}"/>
              </a:ext>
            </a:extLst>
          </p:cNvPr>
          <p:cNvSpPr txBox="1"/>
          <p:nvPr/>
        </p:nvSpPr>
        <p:spPr>
          <a:xfrm>
            <a:off x="660616" y="3696979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(0, v</a:t>
            </a:r>
            <a:r>
              <a:rPr kumimoji="0" lang="en-US" sz="105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397585-34B8-6D81-57B7-418FBD09D617}"/>
              </a:ext>
            </a:extLst>
          </p:cNvPr>
          <p:cNvSpPr txBox="1"/>
          <p:nvPr/>
        </p:nvSpPr>
        <p:spPr>
          <a:xfrm>
            <a:off x="612321" y="40200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sp>
        <p:nvSpPr>
          <p:cNvPr id="50" name="Explosion 1 24">
            <a:extLst>
              <a:ext uri="{FF2B5EF4-FFF2-40B4-BE49-F238E27FC236}">
                <a16:creationId xmlns:a16="http://schemas.microsoft.com/office/drawing/2014/main" id="{6F69ED42-6913-B824-66FD-200C3AC49E8D}"/>
              </a:ext>
            </a:extLst>
          </p:cNvPr>
          <p:cNvSpPr/>
          <p:nvPr/>
        </p:nvSpPr>
        <p:spPr>
          <a:xfrm>
            <a:off x="1557699" y="3902028"/>
            <a:ext cx="185980" cy="18598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F9B848-E8C3-0693-242D-575D4418C6C4}"/>
              </a:ext>
            </a:extLst>
          </p:cNvPr>
          <p:cNvSpPr txBox="1"/>
          <p:nvPr/>
        </p:nvSpPr>
        <p:spPr>
          <a:xfrm>
            <a:off x="2123013" y="4054926"/>
            <a:ext cx="8354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Restart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7F8B00-D267-2635-FC15-B54C30A05C82}"/>
              </a:ext>
            </a:extLst>
          </p:cNvPr>
          <p:cNvSpPr txBox="1"/>
          <p:nvPr/>
        </p:nvSpPr>
        <p:spPr>
          <a:xfrm>
            <a:off x="1901955" y="40088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10BCAA-2099-B3C4-7CE2-EEAFEF1683E7}"/>
              </a:ext>
            </a:extLst>
          </p:cNvPr>
          <p:cNvCxnSpPr>
            <a:cxnSpLocks/>
          </p:cNvCxnSpPr>
          <p:nvPr/>
        </p:nvCxnSpPr>
        <p:spPr>
          <a:xfrm>
            <a:off x="2139287" y="3300812"/>
            <a:ext cx="5794749" cy="0"/>
          </a:xfrm>
          <a:prstGeom prst="straightConnector1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C3AC9E-A4B2-5046-A156-E475709A3572}"/>
              </a:ext>
            </a:extLst>
          </p:cNvPr>
          <p:cNvCxnSpPr>
            <a:cxnSpLocks/>
          </p:cNvCxnSpPr>
          <p:nvPr/>
        </p:nvCxnSpPr>
        <p:spPr>
          <a:xfrm flipV="1">
            <a:off x="2017458" y="3994492"/>
            <a:ext cx="5916578" cy="5119"/>
          </a:xfrm>
          <a:prstGeom prst="straightConnector1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B429B82F-EB20-8B96-A24D-F906C414E2AC}"/>
              </a:ext>
            </a:extLst>
          </p:cNvPr>
          <p:cNvSpPr/>
          <p:nvPr/>
        </p:nvSpPr>
        <p:spPr>
          <a:xfrm>
            <a:off x="2791325" y="4378179"/>
            <a:ext cx="1823711" cy="655774"/>
          </a:xfrm>
          <a:prstGeom prst="wedgeRoundRectCallout">
            <a:avLst>
              <a:gd name="adj1" fmla="val -28496"/>
              <a:gd name="adj2" fmla="val -966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Store new incarnation number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363AF-64BA-9E32-B933-A1ADE910B7B9}"/>
              </a:ext>
            </a:extLst>
          </p:cNvPr>
          <p:cNvSpPr txBox="1"/>
          <p:nvPr/>
        </p:nvSpPr>
        <p:spPr>
          <a:xfrm>
            <a:off x="3877378" y="352837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0)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1A4DAE7-CA56-EC15-E00C-918E8DD8C300}"/>
              </a:ext>
            </a:extLst>
          </p:cNvPr>
          <p:cNvCxnSpPr>
            <a:cxnSpLocks/>
          </p:cNvCxnSpPr>
          <p:nvPr/>
        </p:nvCxnSpPr>
        <p:spPr>
          <a:xfrm flipH="1">
            <a:off x="3165404" y="2546652"/>
            <a:ext cx="422732" cy="143231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1D84811-D3EA-6E80-9B83-C62D4030B17C}"/>
              </a:ext>
            </a:extLst>
          </p:cNvPr>
          <p:cNvCxnSpPr>
            <a:cxnSpLocks/>
          </p:cNvCxnSpPr>
          <p:nvPr/>
        </p:nvCxnSpPr>
        <p:spPr>
          <a:xfrm flipH="1">
            <a:off x="3163604" y="1832252"/>
            <a:ext cx="246264" cy="214171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19FF62-CCCD-F6D8-BB39-ABD859C806EA}"/>
              </a:ext>
            </a:extLst>
          </p:cNvPr>
          <p:cNvCxnSpPr>
            <a:cxnSpLocks/>
          </p:cNvCxnSpPr>
          <p:nvPr/>
        </p:nvCxnSpPr>
        <p:spPr>
          <a:xfrm flipH="1" flipV="1">
            <a:off x="3409868" y="1849794"/>
            <a:ext cx="1599993" cy="216867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8C8E195-4D20-D52E-BF17-A4E75AC7C06C}"/>
              </a:ext>
            </a:extLst>
          </p:cNvPr>
          <p:cNvSpPr txBox="1"/>
          <p:nvPr/>
        </p:nvSpPr>
        <p:spPr>
          <a:xfrm>
            <a:off x="4254639" y="276562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3)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04CEC9B-679B-5C40-37FB-9150968A26F1}"/>
              </a:ext>
            </a:extLst>
          </p:cNvPr>
          <p:cNvCxnSpPr>
            <a:cxnSpLocks/>
          </p:cNvCxnSpPr>
          <p:nvPr/>
        </p:nvCxnSpPr>
        <p:spPr>
          <a:xfrm flipH="1">
            <a:off x="6103738" y="3286017"/>
            <a:ext cx="406339" cy="72994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0692871-81EA-1654-1696-9DCC5593ADF5}"/>
              </a:ext>
            </a:extLst>
          </p:cNvPr>
          <p:cNvSpPr txBox="1"/>
          <p:nvPr/>
        </p:nvSpPr>
        <p:spPr>
          <a:xfrm>
            <a:off x="6807465" y="34387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3)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B181B6-7B4E-DD13-B2A9-570F8EF20098}"/>
              </a:ext>
            </a:extLst>
          </p:cNvPr>
          <p:cNvCxnSpPr>
            <a:cxnSpLocks/>
          </p:cNvCxnSpPr>
          <p:nvPr/>
        </p:nvCxnSpPr>
        <p:spPr>
          <a:xfrm flipH="1" flipV="1">
            <a:off x="6497638" y="3300812"/>
            <a:ext cx="466280" cy="69368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F0971B-ABE6-57B7-452D-70C531BCA0E8}"/>
              </a:ext>
            </a:extLst>
          </p:cNvPr>
          <p:cNvSpPr txBox="1"/>
          <p:nvPr/>
        </p:nvSpPr>
        <p:spPr>
          <a:xfrm>
            <a:off x="5395571" y="341382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97A7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(P3, 3)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41B1F-AB2E-2C2E-41D0-D294903E6AD3}"/>
              </a:ext>
            </a:extLst>
          </p:cNvPr>
          <p:cNvSpPr txBox="1"/>
          <p:nvPr/>
        </p:nvSpPr>
        <p:spPr>
          <a:xfrm>
            <a:off x="6353624" y="28918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40" name="Thought Bubble: Cloud 39">
            <a:extLst>
              <a:ext uri="{FF2B5EF4-FFF2-40B4-BE49-F238E27FC236}">
                <a16:creationId xmlns:a16="http://schemas.microsoft.com/office/drawing/2014/main" id="{9B375E7F-BD9B-4A8A-6BD3-4D90AA76D05E}"/>
              </a:ext>
            </a:extLst>
          </p:cNvPr>
          <p:cNvSpPr/>
          <p:nvPr/>
        </p:nvSpPr>
        <p:spPr>
          <a:xfrm>
            <a:off x="4767365" y="4141714"/>
            <a:ext cx="1823711" cy="709754"/>
          </a:xfrm>
          <a:prstGeom prst="cloudCallout">
            <a:avLst>
              <a:gd name="adj1" fmla="val -86838"/>
              <a:gd name="adj2" fmla="val -5201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Not crash-consistent??</a:t>
            </a:r>
          </a:p>
        </p:txBody>
      </p:sp>
      <p:sp>
        <p:nvSpPr>
          <p:cNvPr id="47" name="Thought Bubble: Cloud 46">
            <a:extLst>
              <a:ext uri="{FF2B5EF4-FFF2-40B4-BE49-F238E27FC236}">
                <a16:creationId xmlns:a16="http://schemas.microsoft.com/office/drawing/2014/main" id="{50C85081-3863-3E34-528C-C100E0DCEE3B}"/>
              </a:ext>
            </a:extLst>
          </p:cNvPr>
          <p:cNvSpPr/>
          <p:nvPr/>
        </p:nvSpPr>
        <p:spPr>
          <a:xfrm>
            <a:off x="7020987" y="4308842"/>
            <a:ext cx="1707193" cy="709754"/>
          </a:xfrm>
          <a:prstGeom prst="cloudCallout">
            <a:avLst>
              <a:gd name="adj1" fmla="val -50048"/>
              <a:gd name="adj2" fmla="val -81949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Crash-consistent!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094E536-1107-0FF9-AB2A-6764B6E4E698}"/>
              </a:ext>
            </a:extLst>
          </p:cNvPr>
          <p:cNvCxnSpPr>
            <a:cxnSpLocks/>
          </p:cNvCxnSpPr>
          <p:nvPr/>
        </p:nvCxnSpPr>
        <p:spPr>
          <a:xfrm flipH="1">
            <a:off x="3158836" y="3293706"/>
            <a:ext cx="433450" cy="69640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C27BB-E1F7-0507-4B61-6B5CAF8B1EB3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3302000"/>
            <a:ext cx="433450" cy="70684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24446AD7-DC03-5AC3-818E-939E49521844}"/>
              </a:ext>
            </a:extLst>
          </p:cNvPr>
          <p:cNvSpPr/>
          <p:nvPr/>
        </p:nvSpPr>
        <p:spPr>
          <a:xfrm>
            <a:off x="4431268" y="1325625"/>
            <a:ext cx="1971003" cy="1390753"/>
          </a:xfrm>
          <a:prstGeom prst="wedgeEllipseCallout">
            <a:avLst>
              <a:gd name="adj1" fmla="val 53441"/>
              <a:gd name="adj2" fmla="val 655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Enabled by two-stage write</a:t>
            </a:r>
          </a:p>
        </p:txBody>
      </p:sp>
      <p:pic>
        <p:nvPicPr>
          <p:cNvPr id="17" name="Picture 2" descr="15,400+ Cartoon T Rex Stock Illustrations, Royalty-Free Vector Graphics &amp; Clip  Art - iStock">
            <a:extLst>
              <a:ext uri="{FF2B5EF4-FFF2-40B4-BE49-F238E27FC236}">
                <a16:creationId xmlns:a16="http://schemas.microsoft.com/office/drawing/2014/main" id="{69849D91-1C76-F021-B11D-717E57899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714"/>
            <a:ext cx="1219200" cy="83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65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35" grpId="0"/>
      <p:bldP spid="37" grpId="0"/>
      <p:bldP spid="38" grpId="0"/>
      <p:bldP spid="40" grpId="0" animBg="1"/>
      <p:bldP spid="47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2368DF-C014-40CA-89DA-8A73438F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1A79-E1EB-488F-A9DF-C29B5E92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0" y="103649"/>
            <a:ext cx="4223724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D51B1-C3F0-1B6A-A169-306B4F5CF8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lang="en-GB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DCFAD0-96FA-9164-CCF7-D988D7C5BC64}"/>
                  </a:ext>
                </a:extLst>
              </p:cNvPr>
              <p:cNvSpPr/>
              <p:nvPr/>
            </p:nvSpPr>
            <p:spPr>
              <a:xfrm>
                <a:off x="214298" y="1499617"/>
                <a:ext cx="3979750" cy="1243583"/>
              </a:xfrm>
              <a:custGeom>
                <a:avLst/>
                <a:gdLst>
                  <a:gd name="csX0" fmla="*/ 0 w 3979750"/>
                  <a:gd name="csY0" fmla="*/ 0 h 1243583"/>
                  <a:gd name="csX1" fmla="*/ 528738 w 3979750"/>
                  <a:gd name="csY1" fmla="*/ 0 h 1243583"/>
                  <a:gd name="csX2" fmla="*/ 977881 w 3979750"/>
                  <a:gd name="csY2" fmla="*/ 0 h 1243583"/>
                  <a:gd name="csX3" fmla="*/ 1626012 w 3979750"/>
                  <a:gd name="csY3" fmla="*/ 0 h 1243583"/>
                  <a:gd name="csX4" fmla="*/ 2154750 w 3979750"/>
                  <a:gd name="csY4" fmla="*/ 0 h 1243583"/>
                  <a:gd name="csX5" fmla="*/ 2683489 w 3979750"/>
                  <a:gd name="csY5" fmla="*/ 0 h 1243583"/>
                  <a:gd name="csX6" fmla="*/ 3331619 w 3979750"/>
                  <a:gd name="csY6" fmla="*/ 0 h 1243583"/>
                  <a:gd name="csX7" fmla="*/ 3979750 w 3979750"/>
                  <a:gd name="csY7" fmla="*/ 0 h 1243583"/>
                  <a:gd name="csX8" fmla="*/ 3979750 w 3979750"/>
                  <a:gd name="csY8" fmla="*/ 439399 h 1243583"/>
                  <a:gd name="csX9" fmla="*/ 3979750 w 3979750"/>
                  <a:gd name="csY9" fmla="*/ 829055 h 1243583"/>
                  <a:gd name="csX10" fmla="*/ 3979750 w 3979750"/>
                  <a:gd name="csY10" fmla="*/ 1243583 h 1243583"/>
                  <a:gd name="csX11" fmla="*/ 3411214 w 3979750"/>
                  <a:gd name="csY11" fmla="*/ 1243583 h 1243583"/>
                  <a:gd name="csX12" fmla="*/ 2882476 w 3979750"/>
                  <a:gd name="csY12" fmla="*/ 1243583 h 1243583"/>
                  <a:gd name="csX13" fmla="*/ 2234345 w 3979750"/>
                  <a:gd name="csY13" fmla="*/ 1243583 h 1243583"/>
                  <a:gd name="csX14" fmla="*/ 1586215 w 3979750"/>
                  <a:gd name="csY14" fmla="*/ 1243583 h 1243583"/>
                  <a:gd name="csX15" fmla="*/ 1097274 w 3979750"/>
                  <a:gd name="csY15" fmla="*/ 1243583 h 1243583"/>
                  <a:gd name="csX16" fmla="*/ 528738 w 3979750"/>
                  <a:gd name="csY16" fmla="*/ 1243583 h 1243583"/>
                  <a:gd name="csX17" fmla="*/ 0 w 3979750"/>
                  <a:gd name="csY17" fmla="*/ 1243583 h 1243583"/>
                  <a:gd name="csX18" fmla="*/ 0 w 3979750"/>
                  <a:gd name="csY18" fmla="*/ 829055 h 1243583"/>
                  <a:gd name="csX19" fmla="*/ 0 w 3979750"/>
                  <a:gd name="csY19" fmla="*/ 439399 h 1243583"/>
                  <a:gd name="csX20" fmla="*/ 0 w 3979750"/>
                  <a:gd name="csY20" fmla="*/ 0 h 12435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79750" h="1243583" extrusionOk="0">
                    <a:moveTo>
                      <a:pt x="0" y="0"/>
                    </a:moveTo>
                    <a:cubicBezTo>
                      <a:pt x="130594" y="-53298"/>
                      <a:pt x="344656" y="3633"/>
                      <a:pt x="528738" y="0"/>
                    </a:cubicBezTo>
                    <a:cubicBezTo>
                      <a:pt x="712820" y="-3633"/>
                      <a:pt x="775508" y="37976"/>
                      <a:pt x="977881" y="0"/>
                    </a:cubicBezTo>
                    <a:cubicBezTo>
                      <a:pt x="1180254" y="-37976"/>
                      <a:pt x="1383305" y="50243"/>
                      <a:pt x="1626012" y="0"/>
                    </a:cubicBezTo>
                    <a:cubicBezTo>
                      <a:pt x="1868719" y="-50243"/>
                      <a:pt x="2040662" y="30455"/>
                      <a:pt x="2154750" y="0"/>
                    </a:cubicBezTo>
                    <a:cubicBezTo>
                      <a:pt x="2268838" y="-30455"/>
                      <a:pt x="2425074" y="29078"/>
                      <a:pt x="2683489" y="0"/>
                    </a:cubicBezTo>
                    <a:cubicBezTo>
                      <a:pt x="2941904" y="-29078"/>
                      <a:pt x="3117762" y="3831"/>
                      <a:pt x="3331619" y="0"/>
                    </a:cubicBezTo>
                    <a:cubicBezTo>
                      <a:pt x="3545476" y="-3831"/>
                      <a:pt x="3737474" y="20965"/>
                      <a:pt x="3979750" y="0"/>
                    </a:cubicBezTo>
                    <a:cubicBezTo>
                      <a:pt x="3980130" y="186578"/>
                      <a:pt x="3942083" y="322784"/>
                      <a:pt x="3979750" y="439399"/>
                    </a:cubicBezTo>
                    <a:cubicBezTo>
                      <a:pt x="4017417" y="556014"/>
                      <a:pt x="3952912" y="660745"/>
                      <a:pt x="3979750" y="829055"/>
                    </a:cubicBezTo>
                    <a:cubicBezTo>
                      <a:pt x="4006588" y="997365"/>
                      <a:pt x="3961111" y="1108922"/>
                      <a:pt x="3979750" y="1243583"/>
                    </a:cubicBezTo>
                    <a:cubicBezTo>
                      <a:pt x="3824873" y="1243629"/>
                      <a:pt x="3550715" y="1206128"/>
                      <a:pt x="3411214" y="1243583"/>
                    </a:cubicBezTo>
                    <a:cubicBezTo>
                      <a:pt x="3271713" y="1281038"/>
                      <a:pt x="3038179" y="1224019"/>
                      <a:pt x="2882476" y="1243583"/>
                    </a:cubicBezTo>
                    <a:cubicBezTo>
                      <a:pt x="2726773" y="1263147"/>
                      <a:pt x="2500379" y="1230249"/>
                      <a:pt x="2234345" y="1243583"/>
                    </a:cubicBezTo>
                    <a:cubicBezTo>
                      <a:pt x="1968311" y="1256917"/>
                      <a:pt x="1827501" y="1198784"/>
                      <a:pt x="1586215" y="1243583"/>
                    </a:cubicBezTo>
                    <a:cubicBezTo>
                      <a:pt x="1344929" y="1288382"/>
                      <a:pt x="1284856" y="1217289"/>
                      <a:pt x="1097274" y="1243583"/>
                    </a:cubicBezTo>
                    <a:cubicBezTo>
                      <a:pt x="909692" y="1269877"/>
                      <a:pt x="756266" y="1183433"/>
                      <a:pt x="528738" y="1243583"/>
                    </a:cubicBezTo>
                    <a:cubicBezTo>
                      <a:pt x="301210" y="1303733"/>
                      <a:pt x="110087" y="1182460"/>
                      <a:pt x="0" y="1243583"/>
                    </a:cubicBezTo>
                    <a:cubicBezTo>
                      <a:pt x="-1952" y="1146584"/>
                      <a:pt x="21473" y="999141"/>
                      <a:pt x="0" y="829055"/>
                    </a:cubicBezTo>
                    <a:cubicBezTo>
                      <a:pt x="-21473" y="658969"/>
                      <a:pt x="22395" y="540881"/>
                      <a:pt x="0" y="439399"/>
                    </a:cubicBezTo>
                    <a:cubicBezTo>
                      <a:pt x="-22395" y="337917"/>
                      <a:pt x="7759" y="168144"/>
                      <a:pt x="0" y="0"/>
                    </a:cubicBezTo>
                    <a:close/>
                  </a:path>
                </a:pathLst>
              </a:custGeom>
              <a:noFill/>
              <a:ln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Crash-Restart-Rollback (CRR)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+mn-ea"/>
                  <a:cs typeface="+mn-cs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Failures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: Crash </a:t>
                </a:r>
                <a14:m>
                  <m:oMath xmlns:m="http://schemas.openxmlformats.org/officeDocument/2006/math">
                    <m:r>
                      <a:rPr kumimoji="0" lang="en-GB" sz="16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∨</m:t>
                    </m:r>
                  </m:oMath>
                </a14:m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Rollback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Crash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16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≺ </m:t>
                    </m:r>
                  </m:oMath>
                </a14:m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CRR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16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≺</m:t>
                    </m:r>
                  </m:oMath>
                </a14:m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+mn-ea"/>
                    <a:cs typeface="+mn-cs"/>
                    <a:sym typeface="Arial"/>
                  </a:rPr>
                  <a:t> Byzantine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DCFAD0-96FA-9164-CCF7-D988D7C5B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98" y="1499617"/>
                <a:ext cx="3979750" cy="1243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979750"/>
                          <a:gd name="connsiteY0" fmla="*/ 0 h 1243583"/>
                          <a:gd name="connsiteX1" fmla="*/ 528738 w 3979750"/>
                          <a:gd name="connsiteY1" fmla="*/ 0 h 1243583"/>
                          <a:gd name="connsiteX2" fmla="*/ 977881 w 3979750"/>
                          <a:gd name="connsiteY2" fmla="*/ 0 h 1243583"/>
                          <a:gd name="connsiteX3" fmla="*/ 1626012 w 3979750"/>
                          <a:gd name="connsiteY3" fmla="*/ 0 h 1243583"/>
                          <a:gd name="connsiteX4" fmla="*/ 2154750 w 3979750"/>
                          <a:gd name="connsiteY4" fmla="*/ 0 h 1243583"/>
                          <a:gd name="connsiteX5" fmla="*/ 2683489 w 3979750"/>
                          <a:gd name="connsiteY5" fmla="*/ 0 h 1243583"/>
                          <a:gd name="connsiteX6" fmla="*/ 3331619 w 3979750"/>
                          <a:gd name="connsiteY6" fmla="*/ 0 h 1243583"/>
                          <a:gd name="connsiteX7" fmla="*/ 3979750 w 3979750"/>
                          <a:gd name="connsiteY7" fmla="*/ 0 h 1243583"/>
                          <a:gd name="connsiteX8" fmla="*/ 3979750 w 3979750"/>
                          <a:gd name="connsiteY8" fmla="*/ 439399 h 1243583"/>
                          <a:gd name="connsiteX9" fmla="*/ 3979750 w 3979750"/>
                          <a:gd name="connsiteY9" fmla="*/ 829055 h 1243583"/>
                          <a:gd name="connsiteX10" fmla="*/ 3979750 w 3979750"/>
                          <a:gd name="connsiteY10" fmla="*/ 1243583 h 1243583"/>
                          <a:gd name="connsiteX11" fmla="*/ 3411214 w 3979750"/>
                          <a:gd name="connsiteY11" fmla="*/ 1243583 h 1243583"/>
                          <a:gd name="connsiteX12" fmla="*/ 2882476 w 3979750"/>
                          <a:gd name="connsiteY12" fmla="*/ 1243583 h 1243583"/>
                          <a:gd name="connsiteX13" fmla="*/ 2234345 w 3979750"/>
                          <a:gd name="connsiteY13" fmla="*/ 1243583 h 1243583"/>
                          <a:gd name="connsiteX14" fmla="*/ 1586215 w 3979750"/>
                          <a:gd name="connsiteY14" fmla="*/ 1243583 h 1243583"/>
                          <a:gd name="connsiteX15" fmla="*/ 1097274 w 3979750"/>
                          <a:gd name="connsiteY15" fmla="*/ 1243583 h 1243583"/>
                          <a:gd name="connsiteX16" fmla="*/ 528738 w 3979750"/>
                          <a:gd name="connsiteY16" fmla="*/ 1243583 h 1243583"/>
                          <a:gd name="connsiteX17" fmla="*/ 0 w 3979750"/>
                          <a:gd name="connsiteY17" fmla="*/ 1243583 h 1243583"/>
                          <a:gd name="connsiteX18" fmla="*/ 0 w 3979750"/>
                          <a:gd name="connsiteY18" fmla="*/ 829055 h 1243583"/>
                          <a:gd name="connsiteX19" fmla="*/ 0 w 3979750"/>
                          <a:gd name="connsiteY19" fmla="*/ 439399 h 1243583"/>
                          <a:gd name="connsiteX20" fmla="*/ 0 w 3979750"/>
                          <a:gd name="connsiteY20" fmla="*/ 0 h 12435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3979750" h="1243583" extrusionOk="0">
                            <a:moveTo>
                              <a:pt x="0" y="0"/>
                            </a:moveTo>
                            <a:cubicBezTo>
                              <a:pt x="130594" y="-53298"/>
                              <a:pt x="344656" y="3633"/>
                              <a:pt x="528738" y="0"/>
                            </a:cubicBezTo>
                            <a:cubicBezTo>
                              <a:pt x="712820" y="-3633"/>
                              <a:pt x="775508" y="37976"/>
                              <a:pt x="977881" y="0"/>
                            </a:cubicBezTo>
                            <a:cubicBezTo>
                              <a:pt x="1180254" y="-37976"/>
                              <a:pt x="1383305" y="50243"/>
                              <a:pt x="1626012" y="0"/>
                            </a:cubicBezTo>
                            <a:cubicBezTo>
                              <a:pt x="1868719" y="-50243"/>
                              <a:pt x="2040662" y="30455"/>
                              <a:pt x="2154750" y="0"/>
                            </a:cubicBezTo>
                            <a:cubicBezTo>
                              <a:pt x="2268838" y="-30455"/>
                              <a:pt x="2425074" y="29078"/>
                              <a:pt x="2683489" y="0"/>
                            </a:cubicBezTo>
                            <a:cubicBezTo>
                              <a:pt x="2941904" y="-29078"/>
                              <a:pt x="3117762" y="3831"/>
                              <a:pt x="3331619" y="0"/>
                            </a:cubicBezTo>
                            <a:cubicBezTo>
                              <a:pt x="3545476" y="-3831"/>
                              <a:pt x="3737474" y="20965"/>
                              <a:pt x="3979750" y="0"/>
                            </a:cubicBezTo>
                            <a:cubicBezTo>
                              <a:pt x="3980130" y="186578"/>
                              <a:pt x="3942083" y="322784"/>
                              <a:pt x="3979750" y="439399"/>
                            </a:cubicBezTo>
                            <a:cubicBezTo>
                              <a:pt x="4017417" y="556014"/>
                              <a:pt x="3952912" y="660745"/>
                              <a:pt x="3979750" y="829055"/>
                            </a:cubicBezTo>
                            <a:cubicBezTo>
                              <a:pt x="4006588" y="997365"/>
                              <a:pt x="3961111" y="1108922"/>
                              <a:pt x="3979750" y="1243583"/>
                            </a:cubicBezTo>
                            <a:cubicBezTo>
                              <a:pt x="3824873" y="1243629"/>
                              <a:pt x="3550715" y="1206128"/>
                              <a:pt x="3411214" y="1243583"/>
                            </a:cubicBezTo>
                            <a:cubicBezTo>
                              <a:pt x="3271713" y="1281038"/>
                              <a:pt x="3038179" y="1224019"/>
                              <a:pt x="2882476" y="1243583"/>
                            </a:cubicBezTo>
                            <a:cubicBezTo>
                              <a:pt x="2726773" y="1263147"/>
                              <a:pt x="2500379" y="1230249"/>
                              <a:pt x="2234345" y="1243583"/>
                            </a:cubicBezTo>
                            <a:cubicBezTo>
                              <a:pt x="1968311" y="1256917"/>
                              <a:pt x="1827501" y="1198784"/>
                              <a:pt x="1586215" y="1243583"/>
                            </a:cubicBezTo>
                            <a:cubicBezTo>
                              <a:pt x="1344929" y="1288382"/>
                              <a:pt x="1284856" y="1217289"/>
                              <a:pt x="1097274" y="1243583"/>
                            </a:cubicBezTo>
                            <a:cubicBezTo>
                              <a:pt x="909692" y="1269877"/>
                              <a:pt x="756266" y="1183433"/>
                              <a:pt x="528738" y="1243583"/>
                            </a:cubicBezTo>
                            <a:cubicBezTo>
                              <a:pt x="301210" y="1303733"/>
                              <a:pt x="110087" y="1182460"/>
                              <a:pt x="0" y="1243583"/>
                            </a:cubicBezTo>
                            <a:cubicBezTo>
                              <a:pt x="-1952" y="1146584"/>
                              <a:pt x="21473" y="999141"/>
                              <a:pt x="0" y="829055"/>
                            </a:cubicBezTo>
                            <a:cubicBezTo>
                              <a:pt x="-21473" y="658969"/>
                              <a:pt x="22395" y="540881"/>
                              <a:pt x="0" y="439399"/>
                            </a:cubicBezTo>
                            <a:cubicBezTo>
                              <a:pt x="-22395" y="337917"/>
                              <a:pt x="7759" y="16814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A375115-596E-D970-7D2C-2410238450E2}"/>
              </a:ext>
            </a:extLst>
          </p:cNvPr>
          <p:cNvSpPr/>
          <p:nvPr/>
        </p:nvSpPr>
        <p:spPr>
          <a:xfrm>
            <a:off x="2877312" y="3155081"/>
            <a:ext cx="3096768" cy="1185271"/>
          </a:xfrm>
          <a:custGeom>
            <a:avLst/>
            <a:gdLst>
              <a:gd name="csX0" fmla="*/ 0 w 3096768"/>
              <a:gd name="csY0" fmla="*/ 0 h 1185271"/>
              <a:gd name="csX1" fmla="*/ 485160 w 3096768"/>
              <a:gd name="csY1" fmla="*/ 0 h 1185271"/>
              <a:gd name="csX2" fmla="*/ 908385 w 3096768"/>
              <a:gd name="csY2" fmla="*/ 0 h 1185271"/>
              <a:gd name="csX3" fmla="*/ 1486449 w 3096768"/>
              <a:gd name="csY3" fmla="*/ 0 h 1185271"/>
              <a:gd name="csX4" fmla="*/ 1971609 w 3096768"/>
              <a:gd name="csY4" fmla="*/ 0 h 1185271"/>
              <a:gd name="csX5" fmla="*/ 2456769 w 3096768"/>
              <a:gd name="csY5" fmla="*/ 0 h 1185271"/>
              <a:gd name="csX6" fmla="*/ 3096768 w 3096768"/>
              <a:gd name="csY6" fmla="*/ 0 h 1185271"/>
              <a:gd name="csX7" fmla="*/ 3096768 w 3096768"/>
              <a:gd name="csY7" fmla="*/ 568930 h 1185271"/>
              <a:gd name="csX8" fmla="*/ 3096768 w 3096768"/>
              <a:gd name="csY8" fmla="*/ 1185271 h 1185271"/>
              <a:gd name="csX9" fmla="*/ 2642575 w 3096768"/>
              <a:gd name="csY9" fmla="*/ 1185271 h 1185271"/>
              <a:gd name="csX10" fmla="*/ 2126447 w 3096768"/>
              <a:gd name="csY10" fmla="*/ 1185271 h 1185271"/>
              <a:gd name="csX11" fmla="*/ 1610319 w 3096768"/>
              <a:gd name="csY11" fmla="*/ 1185271 h 1185271"/>
              <a:gd name="csX12" fmla="*/ 1125159 w 3096768"/>
              <a:gd name="csY12" fmla="*/ 1185271 h 1185271"/>
              <a:gd name="csX13" fmla="*/ 547096 w 3096768"/>
              <a:gd name="csY13" fmla="*/ 1185271 h 1185271"/>
              <a:gd name="csX14" fmla="*/ 0 w 3096768"/>
              <a:gd name="csY14" fmla="*/ 1185271 h 1185271"/>
              <a:gd name="csX15" fmla="*/ 0 w 3096768"/>
              <a:gd name="csY15" fmla="*/ 616341 h 1185271"/>
              <a:gd name="csX16" fmla="*/ 0 w 3096768"/>
              <a:gd name="csY16" fmla="*/ 0 h 1185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96768" h="1185271" extrusionOk="0">
                <a:moveTo>
                  <a:pt x="0" y="0"/>
                </a:moveTo>
                <a:cubicBezTo>
                  <a:pt x="199649" y="-14931"/>
                  <a:pt x="374810" y="26613"/>
                  <a:pt x="485160" y="0"/>
                </a:cubicBezTo>
                <a:cubicBezTo>
                  <a:pt x="595510" y="-26613"/>
                  <a:pt x="811399" y="32909"/>
                  <a:pt x="908385" y="0"/>
                </a:cubicBezTo>
                <a:cubicBezTo>
                  <a:pt x="1005371" y="-32909"/>
                  <a:pt x="1306132" y="36794"/>
                  <a:pt x="1486449" y="0"/>
                </a:cubicBezTo>
                <a:cubicBezTo>
                  <a:pt x="1666766" y="-36794"/>
                  <a:pt x="1862243" y="35699"/>
                  <a:pt x="1971609" y="0"/>
                </a:cubicBezTo>
                <a:cubicBezTo>
                  <a:pt x="2080975" y="-35699"/>
                  <a:pt x="2274376" y="20790"/>
                  <a:pt x="2456769" y="0"/>
                </a:cubicBezTo>
                <a:cubicBezTo>
                  <a:pt x="2639162" y="-20790"/>
                  <a:pt x="2948786" y="20565"/>
                  <a:pt x="3096768" y="0"/>
                </a:cubicBezTo>
                <a:cubicBezTo>
                  <a:pt x="3138299" y="154667"/>
                  <a:pt x="3084945" y="319064"/>
                  <a:pt x="3096768" y="568930"/>
                </a:cubicBezTo>
                <a:cubicBezTo>
                  <a:pt x="3108591" y="818796"/>
                  <a:pt x="3094107" y="887545"/>
                  <a:pt x="3096768" y="1185271"/>
                </a:cubicBezTo>
                <a:cubicBezTo>
                  <a:pt x="2995031" y="1226306"/>
                  <a:pt x="2764377" y="1184985"/>
                  <a:pt x="2642575" y="1185271"/>
                </a:cubicBezTo>
                <a:cubicBezTo>
                  <a:pt x="2520773" y="1185557"/>
                  <a:pt x="2299884" y="1153128"/>
                  <a:pt x="2126447" y="1185271"/>
                </a:cubicBezTo>
                <a:cubicBezTo>
                  <a:pt x="1953010" y="1217414"/>
                  <a:pt x="1802845" y="1127563"/>
                  <a:pt x="1610319" y="1185271"/>
                </a:cubicBezTo>
                <a:cubicBezTo>
                  <a:pt x="1417793" y="1242979"/>
                  <a:pt x="1285525" y="1176458"/>
                  <a:pt x="1125159" y="1185271"/>
                </a:cubicBezTo>
                <a:cubicBezTo>
                  <a:pt x="964793" y="1194084"/>
                  <a:pt x="732373" y="1178698"/>
                  <a:pt x="547096" y="1185271"/>
                </a:cubicBezTo>
                <a:cubicBezTo>
                  <a:pt x="361819" y="1191844"/>
                  <a:pt x="131923" y="1169723"/>
                  <a:pt x="0" y="1185271"/>
                </a:cubicBezTo>
                <a:cubicBezTo>
                  <a:pt x="-43190" y="1048040"/>
                  <a:pt x="36971" y="830447"/>
                  <a:pt x="0" y="616341"/>
                </a:cubicBezTo>
                <a:cubicBezTo>
                  <a:pt x="-36971" y="402235"/>
                  <a:pt x="13290" y="155864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Tight Bounds for Registers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Resilience, Time Complexity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Persistent Storage Usage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45E6A-3605-160C-4977-0779D6B3EF14}"/>
              </a:ext>
            </a:extLst>
          </p:cNvPr>
          <p:cNvSpPr/>
          <p:nvPr/>
        </p:nvSpPr>
        <p:spPr>
          <a:xfrm>
            <a:off x="4950890" y="1499617"/>
            <a:ext cx="3979750" cy="1207007"/>
          </a:xfrm>
          <a:custGeom>
            <a:avLst/>
            <a:gdLst>
              <a:gd name="csX0" fmla="*/ 0 w 3979750"/>
              <a:gd name="csY0" fmla="*/ 0 h 1207007"/>
              <a:gd name="csX1" fmla="*/ 528738 w 3979750"/>
              <a:gd name="csY1" fmla="*/ 0 h 1207007"/>
              <a:gd name="csX2" fmla="*/ 977881 w 3979750"/>
              <a:gd name="csY2" fmla="*/ 0 h 1207007"/>
              <a:gd name="csX3" fmla="*/ 1626012 w 3979750"/>
              <a:gd name="csY3" fmla="*/ 0 h 1207007"/>
              <a:gd name="csX4" fmla="*/ 2154750 w 3979750"/>
              <a:gd name="csY4" fmla="*/ 0 h 1207007"/>
              <a:gd name="csX5" fmla="*/ 2683489 w 3979750"/>
              <a:gd name="csY5" fmla="*/ 0 h 1207007"/>
              <a:gd name="csX6" fmla="*/ 3331619 w 3979750"/>
              <a:gd name="csY6" fmla="*/ 0 h 1207007"/>
              <a:gd name="csX7" fmla="*/ 3979750 w 3979750"/>
              <a:gd name="csY7" fmla="*/ 0 h 1207007"/>
              <a:gd name="csX8" fmla="*/ 3979750 w 3979750"/>
              <a:gd name="csY8" fmla="*/ 426476 h 1207007"/>
              <a:gd name="csX9" fmla="*/ 3979750 w 3979750"/>
              <a:gd name="csY9" fmla="*/ 804671 h 1207007"/>
              <a:gd name="csX10" fmla="*/ 3979750 w 3979750"/>
              <a:gd name="csY10" fmla="*/ 1207007 h 1207007"/>
              <a:gd name="csX11" fmla="*/ 3411214 w 3979750"/>
              <a:gd name="csY11" fmla="*/ 1207007 h 1207007"/>
              <a:gd name="csX12" fmla="*/ 2882476 w 3979750"/>
              <a:gd name="csY12" fmla="*/ 1207007 h 1207007"/>
              <a:gd name="csX13" fmla="*/ 2234345 w 3979750"/>
              <a:gd name="csY13" fmla="*/ 1207007 h 1207007"/>
              <a:gd name="csX14" fmla="*/ 1586215 w 3979750"/>
              <a:gd name="csY14" fmla="*/ 1207007 h 1207007"/>
              <a:gd name="csX15" fmla="*/ 1097274 w 3979750"/>
              <a:gd name="csY15" fmla="*/ 1207007 h 1207007"/>
              <a:gd name="csX16" fmla="*/ 528738 w 3979750"/>
              <a:gd name="csY16" fmla="*/ 1207007 h 1207007"/>
              <a:gd name="csX17" fmla="*/ 0 w 3979750"/>
              <a:gd name="csY17" fmla="*/ 1207007 h 1207007"/>
              <a:gd name="csX18" fmla="*/ 0 w 3979750"/>
              <a:gd name="csY18" fmla="*/ 804671 h 1207007"/>
              <a:gd name="csX19" fmla="*/ 0 w 3979750"/>
              <a:gd name="csY19" fmla="*/ 426476 h 1207007"/>
              <a:gd name="csX20" fmla="*/ 0 w 3979750"/>
              <a:gd name="csY20" fmla="*/ 0 h 120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979750" h="1207007" extrusionOk="0">
                <a:moveTo>
                  <a:pt x="0" y="0"/>
                </a:moveTo>
                <a:cubicBezTo>
                  <a:pt x="130594" y="-53298"/>
                  <a:pt x="344656" y="3633"/>
                  <a:pt x="528738" y="0"/>
                </a:cubicBezTo>
                <a:cubicBezTo>
                  <a:pt x="712820" y="-3633"/>
                  <a:pt x="775508" y="37976"/>
                  <a:pt x="977881" y="0"/>
                </a:cubicBezTo>
                <a:cubicBezTo>
                  <a:pt x="1180254" y="-37976"/>
                  <a:pt x="1383305" y="50243"/>
                  <a:pt x="1626012" y="0"/>
                </a:cubicBezTo>
                <a:cubicBezTo>
                  <a:pt x="1868719" y="-50243"/>
                  <a:pt x="2040662" y="30455"/>
                  <a:pt x="2154750" y="0"/>
                </a:cubicBezTo>
                <a:cubicBezTo>
                  <a:pt x="2268838" y="-30455"/>
                  <a:pt x="2425074" y="29078"/>
                  <a:pt x="2683489" y="0"/>
                </a:cubicBezTo>
                <a:cubicBezTo>
                  <a:pt x="2941904" y="-29078"/>
                  <a:pt x="3117762" y="3831"/>
                  <a:pt x="3331619" y="0"/>
                </a:cubicBezTo>
                <a:cubicBezTo>
                  <a:pt x="3545476" y="-3831"/>
                  <a:pt x="3737474" y="20965"/>
                  <a:pt x="3979750" y="0"/>
                </a:cubicBezTo>
                <a:cubicBezTo>
                  <a:pt x="4009639" y="121863"/>
                  <a:pt x="3942075" y="248994"/>
                  <a:pt x="3979750" y="426476"/>
                </a:cubicBezTo>
                <a:cubicBezTo>
                  <a:pt x="4017425" y="603958"/>
                  <a:pt x="3972782" y="615884"/>
                  <a:pt x="3979750" y="804671"/>
                </a:cubicBezTo>
                <a:cubicBezTo>
                  <a:pt x="3986718" y="993459"/>
                  <a:pt x="3931850" y="1103807"/>
                  <a:pt x="3979750" y="1207007"/>
                </a:cubicBezTo>
                <a:cubicBezTo>
                  <a:pt x="3824873" y="1207053"/>
                  <a:pt x="3550715" y="1169552"/>
                  <a:pt x="3411214" y="1207007"/>
                </a:cubicBezTo>
                <a:cubicBezTo>
                  <a:pt x="3271713" y="1244462"/>
                  <a:pt x="3038179" y="1187443"/>
                  <a:pt x="2882476" y="1207007"/>
                </a:cubicBezTo>
                <a:cubicBezTo>
                  <a:pt x="2726773" y="1226571"/>
                  <a:pt x="2500379" y="1193673"/>
                  <a:pt x="2234345" y="1207007"/>
                </a:cubicBezTo>
                <a:cubicBezTo>
                  <a:pt x="1968311" y="1220341"/>
                  <a:pt x="1827501" y="1162208"/>
                  <a:pt x="1586215" y="1207007"/>
                </a:cubicBezTo>
                <a:cubicBezTo>
                  <a:pt x="1344929" y="1251806"/>
                  <a:pt x="1284856" y="1180713"/>
                  <a:pt x="1097274" y="1207007"/>
                </a:cubicBezTo>
                <a:cubicBezTo>
                  <a:pt x="909692" y="1233301"/>
                  <a:pt x="756266" y="1146857"/>
                  <a:pt x="528738" y="1207007"/>
                </a:cubicBezTo>
                <a:cubicBezTo>
                  <a:pt x="301210" y="1267157"/>
                  <a:pt x="110087" y="1145884"/>
                  <a:pt x="0" y="1207007"/>
                </a:cubicBezTo>
                <a:cubicBezTo>
                  <a:pt x="-47306" y="1054566"/>
                  <a:pt x="34641" y="896198"/>
                  <a:pt x="0" y="804671"/>
                </a:cubicBezTo>
                <a:cubicBezTo>
                  <a:pt x="-34641" y="713144"/>
                  <a:pt x="9836" y="511631"/>
                  <a:pt x="0" y="426476"/>
                </a:cubicBezTo>
                <a:cubicBezTo>
                  <a:pt x="-9836" y="341321"/>
                  <a:pt x="19801" y="92380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Dynamic CRR (CRR-D)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Failures: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Crash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+mn-cs"/>
                <a:sym typeface="Arial"/>
              </a:rPr>
              <a:t>Every process can rollback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+mn-cs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5548D8-389F-6B4F-4AAE-E1DDE8E18885}"/>
              </a:ext>
            </a:extLst>
          </p:cNvPr>
          <p:cNvCxnSpPr>
            <a:cxnSpLocks/>
          </p:cNvCxnSpPr>
          <p:nvPr/>
        </p:nvCxnSpPr>
        <p:spPr>
          <a:xfrm>
            <a:off x="3718560" y="2731008"/>
            <a:ext cx="0" cy="451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7CFC84-0F40-D7CF-D2DB-D545EBB89364}"/>
              </a:ext>
            </a:extLst>
          </p:cNvPr>
          <p:cNvCxnSpPr>
            <a:cxnSpLocks/>
          </p:cNvCxnSpPr>
          <p:nvPr/>
        </p:nvCxnSpPr>
        <p:spPr>
          <a:xfrm>
            <a:off x="5376672" y="273100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1A29A2-AF11-FA1B-655A-8FB5C276A33E}"/>
                  </a:ext>
                </a:extLst>
              </p:cNvPr>
              <p:cNvSpPr txBox="1"/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≺</m:t>
                      </m:r>
                    </m:oMath>
                  </m:oMathPara>
                </a14:m>
                <a:endPara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1A29A2-AF11-FA1B-655A-8FB5C276A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76" y="1406688"/>
                <a:ext cx="61264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E602EAF-149F-CA64-AC96-33A97DE9B858}"/>
              </a:ext>
            </a:extLst>
          </p:cNvPr>
          <p:cNvSpPr txBox="1"/>
          <p:nvPr/>
        </p:nvSpPr>
        <p:spPr>
          <a:xfrm>
            <a:off x="926592" y="90220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Static Failure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8C0B3-CB76-DFAE-ACF1-030CB4B8C0EC}"/>
              </a:ext>
            </a:extLst>
          </p:cNvPr>
          <p:cNvSpPr txBox="1"/>
          <p:nvPr/>
        </p:nvSpPr>
        <p:spPr>
          <a:xfrm>
            <a:off x="5370576" y="902208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Dynamic Failure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8A444-8969-7C80-1946-6E264B6FA709}"/>
              </a:ext>
            </a:extLst>
          </p:cNvPr>
          <p:cNvSpPr txBox="1"/>
          <p:nvPr/>
        </p:nvSpPr>
        <p:spPr>
          <a:xfrm>
            <a:off x="560832" y="3218688"/>
            <a:ext cx="1827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Crash Fault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Tolerance 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(CFT)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441D17-3B69-CC63-0717-6BB95A354FE4}"/>
              </a:ext>
            </a:extLst>
          </p:cNvPr>
          <p:cNvSpPr txBox="1"/>
          <p:nvPr/>
        </p:nvSpPr>
        <p:spPr>
          <a:xfrm>
            <a:off x="6680684" y="3127248"/>
            <a:ext cx="1694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Byz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 Fault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Tolerance 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902030302020204" pitchFamily="66" charset="0"/>
                <a:cs typeface="Arial"/>
                <a:sym typeface="Arial"/>
              </a:rPr>
              <a:t>(BFT)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01575D-E87F-A20E-7FD7-3BEF1D4D14D2}"/>
                  </a:ext>
                </a:extLst>
              </p:cNvPr>
              <p:cNvSpPr txBox="1"/>
              <p:nvPr/>
            </p:nvSpPr>
            <p:spPr>
              <a:xfrm>
                <a:off x="2182368" y="3438144"/>
                <a:ext cx="6511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≼</m:t>
                      </m:r>
                    </m:oMath>
                  </m:oMathPara>
                </a14:m>
                <a:endPara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01575D-E87F-A20E-7FD7-3BEF1D4D1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68" y="3438144"/>
                <a:ext cx="651139" cy="646331"/>
              </a:xfrm>
              <a:prstGeom prst="rect">
                <a:avLst/>
              </a:prstGeom>
              <a:blipFill>
                <a:blip r:embed="rId4"/>
                <a:stretch>
                  <a:fillRect l="-1887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2FA853-C3F6-A46C-6E0B-3A65B350E289}"/>
                  </a:ext>
                </a:extLst>
              </p:cNvPr>
              <p:cNvSpPr txBox="1"/>
              <p:nvPr/>
            </p:nvSpPr>
            <p:spPr>
              <a:xfrm>
                <a:off x="6077712" y="3419856"/>
                <a:ext cx="6511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≼</m:t>
                      </m:r>
                    </m:oMath>
                  </m:oMathPara>
                </a14:m>
                <a:endPara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2FA853-C3F6-A46C-6E0B-3A65B350E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12" y="3419856"/>
                <a:ext cx="651139" cy="646331"/>
              </a:xfrm>
              <a:prstGeom prst="rect">
                <a:avLst/>
              </a:prstGeom>
              <a:blipFill>
                <a:blip r:embed="rId5"/>
                <a:stretch>
                  <a:fillRect l="-1923" r="-1923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4701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67601</TotalTime>
  <Words>1941</Words>
  <Application>Microsoft Macintosh PowerPoint</Application>
  <PresentationFormat>Presentación en pantalla (16:9)</PresentationFormat>
  <Paragraphs>482</Paragraphs>
  <Slides>27</Slides>
  <Notes>25</Notes>
  <HiddenSlides>11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Comic Sans MS</vt:lpstr>
      <vt:lpstr>Wingdings</vt:lpstr>
      <vt:lpstr>Simple Light</vt:lpstr>
      <vt:lpstr>Office Theme</vt:lpstr>
      <vt:lpstr>TEE is not a Healer,  TEE-Rex is</vt:lpstr>
      <vt:lpstr>Trusted Execution Environments (TEE)</vt:lpstr>
      <vt:lpstr>Data Persistence with TEEs</vt:lpstr>
      <vt:lpstr>Rollback Attacks</vt:lpstr>
      <vt:lpstr>Our Contribution: Roadmap</vt:lpstr>
      <vt:lpstr>Our Contribution: Roadmap</vt:lpstr>
      <vt:lpstr>Static Failure Models: CRR(k, r, b)</vt:lpstr>
      <vt:lpstr>Presentación de PowerPoint</vt:lpstr>
      <vt:lpstr>Our Contribution: Roadmap</vt:lpstr>
      <vt:lpstr>Dynamic Failure Models: CRR-D(d, c) </vt:lpstr>
      <vt:lpstr>Presentación de PowerPoint</vt:lpstr>
      <vt:lpstr>Upper Bounds for CRR-D(d, c) </vt:lpstr>
      <vt:lpstr>Ongoing work</vt:lpstr>
      <vt:lpstr>Ongoing work (cont’d)</vt:lpstr>
      <vt:lpstr>Ongoing work (cont’d)</vt:lpstr>
      <vt:lpstr>Presentación de PowerPoint</vt:lpstr>
      <vt:lpstr>Presentación de PowerPoint</vt:lpstr>
      <vt:lpstr>State Recovery Protocol: Take 1</vt:lpstr>
      <vt:lpstr>State Recovery Protocol: Take 1</vt:lpstr>
      <vt:lpstr>State Recovery Protocol: Take 1</vt:lpstr>
      <vt:lpstr>Incarnation Numbers</vt:lpstr>
      <vt:lpstr>Incarnation Number Challenges: Rollback</vt:lpstr>
      <vt:lpstr>Incarnation Number Challenges: Distributed Storage</vt:lpstr>
      <vt:lpstr>Incarnation Number Challenges: Distributed Storage</vt:lpstr>
      <vt:lpstr>Incarnation Number Challenges: Simultaneous Recovery</vt:lpstr>
      <vt:lpstr>Incarnation Number Challenges: Simultaneous Recovery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TEE is not a Healer: Rollback-Resistant Reliable Storage</dc:title>
  <dc:creator>O'Keeffe, Daniel</dc:creator>
  <cp:lastModifiedBy>Keshavarzi, Sadegh (PG/R - Comp Sci &amp; Elec Eng)</cp:lastModifiedBy>
  <cp:revision>1431</cp:revision>
  <dcterms:modified xsi:type="dcterms:W3CDTF">2026-07-05T17:22:40Z</dcterms:modified>
</cp:coreProperties>
</file>